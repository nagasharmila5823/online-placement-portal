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B4D4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1A1A1A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B4D4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1A1A1A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B4D4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27911" y="2256986"/>
            <a:ext cx="7999730" cy="5285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1B4D4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B4D4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6F6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8284190" cy="628650"/>
          </a:xfrm>
          <a:custGeom>
            <a:avLst/>
            <a:gdLst/>
            <a:ahLst/>
            <a:cxnLst/>
            <a:rect l="l" t="t" r="r" b="b"/>
            <a:pathLst>
              <a:path w="18284190" h="628650">
                <a:moveTo>
                  <a:pt x="18283728" y="628526"/>
                </a:moveTo>
                <a:lnTo>
                  <a:pt x="0" y="628526"/>
                </a:lnTo>
                <a:lnTo>
                  <a:pt x="0" y="0"/>
                </a:lnTo>
                <a:lnTo>
                  <a:pt x="18283728" y="0"/>
                </a:lnTo>
                <a:lnTo>
                  <a:pt x="18283728" y="628526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4378" y="720667"/>
            <a:ext cx="843343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B4D4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4231" y="4865014"/>
            <a:ext cx="7985759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1A1A1A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713744" y="3999719"/>
            <a:ext cx="2857500" cy="43180"/>
          </a:xfrm>
          <a:custGeom>
            <a:avLst/>
            <a:gdLst/>
            <a:ahLst/>
            <a:cxnLst/>
            <a:rect l="l" t="t" r="r" b="b"/>
            <a:pathLst>
              <a:path w="2857500" h="43179">
                <a:moveTo>
                  <a:pt x="2856920" y="42852"/>
                </a:moveTo>
                <a:lnTo>
                  <a:pt x="0" y="42852"/>
                </a:lnTo>
                <a:lnTo>
                  <a:pt x="0" y="0"/>
                </a:lnTo>
                <a:lnTo>
                  <a:pt x="2856920" y="0"/>
                </a:lnTo>
                <a:lnTo>
                  <a:pt x="2856920" y="42852"/>
                </a:lnTo>
                <a:close/>
              </a:path>
            </a:pathLst>
          </a:custGeom>
          <a:solidFill>
            <a:srgbClr val="C791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163300" y="1855676"/>
            <a:ext cx="7957820" cy="18351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450850">
              <a:lnSpc>
                <a:spcPct val="119900"/>
              </a:lnSpc>
              <a:spcBef>
                <a:spcPts val="100"/>
              </a:spcBef>
            </a:pPr>
            <a:r>
              <a:rPr dirty="0" sz="4950" spc="175">
                <a:solidFill>
                  <a:srgbClr val="FFFFFF"/>
                </a:solidFill>
              </a:rPr>
              <a:t>Online</a:t>
            </a:r>
            <a:r>
              <a:rPr dirty="0" sz="4950" spc="-50">
                <a:solidFill>
                  <a:srgbClr val="FFFFFF"/>
                </a:solidFill>
              </a:rPr>
              <a:t> </a:t>
            </a:r>
            <a:r>
              <a:rPr dirty="0" sz="4950" spc="204">
                <a:solidFill>
                  <a:srgbClr val="FFFFFF"/>
                </a:solidFill>
              </a:rPr>
              <a:t>Placement</a:t>
            </a:r>
            <a:r>
              <a:rPr dirty="0" sz="4950" spc="-45">
                <a:solidFill>
                  <a:srgbClr val="FFFFFF"/>
                </a:solidFill>
              </a:rPr>
              <a:t> </a:t>
            </a:r>
            <a:r>
              <a:rPr dirty="0" sz="4950" spc="-10">
                <a:solidFill>
                  <a:srgbClr val="FFFFFF"/>
                </a:solidFill>
              </a:rPr>
              <a:t>Portal </a:t>
            </a:r>
            <a:r>
              <a:rPr dirty="0" sz="4950" spc="80">
                <a:solidFill>
                  <a:srgbClr val="FFFFFF"/>
                </a:solidFill>
              </a:rPr>
              <a:t>for</a:t>
            </a:r>
            <a:r>
              <a:rPr dirty="0" sz="4950" spc="-35">
                <a:solidFill>
                  <a:srgbClr val="FFFFFF"/>
                </a:solidFill>
              </a:rPr>
              <a:t> </a:t>
            </a:r>
            <a:r>
              <a:rPr dirty="0" sz="4950" spc="130">
                <a:solidFill>
                  <a:srgbClr val="FFFFFF"/>
                </a:solidFill>
              </a:rPr>
              <a:t>Educational</a:t>
            </a:r>
            <a:r>
              <a:rPr dirty="0" sz="4950" spc="-35">
                <a:solidFill>
                  <a:srgbClr val="FFFFFF"/>
                </a:solidFill>
              </a:rPr>
              <a:t> </a:t>
            </a:r>
            <a:r>
              <a:rPr dirty="0" sz="4950" spc="145">
                <a:solidFill>
                  <a:srgbClr val="FFFFFF"/>
                </a:solidFill>
              </a:rPr>
              <a:t>Institutions</a:t>
            </a:r>
            <a:endParaRPr sz="4950"/>
          </a:p>
        </p:txBody>
      </p:sp>
      <p:sp>
        <p:nvSpPr>
          <p:cNvPr id="5" name="object 5"/>
          <p:cNvSpPr txBox="1"/>
          <p:nvPr/>
        </p:nvSpPr>
        <p:spPr>
          <a:xfrm>
            <a:off x="4559212" y="4106957"/>
            <a:ext cx="9166225" cy="3692525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80"/>
              </a:spcBef>
            </a:pPr>
            <a:r>
              <a:rPr dirty="0" sz="2450" spc="80">
                <a:solidFill>
                  <a:srgbClr val="E9E9E6"/>
                </a:solidFill>
                <a:latin typeface="Times New Roman"/>
                <a:cs typeface="Times New Roman"/>
              </a:rPr>
              <a:t>Design,</a:t>
            </a:r>
            <a:r>
              <a:rPr dirty="0" sz="2450" spc="-10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160">
                <a:solidFill>
                  <a:srgbClr val="E9E9E6"/>
                </a:solidFill>
                <a:latin typeface="Times New Roman"/>
                <a:cs typeface="Times New Roman"/>
              </a:rPr>
              <a:t>Implementation,</a:t>
            </a:r>
            <a:r>
              <a:rPr dirty="0" sz="2450" spc="-10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215">
                <a:solidFill>
                  <a:srgbClr val="E9E9E6"/>
                </a:solidFill>
                <a:latin typeface="Times New Roman"/>
                <a:cs typeface="Times New Roman"/>
              </a:rPr>
              <a:t>and</a:t>
            </a:r>
            <a:r>
              <a:rPr dirty="0" sz="2450" spc="-5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90">
                <a:solidFill>
                  <a:srgbClr val="E9E9E6"/>
                </a:solidFill>
                <a:latin typeface="Times New Roman"/>
                <a:cs typeface="Times New Roman"/>
              </a:rPr>
              <a:t>Evaluation</a:t>
            </a:r>
            <a:endParaRPr sz="2450">
              <a:latin typeface="Times New Roman"/>
              <a:cs typeface="Times New Roman"/>
            </a:endParaRPr>
          </a:p>
          <a:p>
            <a:pPr algn="ctr" marL="12700" marR="5080">
              <a:lnSpc>
                <a:spcPct val="140300"/>
              </a:lnSpc>
            </a:pPr>
            <a:r>
              <a:rPr dirty="0" sz="2450" spc="180">
                <a:solidFill>
                  <a:srgbClr val="E9E9E6"/>
                </a:solidFill>
                <a:latin typeface="Times New Roman"/>
                <a:cs typeface="Times New Roman"/>
              </a:rPr>
              <a:t>Frontend</a:t>
            </a:r>
            <a:r>
              <a:rPr dirty="0" sz="2450" spc="-30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140">
                <a:solidFill>
                  <a:srgbClr val="E9E9E6"/>
                </a:solidFill>
                <a:latin typeface="Times New Roman"/>
                <a:cs typeface="Times New Roman"/>
              </a:rPr>
              <a:t>Prototype</a:t>
            </a:r>
            <a:r>
              <a:rPr dirty="0" sz="2450" spc="-25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130">
                <a:solidFill>
                  <a:srgbClr val="E9E9E6"/>
                </a:solidFill>
                <a:latin typeface="Times New Roman"/>
                <a:cs typeface="Times New Roman"/>
              </a:rPr>
              <a:t>using</a:t>
            </a:r>
            <a:r>
              <a:rPr dirty="0" sz="2450" spc="-25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-10">
                <a:solidFill>
                  <a:srgbClr val="E9E9E6"/>
                </a:solidFill>
                <a:latin typeface="Times New Roman"/>
                <a:cs typeface="Times New Roman"/>
              </a:rPr>
              <a:t>HTML5,</a:t>
            </a:r>
            <a:r>
              <a:rPr dirty="0" sz="2450" spc="-25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>
                <a:solidFill>
                  <a:srgbClr val="E9E9E6"/>
                </a:solidFill>
                <a:latin typeface="Times New Roman"/>
                <a:cs typeface="Times New Roman"/>
              </a:rPr>
              <a:t>CSS3,</a:t>
            </a:r>
            <a:r>
              <a:rPr dirty="0" sz="2450" spc="-25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80">
                <a:solidFill>
                  <a:srgbClr val="E9E9E6"/>
                </a:solidFill>
                <a:latin typeface="Times New Roman"/>
                <a:cs typeface="Times New Roman"/>
              </a:rPr>
              <a:t>JavaScript</a:t>
            </a:r>
            <a:r>
              <a:rPr dirty="0" sz="2450" spc="-25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>
                <a:solidFill>
                  <a:srgbClr val="E9E9E6"/>
                </a:solidFill>
                <a:latin typeface="Times New Roman"/>
                <a:cs typeface="Times New Roman"/>
              </a:rPr>
              <a:t>&amp;</a:t>
            </a:r>
            <a:r>
              <a:rPr dirty="0" sz="2450" spc="-25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125">
                <a:solidFill>
                  <a:srgbClr val="E9E9E6"/>
                </a:solidFill>
                <a:latin typeface="Times New Roman"/>
                <a:cs typeface="Times New Roman"/>
              </a:rPr>
              <a:t>Bootstrap</a:t>
            </a:r>
            <a:r>
              <a:rPr dirty="0" sz="2450" spc="-25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35">
                <a:solidFill>
                  <a:srgbClr val="E9E9E6"/>
                </a:solidFill>
                <a:latin typeface="Times New Roman"/>
                <a:cs typeface="Times New Roman"/>
              </a:rPr>
              <a:t>5 </a:t>
            </a:r>
            <a:r>
              <a:rPr dirty="0" sz="2450" spc="110">
                <a:solidFill>
                  <a:srgbClr val="E9E9E6"/>
                </a:solidFill>
                <a:latin typeface="Times New Roman"/>
                <a:cs typeface="Times New Roman"/>
              </a:rPr>
              <a:t>by</a:t>
            </a:r>
            <a:endParaRPr sz="2450">
              <a:latin typeface="Times New Roman"/>
              <a:cs typeface="Times New Roman"/>
            </a:endParaRPr>
          </a:p>
          <a:p>
            <a:pPr algn="ctr" marL="2963545" marR="2903855" indent="22860">
              <a:lnSpc>
                <a:spcPct val="140300"/>
              </a:lnSpc>
            </a:pPr>
            <a:r>
              <a:rPr dirty="0" sz="2450" spc="80">
                <a:solidFill>
                  <a:srgbClr val="E9E9E6"/>
                </a:solidFill>
                <a:latin typeface="Times New Roman"/>
                <a:cs typeface="Times New Roman"/>
              </a:rPr>
              <a:t>Naga</a:t>
            </a:r>
            <a:r>
              <a:rPr dirty="0" sz="2450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125">
                <a:solidFill>
                  <a:srgbClr val="E9E9E6"/>
                </a:solidFill>
                <a:latin typeface="Times New Roman"/>
                <a:cs typeface="Times New Roman"/>
              </a:rPr>
              <a:t>Sharmila</a:t>
            </a:r>
            <a:r>
              <a:rPr dirty="0" sz="2450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105">
                <a:solidFill>
                  <a:srgbClr val="E9E9E6"/>
                </a:solidFill>
                <a:latin typeface="Times New Roman"/>
                <a:cs typeface="Times New Roman"/>
              </a:rPr>
              <a:t>Patchari </a:t>
            </a:r>
            <a:r>
              <a:rPr dirty="0" sz="2450" spc="140">
                <a:solidFill>
                  <a:srgbClr val="E9E9E6"/>
                </a:solidFill>
                <a:latin typeface="Times New Roman"/>
                <a:cs typeface="Times New Roman"/>
              </a:rPr>
              <a:t>Chegondi</a:t>
            </a:r>
            <a:r>
              <a:rPr dirty="0" sz="2450" spc="10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85">
                <a:solidFill>
                  <a:srgbClr val="E9E9E6"/>
                </a:solidFill>
                <a:latin typeface="Times New Roman"/>
                <a:cs typeface="Times New Roman"/>
              </a:rPr>
              <a:t>Revathi </a:t>
            </a:r>
            <a:r>
              <a:rPr dirty="0" sz="2450" spc="105">
                <a:solidFill>
                  <a:srgbClr val="E9E9E6"/>
                </a:solidFill>
                <a:latin typeface="Times New Roman"/>
                <a:cs typeface="Times New Roman"/>
              </a:rPr>
              <a:t>Vedangi</a:t>
            </a:r>
            <a:r>
              <a:rPr dirty="0" sz="2450" spc="-15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80">
                <a:solidFill>
                  <a:srgbClr val="E9E9E6"/>
                </a:solidFill>
                <a:latin typeface="Times New Roman"/>
                <a:cs typeface="Times New Roman"/>
              </a:rPr>
              <a:t>Sathvika </a:t>
            </a:r>
            <a:r>
              <a:rPr dirty="0" sz="2450" spc="90">
                <a:solidFill>
                  <a:srgbClr val="E9E9E6"/>
                </a:solidFill>
                <a:latin typeface="Times New Roman"/>
                <a:cs typeface="Times New Roman"/>
              </a:rPr>
              <a:t>Yedida</a:t>
            </a:r>
            <a:r>
              <a:rPr dirty="0" sz="2450" spc="-20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110">
                <a:solidFill>
                  <a:srgbClr val="E9E9E6"/>
                </a:solidFill>
                <a:latin typeface="Times New Roman"/>
                <a:cs typeface="Times New Roman"/>
              </a:rPr>
              <a:t>Abishek</a:t>
            </a:r>
            <a:r>
              <a:rPr dirty="0" sz="2450" spc="-15">
                <a:solidFill>
                  <a:srgbClr val="E9E9E6"/>
                </a:solidFill>
                <a:latin typeface="Times New Roman"/>
                <a:cs typeface="Times New Roman"/>
              </a:rPr>
              <a:t> </a:t>
            </a:r>
            <a:r>
              <a:rPr dirty="0" sz="2450" spc="130">
                <a:solidFill>
                  <a:srgbClr val="E9E9E6"/>
                </a:solidFill>
                <a:latin typeface="Times New Roman"/>
                <a:cs typeface="Times New Roman"/>
              </a:rPr>
              <a:t>Kumar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91240" y="8338946"/>
            <a:ext cx="8705850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114">
                <a:solidFill>
                  <a:srgbClr val="6A8E7B"/>
                </a:solidFill>
                <a:latin typeface="Times New Roman"/>
                <a:cs typeface="Times New Roman"/>
              </a:rPr>
              <a:t>Campus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6A8E7B"/>
                </a:solidFill>
                <a:latin typeface="Times New Roman"/>
                <a:cs typeface="Times New Roman"/>
              </a:rPr>
              <a:t>Placement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6A8E7B"/>
                </a:solidFill>
                <a:latin typeface="Times New Roman"/>
                <a:cs typeface="Times New Roman"/>
              </a:rPr>
              <a:t>|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Online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6A8E7B"/>
                </a:solidFill>
                <a:latin typeface="Times New Roman"/>
                <a:cs typeface="Times New Roman"/>
              </a:rPr>
              <a:t>Recruitment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6A8E7B"/>
                </a:solidFill>
                <a:latin typeface="Times New Roman"/>
                <a:cs typeface="Times New Roman"/>
              </a:rPr>
              <a:t>|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75">
                <a:solidFill>
                  <a:srgbClr val="6A8E7B"/>
                </a:solidFill>
                <a:latin typeface="Times New Roman"/>
                <a:cs typeface="Times New Roman"/>
              </a:rPr>
              <a:t>Web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Application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6A8E7B"/>
                </a:solidFill>
                <a:latin typeface="Times New Roman"/>
                <a:cs typeface="Times New Roman"/>
              </a:rPr>
              <a:t>|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10">
                <a:solidFill>
                  <a:srgbClr val="6A8E7B"/>
                </a:solidFill>
                <a:latin typeface="Times New Roman"/>
                <a:cs typeface="Times New Roman"/>
              </a:rPr>
              <a:t>Student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65">
                <a:solidFill>
                  <a:srgbClr val="6A8E7B"/>
                </a:solidFill>
                <a:latin typeface="Times New Roman"/>
                <a:cs typeface="Times New Roman"/>
              </a:rPr>
              <a:t>Portal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6A8E7B"/>
                </a:solidFill>
                <a:latin typeface="Times New Roman"/>
                <a:cs typeface="Times New Roman"/>
              </a:rPr>
              <a:t>|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14">
                <a:solidFill>
                  <a:srgbClr val="6A8E7B"/>
                </a:solidFill>
                <a:latin typeface="Times New Roman"/>
                <a:cs typeface="Times New Roman"/>
              </a:rPr>
              <a:t>Frontend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Prototype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7078" y="8856515"/>
            <a:ext cx="16570325" cy="14604"/>
          </a:xfrm>
          <a:custGeom>
            <a:avLst/>
            <a:gdLst/>
            <a:ahLst/>
            <a:cxnLst/>
            <a:rect l="l" t="t" r="r" b="b"/>
            <a:pathLst>
              <a:path w="16570325" h="14604">
                <a:moveTo>
                  <a:pt x="16570262" y="14287"/>
                </a:moveTo>
                <a:lnTo>
                  <a:pt x="0" y="14287"/>
                </a:lnTo>
                <a:lnTo>
                  <a:pt x="0" y="0"/>
                </a:lnTo>
                <a:lnTo>
                  <a:pt x="16570262" y="0"/>
                </a:lnTo>
                <a:lnTo>
                  <a:pt x="16570262" y="14287"/>
                </a:lnTo>
                <a:close/>
              </a:path>
            </a:pathLst>
          </a:custGeom>
          <a:solidFill>
            <a:srgbClr val="6A8E7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378" y="168370"/>
            <a:ext cx="75088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40" b="1">
                <a:solidFill>
                  <a:srgbClr val="C7913A"/>
                </a:solidFill>
                <a:latin typeface="Times New Roman"/>
                <a:cs typeface="Times New Roman"/>
              </a:rPr>
              <a:t>INTRODUCTION</a:t>
            </a:r>
            <a:r>
              <a:rPr dirty="0" sz="1350" spc="15" b="1">
                <a:solidFill>
                  <a:srgbClr val="C7913A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65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Times New Roman"/>
                <a:cs typeface="Times New Roman"/>
              </a:rPr>
              <a:t>Design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85">
                <a:solidFill>
                  <a:srgbClr val="FFFFFF"/>
                </a:solidFill>
                <a:latin typeface="Times New Roman"/>
                <a:cs typeface="Times New Roman"/>
              </a:rPr>
              <a:t>Implementation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75">
                <a:solidFill>
                  <a:srgbClr val="FFFFFF"/>
                </a:solidFill>
                <a:latin typeface="Times New Roman"/>
                <a:cs typeface="Times New Roman"/>
              </a:rPr>
              <a:t>Workflow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45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5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5"/>
              <a:t>Introduction</a:t>
            </a:r>
            <a:r>
              <a:rPr dirty="0" spc="-25"/>
              <a:t> </a:t>
            </a:r>
            <a:r>
              <a:rPr dirty="0" spc="-330"/>
              <a:t>&amp;</a:t>
            </a:r>
            <a:r>
              <a:rPr dirty="0" spc="-25"/>
              <a:t> </a:t>
            </a:r>
            <a:r>
              <a:rPr dirty="0" spc="145"/>
              <a:t>Problem</a:t>
            </a:r>
            <a:r>
              <a:rPr dirty="0" spc="-25"/>
              <a:t> </a:t>
            </a:r>
            <a:r>
              <a:rPr dirty="0" spc="125"/>
              <a:t>Statement</a:t>
            </a:r>
          </a:p>
        </p:txBody>
      </p:sp>
      <p:sp>
        <p:nvSpPr>
          <p:cNvPr id="4" name="object 4"/>
          <p:cNvSpPr/>
          <p:nvPr/>
        </p:nvSpPr>
        <p:spPr>
          <a:xfrm>
            <a:off x="857078" y="1399898"/>
            <a:ext cx="857250" cy="43180"/>
          </a:xfrm>
          <a:custGeom>
            <a:avLst/>
            <a:gdLst/>
            <a:ahLst/>
            <a:cxnLst/>
            <a:rect l="l" t="t" r="r" b="b"/>
            <a:pathLst>
              <a:path w="857250" h="43180">
                <a:moveTo>
                  <a:pt x="857059" y="42852"/>
                </a:moveTo>
                <a:lnTo>
                  <a:pt x="0" y="42852"/>
                </a:lnTo>
                <a:lnTo>
                  <a:pt x="0" y="0"/>
                </a:lnTo>
                <a:lnTo>
                  <a:pt x="857059" y="0"/>
                </a:lnTo>
                <a:lnTo>
                  <a:pt x="857059" y="42852"/>
                </a:lnTo>
                <a:close/>
              </a:path>
            </a:pathLst>
          </a:custGeom>
          <a:solidFill>
            <a:srgbClr val="C791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44378" y="1525520"/>
            <a:ext cx="7706995" cy="3757295"/>
          </a:xfrm>
          <a:prstGeom prst="rect">
            <a:avLst/>
          </a:prstGeom>
        </p:spPr>
        <p:txBody>
          <a:bodyPr wrap="square" lIns="0" tIns="1822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2450" spc="65" b="1">
                <a:solidFill>
                  <a:srgbClr val="6A8E7B"/>
                </a:solidFill>
                <a:latin typeface="Times New Roman"/>
                <a:cs typeface="Times New Roman"/>
              </a:rPr>
              <a:t>Background</a:t>
            </a:r>
            <a:r>
              <a:rPr dirty="0" sz="2450" spc="-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-210" b="1">
                <a:solidFill>
                  <a:srgbClr val="6A8E7B"/>
                </a:solidFill>
                <a:latin typeface="Times New Roman"/>
                <a:cs typeface="Times New Roman"/>
              </a:rPr>
              <a:t>&amp;</a:t>
            </a:r>
            <a:r>
              <a:rPr dirty="0" sz="2450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80" b="1">
                <a:solidFill>
                  <a:srgbClr val="6A8E7B"/>
                </a:solidFill>
                <a:latin typeface="Times New Roman"/>
                <a:cs typeface="Times New Roman"/>
              </a:rPr>
              <a:t>Motivation</a:t>
            </a:r>
            <a:endParaRPr sz="2450">
              <a:latin typeface="Times New Roman"/>
              <a:cs typeface="Times New Roman"/>
            </a:endParaRPr>
          </a:p>
          <a:p>
            <a:pPr marL="12700" marR="5080">
              <a:lnSpc>
                <a:spcPts val="3600"/>
              </a:lnSpc>
              <a:spcBef>
                <a:spcPts val="220"/>
              </a:spcBef>
            </a:pPr>
            <a:r>
              <a:rPr dirty="0" sz="2000" spc="150">
                <a:solidFill>
                  <a:srgbClr val="1A1A1A"/>
                </a:solidFill>
                <a:latin typeface="Times New Roman"/>
                <a:cs typeface="Times New Roman"/>
              </a:rPr>
              <a:t>Campus</a:t>
            </a:r>
            <a:r>
              <a:rPr dirty="0" sz="20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55">
                <a:solidFill>
                  <a:srgbClr val="1A1A1A"/>
                </a:solidFill>
                <a:latin typeface="Times New Roman"/>
                <a:cs typeface="Times New Roman"/>
              </a:rPr>
              <a:t>placement</a:t>
            </a:r>
            <a:r>
              <a:rPr dirty="0" sz="20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50">
                <a:solidFill>
                  <a:srgbClr val="1A1A1A"/>
                </a:solidFill>
                <a:latin typeface="Times New Roman"/>
                <a:cs typeface="Times New Roman"/>
              </a:rPr>
              <a:t>is</a:t>
            </a:r>
            <a:r>
              <a:rPr dirty="0" sz="20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14">
                <a:solidFill>
                  <a:srgbClr val="1A1A1A"/>
                </a:solidFill>
                <a:latin typeface="Times New Roman"/>
                <a:cs typeface="Times New Roman"/>
              </a:rPr>
              <a:t>a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75">
                <a:solidFill>
                  <a:srgbClr val="1A1A1A"/>
                </a:solidFill>
                <a:latin typeface="Times New Roman"/>
                <a:cs typeface="Times New Roman"/>
              </a:rPr>
              <a:t>critical</a:t>
            </a:r>
            <a:r>
              <a:rPr dirty="0" sz="20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65">
                <a:solidFill>
                  <a:srgbClr val="1A1A1A"/>
                </a:solidFill>
                <a:latin typeface="Times New Roman"/>
                <a:cs typeface="Times New Roman"/>
              </a:rPr>
              <a:t>activity</a:t>
            </a:r>
            <a:r>
              <a:rPr dirty="0" sz="20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70">
                <a:solidFill>
                  <a:srgbClr val="1A1A1A"/>
                </a:solidFill>
                <a:latin typeface="Times New Roman"/>
                <a:cs typeface="Times New Roman"/>
              </a:rPr>
              <a:t>linking</a:t>
            </a:r>
            <a:r>
              <a:rPr dirty="0" sz="20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50">
                <a:solidFill>
                  <a:srgbClr val="1A1A1A"/>
                </a:solidFill>
                <a:latin typeface="Times New Roman"/>
                <a:cs typeface="Times New Roman"/>
              </a:rPr>
              <a:t>students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00">
                <a:solidFill>
                  <a:srgbClr val="1A1A1A"/>
                </a:solidFill>
                <a:latin typeface="Times New Roman"/>
                <a:cs typeface="Times New Roman"/>
              </a:rPr>
              <a:t>with </a:t>
            </a:r>
            <a:r>
              <a:rPr dirty="0" sz="2000" spc="120">
                <a:solidFill>
                  <a:srgbClr val="1A1A1A"/>
                </a:solidFill>
                <a:latin typeface="Times New Roman"/>
                <a:cs typeface="Times New Roman"/>
              </a:rPr>
              <a:t>employers.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00">
                <a:solidFill>
                  <a:srgbClr val="1A1A1A"/>
                </a:solidFill>
                <a:latin typeface="Times New Roman"/>
                <a:cs typeface="Times New Roman"/>
              </a:rPr>
              <a:t>Conventionally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60">
                <a:solidFill>
                  <a:srgbClr val="1A1A1A"/>
                </a:solidFill>
                <a:latin typeface="Times New Roman"/>
                <a:cs typeface="Times New Roman"/>
              </a:rPr>
              <a:t>managed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1A1A1A"/>
                </a:solidFill>
                <a:latin typeface="Times New Roman"/>
                <a:cs typeface="Times New Roman"/>
              </a:rPr>
              <a:t>manually</a:t>
            </a:r>
            <a:r>
              <a:rPr dirty="0" sz="200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1A1A1A"/>
                </a:solidFill>
                <a:latin typeface="Times New Roman"/>
                <a:cs typeface="Times New Roman"/>
              </a:rPr>
              <a:t>by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50">
                <a:solidFill>
                  <a:srgbClr val="1A1A1A"/>
                </a:solidFill>
                <a:latin typeface="Times New Roman"/>
                <a:cs typeface="Times New Roman"/>
              </a:rPr>
              <a:t>the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85">
                <a:solidFill>
                  <a:srgbClr val="1A1A1A"/>
                </a:solidFill>
                <a:latin typeface="Times New Roman"/>
                <a:cs typeface="Times New Roman"/>
              </a:rPr>
              <a:t>Training</a:t>
            </a:r>
            <a:r>
              <a:rPr dirty="0" sz="200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55">
                <a:solidFill>
                  <a:srgbClr val="1A1A1A"/>
                </a:solidFill>
                <a:latin typeface="Times New Roman"/>
                <a:cs typeface="Times New Roman"/>
              </a:rPr>
              <a:t>and </a:t>
            </a:r>
            <a:r>
              <a:rPr dirty="0" sz="2000" spc="130">
                <a:solidFill>
                  <a:srgbClr val="1A1A1A"/>
                </a:solidFill>
                <a:latin typeface="Times New Roman"/>
                <a:cs typeface="Times New Roman"/>
              </a:rPr>
              <a:t>Placement</a:t>
            </a:r>
            <a:r>
              <a:rPr dirty="0" sz="2000" spc="-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75">
                <a:solidFill>
                  <a:srgbClr val="1A1A1A"/>
                </a:solidFill>
                <a:latin typeface="Times New Roman"/>
                <a:cs typeface="Times New Roman"/>
              </a:rPr>
              <a:t>Officer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40">
                <a:solidFill>
                  <a:srgbClr val="1A1A1A"/>
                </a:solidFill>
                <a:latin typeface="Times New Roman"/>
                <a:cs typeface="Times New Roman"/>
              </a:rPr>
              <a:t>(TPO),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50">
                <a:solidFill>
                  <a:srgbClr val="1A1A1A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45">
                <a:solidFill>
                  <a:srgbClr val="1A1A1A"/>
                </a:solidFill>
                <a:latin typeface="Times New Roman"/>
                <a:cs typeface="Times New Roman"/>
              </a:rPr>
              <a:t>process</a:t>
            </a:r>
            <a:r>
              <a:rPr dirty="0" sz="2000" spc="-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05">
                <a:solidFill>
                  <a:srgbClr val="1A1A1A"/>
                </a:solidFill>
                <a:latin typeface="Times New Roman"/>
                <a:cs typeface="Times New Roman"/>
              </a:rPr>
              <a:t>suffers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60">
                <a:solidFill>
                  <a:srgbClr val="1A1A1A"/>
                </a:solidFill>
                <a:latin typeface="Times New Roman"/>
                <a:cs typeface="Times New Roman"/>
              </a:rPr>
              <a:t>from</a:t>
            </a:r>
            <a:r>
              <a:rPr dirty="0" sz="20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70">
                <a:solidFill>
                  <a:srgbClr val="1A1A1A"/>
                </a:solidFill>
                <a:latin typeface="Times New Roman"/>
                <a:cs typeface="Times New Roman"/>
              </a:rPr>
              <a:t>inefficiencies:</a:t>
            </a:r>
            <a:endParaRPr sz="2000">
              <a:latin typeface="Times New Roman"/>
              <a:cs typeface="Times New Roman"/>
            </a:endParaRPr>
          </a:p>
          <a:p>
            <a:pPr marL="157480" indent="-144780">
              <a:lnSpc>
                <a:spcPct val="100000"/>
              </a:lnSpc>
              <a:spcBef>
                <a:spcPts val="880"/>
              </a:spcBef>
              <a:buChar char="•"/>
              <a:tabLst>
                <a:tab pos="157480" algn="l"/>
              </a:tabLst>
            </a:pPr>
            <a:r>
              <a:rPr dirty="0" sz="2000" spc="95">
                <a:solidFill>
                  <a:srgbClr val="1A1A1A"/>
                </a:solidFill>
                <a:latin typeface="Times New Roman"/>
                <a:cs typeface="Times New Roman"/>
              </a:rPr>
              <a:t>Delayed</a:t>
            </a:r>
            <a:r>
              <a:rPr dirty="0" sz="200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30">
                <a:solidFill>
                  <a:srgbClr val="1A1A1A"/>
                </a:solidFill>
                <a:latin typeface="Times New Roman"/>
                <a:cs typeface="Times New Roman"/>
              </a:rPr>
              <a:t>information</a:t>
            </a:r>
            <a:r>
              <a:rPr dirty="0" sz="2000" spc="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20">
                <a:solidFill>
                  <a:srgbClr val="1A1A1A"/>
                </a:solidFill>
                <a:latin typeface="Times New Roman"/>
                <a:cs typeface="Times New Roman"/>
              </a:rPr>
              <a:t>dissemination</a:t>
            </a:r>
            <a:endParaRPr sz="2000">
              <a:latin typeface="Times New Roman"/>
              <a:cs typeface="Times New Roman"/>
            </a:endParaRPr>
          </a:p>
          <a:p>
            <a:pPr marL="157480" indent="-144780">
              <a:lnSpc>
                <a:spcPct val="100000"/>
              </a:lnSpc>
              <a:spcBef>
                <a:spcPts val="1200"/>
              </a:spcBef>
              <a:buChar char="•"/>
              <a:tabLst>
                <a:tab pos="157480" algn="l"/>
              </a:tabLst>
            </a:pPr>
            <a:r>
              <a:rPr dirty="0" sz="2000" spc="130">
                <a:solidFill>
                  <a:srgbClr val="1A1A1A"/>
                </a:solidFill>
                <a:latin typeface="Times New Roman"/>
                <a:cs typeface="Times New Roman"/>
              </a:rPr>
              <a:t>Inconsistent</a:t>
            </a:r>
            <a:r>
              <a:rPr dirty="0" sz="20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10">
                <a:solidFill>
                  <a:srgbClr val="1A1A1A"/>
                </a:solidFill>
                <a:latin typeface="Times New Roman"/>
                <a:cs typeface="Times New Roman"/>
              </a:rPr>
              <a:t>application</a:t>
            </a:r>
            <a:r>
              <a:rPr dirty="0" sz="2000" spc="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90">
                <a:solidFill>
                  <a:srgbClr val="1A1A1A"/>
                </a:solidFill>
                <a:latin typeface="Times New Roman"/>
                <a:cs typeface="Times New Roman"/>
              </a:rPr>
              <a:t>tracking</a:t>
            </a:r>
            <a:endParaRPr sz="2000">
              <a:latin typeface="Times New Roman"/>
              <a:cs typeface="Times New Roman"/>
            </a:endParaRPr>
          </a:p>
          <a:p>
            <a:pPr marL="157480" indent="-144780">
              <a:lnSpc>
                <a:spcPct val="100000"/>
              </a:lnSpc>
              <a:spcBef>
                <a:spcPts val="1200"/>
              </a:spcBef>
              <a:buChar char="•"/>
              <a:tabLst>
                <a:tab pos="157480" algn="l"/>
              </a:tabLst>
            </a:pPr>
            <a:r>
              <a:rPr dirty="0" sz="2000" spc="75">
                <a:solidFill>
                  <a:srgbClr val="1A1A1A"/>
                </a:solidFill>
                <a:latin typeface="Times New Roman"/>
                <a:cs typeface="Times New Roman"/>
              </a:rPr>
              <a:t>Excessive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55">
                <a:solidFill>
                  <a:srgbClr val="1A1A1A"/>
                </a:solidFill>
                <a:latin typeface="Times New Roman"/>
                <a:cs typeface="Times New Roman"/>
              </a:rPr>
              <a:t>manual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30">
                <a:solidFill>
                  <a:srgbClr val="1A1A1A"/>
                </a:solidFill>
                <a:latin typeface="Times New Roman"/>
                <a:cs typeface="Times New Roman"/>
              </a:rPr>
              <a:t>workload</a:t>
            </a:r>
            <a:r>
              <a:rPr dirty="0" sz="20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200">
                <a:solidFill>
                  <a:srgbClr val="1A1A1A"/>
                </a:solidFill>
                <a:latin typeface="Times New Roman"/>
                <a:cs typeface="Times New Roman"/>
              </a:rPr>
              <a:t>on</a:t>
            </a:r>
            <a:r>
              <a:rPr dirty="0" sz="200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1A1A1A"/>
                </a:solidFill>
                <a:latin typeface="Times New Roman"/>
                <a:cs typeface="Times New Roman"/>
              </a:rPr>
              <a:t>TPOs</a:t>
            </a:r>
            <a:endParaRPr sz="2000">
              <a:latin typeface="Times New Roman"/>
              <a:cs typeface="Times New Roman"/>
            </a:endParaRPr>
          </a:p>
          <a:p>
            <a:pPr marL="157480" indent="-144780">
              <a:lnSpc>
                <a:spcPct val="100000"/>
              </a:lnSpc>
              <a:spcBef>
                <a:spcPts val="1200"/>
              </a:spcBef>
              <a:buChar char="•"/>
              <a:tabLst>
                <a:tab pos="157480" algn="l"/>
              </a:tabLst>
            </a:pPr>
            <a:r>
              <a:rPr dirty="0" sz="2000" spc="114">
                <a:solidFill>
                  <a:srgbClr val="1A1A1A"/>
                </a:solidFill>
                <a:latin typeface="Times New Roman"/>
                <a:cs typeface="Times New Roman"/>
              </a:rPr>
              <a:t>No</a:t>
            </a:r>
            <a:r>
              <a:rPr dirty="0" sz="200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50">
                <a:solidFill>
                  <a:srgbClr val="1A1A1A"/>
                </a:solidFill>
                <a:latin typeface="Times New Roman"/>
                <a:cs typeface="Times New Roman"/>
              </a:rPr>
              <a:t>structured</a:t>
            </a:r>
            <a:r>
              <a:rPr dirty="0" sz="200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55">
                <a:solidFill>
                  <a:srgbClr val="1A1A1A"/>
                </a:solidFill>
                <a:latin typeface="Times New Roman"/>
                <a:cs typeface="Times New Roman"/>
              </a:rPr>
              <a:t>student</a:t>
            </a:r>
            <a:r>
              <a:rPr dirty="0" sz="200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95">
                <a:solidFill>
                  <a:srgbClr val="1A1A1A"/>
                </a:solidFill>
                <a:latin typeface="Times New Roman"/>
                <a:cs typeface="Times New Roman"/>
              </a:rPr>
              <a:t>profile</a:t>
            </a:r>
            <a:r>
              <a:rPr dirty="0" sz="200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000" spc="114">
                <a:solidFill>
                  <a:srgbClr val="1A1A1A"/>
                </a:solidFill>
                <a:latin typeface="Times New Roman"/>
                <a:cs typeface="Times New Roman"/>
              </a:rPr>
              <a:t>repository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29517" y="1692036"/>
            <a:ext cx="3545840" cy="4025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b="1">
                <a:solidFill>
                  <a:srgbClr val="6A8E7B"/>
                </a:solidFill>
                <a:latin typeface="Times New Roman"/>
                <a:cs typeface="Times New Roman"/>
              </a:rPr>
              <a:t>Key</a:t>
            </a:r>
            <a:r>
              <a:rPr dirty="0" sz="2450" spc="5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110" b="1">
                <a:solidFill>
                  <a:srgbClr val="6A8E7B"/>
                </a:solidFill>
                <a:latin typeface="Times New Roman"/>
                <a:cs typeface="Times New Roman"/>
              </a:rPr>
              <a:t>Problems</a:t>
            </a:r>
            <a:r>
              <a:rPr dirty="0" sz="2450" spc="5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90" b="1">
                <a:solidFill>
                  <a:srgbClr val="6A8E7B"/>
                </a:solidFill>
                <a:latin typeface="Times New Roman"/>
                <a:cs typeface="Times New Roman"/>
              </a:rPr>
              <a:t>Identified</a:t>
            </a:r>
            <a:endParaRPr sz="24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142217" y="2256986"/>
            <a:ext cx="8287384" cy="971550"/>
            <a:chOff x="9142217" y="2256986"/>
            <a:chExt cx="8287384" cy="971550"/>
          </a:xfrm>
        </p:grpSpPr>
        <p:sp>
          <p:nvSpPr>
            <p:cNvPr id="8" name="object 8"/>
            <p:cNvSpPr/>
            <p:nvPr/>
          </p:nvSpPr>
          <p:spPr>
            <a:xfrm>
              <a:off x="9142217" y="2256986"/>
              <a:ext cx="8287384" cy="971550"/>
            </a:xfrm>
            <a:custGeom>
              <a:avLst/>
              <a:gdLst/>
              <a:ahLst/>
              <a:cxnLst/>
              <a:rect l="l" t="t" r="r" b="b"/>
              <a:pathLst>
                <a:path w="8287384" h="971550">
                  <a:moveTo>
                    <a:pt x="8286910" y="971359"/>
                  </a:moveTo>
                  <a:lnTo>
                    <a:pt x="0" y="971359"/>
                  </a:lnTo>
                  <a:lnTo>
                    <a:pt x="0" y="0"/>
                  </a:lnTo>
                  <a:lnTo>
                    <a:pt x="8286910" y="0"/>
                  </a:lnTo>
                  <a:lnTo>
                    <a:pt x="8286910" y="9713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356482" y="2428398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200025" y="399973"/>
                  </a:moveTo>
                  <a:lnTo>
                    <a:pt x="154228" y="394763"/>
                  </a:lnTo>
                  <a:lnTo>
                    <a:pt x="112139" y="379705"/>
                  </a:lnTo>
                  <a:lnTo>
                    <a:pt x="74998" y="356082"/>
                  </a:lnTo>
                  <a:lnTo>
                    <a:pt x="44007" y="325098"/>
                  </a:lnTo>
                  <a:lnTo>
                    <a:pt x="20370" y="287957"/>
                  </a:lnTo>
                  <a:lnTo>
                    <a:pt x="5297" y="245864"/>
                  </a:lnTo>
                  <a:lnTo>
                    <a:pt x="0" y="200025"/>
                  </a:lnTo>
                  <a:lnTo>
                    <a:pt x="5286" y="154215"/>
                  </a:lnTo>
                  <a:lnTo>
                    <a:pt x="20344" y="112134"/>
                  </a:lnTo>
                  <a:lnTo>
                    <a:pt x="43967" y="74991"/>
                  </a:lnTo>
                  <a:lnTo>
                    <a:pt x="74951" y="43997"/>
                  </a:lnTo>
                  <a:lnTo>
                    <a:pt x="112092" y="20360"/>
                  </a:lnTo>
                  <a:lnTo>
                    <a:pt x="154185" y="5291"/>
                  </a:lnTo>
                  <a:lnTo>
                    <a:pt x="200025" y="0"/>
                  </a:lnTo>
                  <a:lnTo>
                    <a:pt x="245879" y="5291"/>
                  </a:lnTo>
                  <a:lnTo>
                    <a:pt x="287984" y="20360"/>
                  </a:lnTo>
                  <a:lnTo>
                    <a:pt x="325128" y="43997"/>
                  </a:lnTo>
                  <a:lnTo>
                    <a:pt x="356123" y="74991"/>
                  </a:lnTo>
                  <a:lnTo>
                    <a:pt x="199782" y="74991"/>
                  </a:lnTo>
                  <a:lnTo>
                    <a:pt x="192618" y="76433"/>
                  </a:lnTo>
                  <a:lnTo>
                    <a:pt x="186654" y="80450"/>
                  </a:lnTo>
                  <a:lnTo>
                    <a:pt x="182637" y="86414"/>
                  </a:lnTo>
                  <a:lnTo>
                    <a:pt x="181261" y="93252"/>
                  </a:lnTo>
                  <a:lnTo>
                    <a:pt x="181261" y="206311"/>
                  </a:lnTo>
                  <a:lnTo>
                    <a:pt x="184404" y="212121"/>
                  </a:lnTo>
                  <a:lnTo>
                    <a:pt x="264733" y="265705"/>
                  </a:lnTo>
                  <a:lnTo>
                    <a:pt x="271467" y="268503"/>
                  </a:lnTo>
                  <a:lnTo>
                    <a:pt x="386665" y="268503"/>
                  </a:lnTo>
                  <a:lnTo>
                    <a:pt x="379706" y="287957"/>
                  </a:lnTo>
                  <a:lnTo>
                    <a:pt x="356083" y="325098"/>
                  </a:lnTo>
                  <a:lnTo>
                    <a:pt x="325098" y="356082"/>
                  </a:lnTo>
                  <a:lnTo>
                    <a:pt x="287957" y="379705"/>
                  </a:lnTo>
                  <a:lnTo>
                    <a:pt x="245865" y="394763"/>
                  </a:lnTo>
                  <a:lnTo>
                    <a:pt x="200025" y="399973"/>
                  </a:lnTo>
                  <a:close/>
                </a:path>
                <a:path w="400050" h="400050">
                  <a:moveTo>
                    <a:pt x="386665" y="268503"/>
                  </a:moveTo>
                  <a:lnTo>
                    <a:pt x="278541" y="268503"/>
                  </a:lnTo>
                  <a:lnTo>
                    <a:pt x="285299" y="265705"/>
                  </a:lnTo>
                  <a:lnTo>
                    <a:pt x="290608" y="260413"/>
                  </a:lnTo>
                  <a:lnTo>
                    <a:pt x="293459" y="253510"/>
                  </a:lnTo>
                  <a:lnTo>
                    <a:pt x="293417" y="246340"/>
                  </a:lnTo>
                  <a:lnTo>
                    <a:pt x="290661" y="239705"/>
                  </a:lnTo>
                  <a:lnTo>
                    <a:pt x="285369" y="234410"/>
                  </a:lnTo>
                  <a:lnTo>
                    <a:pt x="218694" y="190023"/>
                  </a:lnTo>
                  <a:lnTo>
                    <a:pt x="218598" y="93252"/>
                  </a:lnTo>
                  <a:lnTo>
                    <a:pt x="217222" y="86414"/>
                  </a:lnTo>
                  <a:lnTo>
                    <a:pt x="213205" y="80450"/>
                  </a:lnTo>
                  <a:lnTo>
                    <a:pt x="207241" y="76433"/>
                  </a:lnTo>
                  <a:lnTo>
                    <a:pt x="200077" y="74991"/>
                  </a:lnTo>
                  <a:lnTo>
                    <a:pt x="356108" y="74991"/>
                  </a:lnTo>
                  <a:lnTo>
                    <a:pt x="379721" y="112134"/>
                  </a:lnTo>
                  <a:lnTo>
                    <a:pt x="394766" y="154215"/>
                  </a:lnTo>
                  <a:lnTo>
                    <a:pt x="399973" y="200025"/>
                  </a:lnTo>
                  <a:lnTo>
                    <a:pt x="394763" y="245864"/>
                  </a:lnTo>
                  <a:lnTo>
                    <a:pt x="386665" y="268503"/>
                  </a:lnTo>
                  <a:close/>
                </a:path>
              </a:pathLst>
            </a:custGeom>
            <a:solidFill>
              <a:srgbClr val="C791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142217" y="2256986"/>
            <a:ext cx="8287384" cy="97155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785495">
              <a:lnSpc>
                <a:spcPct val="100000"/>
              </a:lnSpc>
              <a:spcBef>
                <a:spcPts val="1105"/>
              </a:spcBef>
            </a:pP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Information</a:t>
            </a:r>
            <a:r>
              <a:rPr dirty="0" sz="1800" spc="-1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1A1A1A"/>
                </a:solidFill>
                <a:latin typeface="Times New Roman"/>
                <a:cs typeface="Times New Roman"/>
              </a:rPr>
              <a:t>Lag</a:t>
            </a:r>
            <a:endParaRPr sz="1800">
              <a:latin typeface="Times New Roman"/>
              <a:cs typeface="Times New Roman"/>
            </a:endParaRPr>
          </a:p>
          <a:p>
            <a:pPr marL="785495">
              <a:lnSpc>
                <a:spcPct val="100000"/>
              </a:lnSpc>
              <a:spcBef>
                <a:spcPts val="865"/>
              </a:spcBef>
            </a:pPr>
            <a:r>
              <a:rPr dirty="0" sz="1550" spc="60">
                <a:solidFill>
                  <a:srgbClr val="6A8E7B"/>
                </a:solidFill>
                <a:latin typeface="Times New Roman"/>
                <a:cs typeface="Times New Roman"/>
              </a:rPr>
              <a:t>Job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0">
                <a:solidFill>
                  <a:srgbClr val="6A8E7B"/>
                </a:solidFill>
                <a:latin typeface="Times New Roman"/>
                <a:cs typeface="Times New Roman"/>
              </a:rPr>
              <a:t>notifications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take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6A8E7B"/>
                </a:solidFill>
                <a:latin typeface="Times New Roman"/>
                <a:cs typeface="Times New Roman"/>
              </a:rPr>
              <a:t>1-</a:t>
            </a:r>
            <a:r>
              <a:rPr dirty="0" sz="1550" spc="60">
                <a:solidFill>
                  <a:srgbClr val="6A8E7B"/>
                </a:solidFill>
                <a:latin typeface="Times New Roman"/>
                <a:cs typeface="Times New Roman"/>
              </a:rPr>
              <a:t>2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days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6A8E7B"/>
                </a:solidFill>
                <a:latin typeface="Times New Roman"/>
                <a:cs typeface="Times New Roman"/>
              </a:rPr>
              <a:t>to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20">
                <a:solidFill>
                  <a:srgbClr val="6A8E7B"/>
                </a:solidFill>
                <a:latin typeface="Times New Roman"/>
                <a:cs typeface="Times New Roman"/>
              </a:rPr>
              <a:t>reach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6A8E7B"/>
                </a:solidFill>
                <a:latin typeface="Times New Roman"/>
                <a:cs typeface="Times New Roman"/>
              </a:rPr>
              <a:t>students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142217" y="3371192"/>
            <a:ext cx="8287384" cy="971550"/>
            <a:chOff x="9142217" y="3371192"/>
            <a:chExt cx="8287384" cy="971550"/>
          </a:xfrm>
        </p:grpSpPr>
        <p:sp>
          <p:nvSpPr>
            <p:cNvPr id="12" name="object 12"/>
            <p:cNvSpPr/>
            <p:nvPr/>
          </p:nvSpPr>
          <p:spPr>
            <a:xfrm>
              <a:off x="9142217" y="3371192"/>
              <a:ext cx="8287384" cy="971550"/>
            </a:xfrm>
            <a:custGeom>
              <a:avLst/>
              <a:gdLst/>
              <a:ahLst/>
              <a:cxnLst/>
              <a:rect l="l" t="t" r="r" b="b"/>
              <a:pathLst>
                <a:path w="8287384" h="971550">
                  <a:moveTo>
                    <a:pt x="8286910" y="971359"/>
                  </a:moveTo>
                  <a:lnTo>
                    <a:pt x="0" y="971359"/>
                  </a:lnTo>
                  <a:lnTo>
                    <a:pt x="0" y="0"/>
                  </a:lnTo>
                  <a:lnTo>
                    <a:pt x="8286910" y="0"/>
                  </a:lnTo>
                  <a:lnTo>
                    <a:pt x="8286910" y="9713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381485" y="3542608"/>
              <a:ext cx="352425" cy="400685"/>
            </a:xfrm>
            <a:custGeom>
              <a:avLst/>
              <a:gdLst/>
              <a:ahLst/>
              <a:cxnLst/>
              <a:rect l="l" t="t" r="r" b="b"/>
              <a:pathLst>
                <a:path w="352425" h="400685">
                  <a:moveTo>
                    <a:pt x="302064" y="300103"/>
                  </a:moveTo>
                  <a:lnTo>
                    <a:pt x="151080" y="300103"/>
                  </a:lnTo>
                  <a:lnTo>
                    <a:pt x="131475" y="296173"/>
                  </a:lnTo>
                  <a:lnTo>
                    <a:pt x="115468" y="285455"/>
                  </a:lnTo>
                  <a:lnTo>
                    <a:pt x="104677" y="269556"/>
                  </a:lnTo>
                  <a:lnTo>
                    <a:pt x="100720" y="250085"/>
                  </a:lnTo>
                  <a:lnTo>
                    <a:pt x="100720" y="50017"/>
                  </a:lnTo>
                  <a:lnTo>
                    <a:pt x="104677" y="30546"/>
                  </a:lnTo>
                  <a:lnTo>
                    <a:pt x="115468" y="14647"/>
                  </a:lnTo>
                  <a:lnTo>
                    <a:pt x="131475" y="3929"/>
                  </a:lnTo>
                  <a:lnTo>
                    <a:pt x="151080" y="0"/>
                  </a:lnTo>
                  <a:lnTo>
                    <a:pt x="256692" y="0"/>
                  </a:lnTo>
                  <a:lnTo>
                    <a:pt x="336885" y="57162"/>
                  </a:lnTo>
                  <a:lnTo>
                    <a:pt x="352424" y="93270"/>
                  </a:lnTo>
                  <a:lnTo>
                    <a:pt x="352424" y="250085"/>
                  </a:lnTo>
                  <a:lnTo>
                    <a:pt x="348468" y="269556"/>
                  </a:lnTo>
                  <a:lnTo>
                    <a:pt x="337676" y="285455"/>
                  </a:lnTo>
                  <a:lnTo>
                    <a:pt x="321669" y="296173"/>
                  </a:lnTo>
                  <a:lnTo>
                    <a:pt x="302064" y="300103"/>
                  </a:lnTo>
                  <a:close/>
                </a:path>
                <a:path w="352425" h="400685">
                  <a:moveTo>
                    <a:pt x="201440" y="400137"/>
                  </a:moveTo>
                  <a:lnTo>
                    <a:pt x="50360" y="400137"/>
                  </a:lnTo>
                  <a:lnTo>
                    <a:pt x="30755" y="396207"/>
                  </a:lnTo>
                  <a:lnTo>
                    <a:pt x="14748" y="385489"/>
                  </a:lnTo>
                  <a:lnTo>
                    <a:pt x="3956" y="369591"/>
                  </a:lnTo>
                  <a:lnTo>
                    <a:pt x="0" y="350025"/>
                  </a:lnTo>
                  <a:lnTo>
                    <a:pt x="19" y="149956"/>
                  </a:lnTo>
                  <a:lnTo>
                    <a:pt x="3956" y="130580"/>
                  </a:lnTo>
                  <a:lnTo>
                    <a:pt x="14748" y="114682"/>
                  </a:lnTo>
                  <a:lnTo>
                    <a:pt x="30755" y="103964"/>
                  </a:lnTo>
                  <a:lnTo>
                    <a:pt x="50360" y="100034"/>
                  </a:lnTo>
                  <a:lnTo>
                    <a:pt x="62926" y="100034"/>
                  </a:lnTo>
                  <a:lnTo>
                    <a:pt x="62926" y="149956"/>
                  </a:lnTo>
                  <a:lnTo>
                    <a:pt x="50360" y="149956"/>
                  </a:lnTo>
                  <a:lnTo>
                    <a:pt x="50360" y="350025"/>
                  </a:lnTo>
                  <a:lnTo>
                    <a:pt x="251819" y="350025"/>
                  </a:lnTo>
                  <a:lnTo>
                    <a:pt x="247843" y="369591"/>
                  </a:lnTo>
                  <a:lnTo>
                    <a:pt x="237052" y="385489"/>
                  </a:lnTo>
                  <a:lnTo>
                    <a:pt x="221044" y="396207"/>
                  </a:lnTo>
                  <a:lnTo>
                    <a:pt x="201440" y="400137"/>
                  </a:lnTo>
                  <a:close/>
                </a:path>
                <a:path w="352425" h="400685">
                  <a:moveTo>
                    <a:pt x="251800" y="350025"/>
                  </a:moveTo>
                  <a:lnTo>
                    <a:pt x="201440" y="350025"/>
                  </a:lnTo>
                  <a:lnTo>
                    <a:pt x="201440" y="337544"/>
                  </a:lnTo>
                  <a:lnTo>
                    <a:pt x="251800" y="337544"/>
                  </a:lnTo>
                  <a:lnTo>
                    <a:pt x="251800" y="350025"/>
                  </a:lnTo>
                  <a:close/>
                </a:path>
              </a:pathLst>
            </a:custGeom>
            <a:solidFill>
              <a:srgbClr val="C791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142217" y="3371192"/>
            <a:ext cx="8287384" cy="97155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785495">
              <a:lnSpc>
                <a:spcPct val="100000"/>
              </a:lnSpc>
              <a:spcBef>
                <a:spcPts val="1105"/>
              </a:spcBef>
            </a:pP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Duplicate</a:t>
            </a:r>
            <a:r>
              <a:rPr dirty="0" sz="1800" spc="-1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165" b="1">
                <a:solidFill>
                  <a:srgbClr val="1A1A1A"/>
                </a:solidFill>
                <a:latin typeface="Times New Roman"/>
                <a:cs typeface="Times New Roman"/>
              </a:rPr>
              <a:t>&amp;</a:t>
            </a:r>
            <a:r>
              <a:rPr dirty="0" sz="1800" spc="-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70" b="1">
                <a:solidFill>
                  <a:srgbClr val="1A1A1A"/>
                </a:solidFill>
                <a:latin typeface="Times New Roman"/>
                <a:cs typeface="Times New Roman"/>
              </a:rPr>
              <a:t>Inconsistent</a:t>
            </a:r>
            <a:r>
              <a:rPr dirty="0" sz="1800" spc="-1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1A1A1A"/>
                </a:solidFill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  <a:p>
            <a:pPr marL="785495">
              <a:lnSpc>
                <a:spcPct val="100000"/>
              </a:lnSpc>
              <a:spcBef>
                <a:spcPts val="865"/>
              </a:spcBef>
            </a:pPr>
            <a:r>
              <a:rPr dirty="0" sz="1550" spc="70">
                <a:solidFill>
                  <a:srgbClr val="6A8E7B"/>
                </a:solidFill>
                <a:latin typeface="Times New Roman"/>
                <a:cs typeface="Times New Roman"/>
              </a:rPr>
              <a:t>Multiple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45">
                <a:solidFill>
                  <a:srgbClr val="6A8E7B"/>
                </a:solidFill>
                <a:latin typeface="Times New Roman"/>
                <a:cs typeface="Times New Roman"/>
              </a:rPr>
              <a:t>resume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versions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0">
                <a:solidFill>
                  <a:srgbClr val="6A8E7B"/>
                </a:solidFill>
                <a:latin typeface="Times New Roman"/>
                <a:cs typeface="Times New Roman"/>
              </a:rPr>
              <a:t>across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mailboxes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40">
                <a:solidFill>
                  <a:srgbClr val="6A8E7B"/>
                </a:solidFill>
                <a:latin typeface="Times New Roman"/>
                <a:cs typeface="Times New Roman"/>
              </a:rPr>
              <a:t>and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6A8E7B"/>
                </a:solidFill>
                <a:latin typeface="Times New Roman"/>
                <a:cs typeface="Times New Roman"/>
              </a:rPr>
              <a:t>files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142217" y="4485398"/>
            <a:ext cx="8287384" cy="971550"/>
            <a:chOff x="9142217" y="4485398"/>
            <a:chExt cx="8287384" cy="971550"/>
          </a:xfrm>
        </p:grpSpPr>
        <p:sp>
          <p:nvSpPr>
            <p:cNvPr id="16" name="object 16"/>
            <p:cNvSpPr/>
            <p:nvPr/>
          </p:nvSpPr>
          <p:spPr>
            <a:xfrm>
              <a:off x="9142217" y="4485398"/>
              <a:ext cx="8287384" cy="971550"/>
            </a:xfrm>
            <a:custGeom>
              <a:avLst/>
              <a:gdLst/>
              <a:ahLst/>
              <a:cxnLst/>
              <a:rect l="l" t="t" r="r" b="b"/>
              <a:pathLst>
                <a:path w="8287384" h="971550">
                  <a:moveTo>
                    <a:pt x="8286910" y="971359"/>
                  </a:moveTo>
                  <a:lnTo>
                    <a:pt x="0" y="971359"/>
                  </a:lnTo>
                  <a:lnTo>
                    <a:pt x="0" y="0"/>
                  </a:lnTo>
                  <a:lnTo>
                    <a:pt x="8286910" y="0"/>
                  </a:lnTo>
                  <a:lnTo>
                    <a:pt x="8286910" y="9713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332670" y="4656820"/>
              <a:ext cx="445770" cy="400050"/>
            </a:xfrm>
            <a:custGeom>
              <a:avLst/>
              <a:gdLst/>
              <a:ahLst/>
              <a:cxnLst/>
              <a:rect l="l" t="t" r="r" b="b"/>
              <a:pathLst>
                <a:path w="445770" h="400050">
                  <a:moveTo>
                    <a:pt x="445141" y="400050"/>
                  </a:moveTo>
                  <a:lnTo>
                    <a:pt x="395127" y="400050"/>
                  </a:lnTo>
                  <a:lnTo>
                    <a:pt x="4223" y="7050"/>
                  </a:lnTo>
                  <a:lnTo>
                    <a:pt x="158" y="820"/>
                  </a:lnTo>
                  <a:lnTo>
                    <a:pt x="0" y="0"/>
                  </a:lnTo>
                  <a:lnTo>
                    <a:pt x="50031" y="0"/>
                  </a:lnTo>
                  <a:lnTo>
                    <a:pt x="94060" y="44397"/>
                  </a:lnTo>
                  <a:lnTo>
                    <a:pt x="350401" y="44397"/>
                  </a:lnTo>
                  <a:lnTo>
                    <a:pt x="377835" y="70262"/>
                  </a:lnTo>
                  <a:lnTo>
                    <a:pt x="401308" y="105077"/>
                  </a:lnTo>
                  <a:lnTo>
                    <a:pt x="416252" y="144532"/>
                  </a:lnTo>
                  <a:lnTo>
                    <a:pt x="421460" y="187401"/>
                  </a:lnTo>
                  <a:lnTo>
                    <a:pt x="417631" y="224431"/>
                  </a:lnTo>
                  <a:lnTo>
                    <a:pt x="406593" y="258891"/>
                  </a:lnTo>
                  <a:lnTo>
                    <a:pt x="389089" y="290190"/>
                  </a:lnTo>
                  <a:lnTo>
                    <a:pt x="365845" y="317639"/>
                  </a:lnTo>
                  <a:lnTo>
                    <a:pt x="440898" y="393095"/>
                  </a:lnTo>
                  <a:lnTo>
                    <a:pt x="444989" y="399256"/>
                  </a:lnTo>
                  <a:lnTo>
                    <a:pt x="445105" y="399859"/>
                  </a:lnTo>
                  <a:lnTo>
                    <a:pt x="445141" y="400050"/>
                  </a:lnTo>
                  <a:close/>
                </a:path>
                <a:path w="445770" h="400050">
                  <a:moveTo>
                    <a:pt x="350401" y="44397"/>
                  </a:moveTo>
                  <a:lnTo>
                    <a:pt x="94060" y="44397"/>
                  </a:lnTo>
                  <a:lnTo>
                    <a:pt x="121854" y="25804"/>
                  </a:lnTo>
                  <a:lnTo>
                    <a:pt x="152944" y="11837"/>
                  </a:lnTo>
                  <a:lnTo>
                    <a:pt x="186717" y="3051"/>
                  </a:lnTo>
                  <a:lnTo>
                    <a:pt x="222560" y="0"/>
                  </a:lnTo>
                  <a:lnTo>
                    <a:pt x="268196" y="4956"/>
                  </a:lnTo>
                  <a:lnTo>
                    <a:pt x="310084" y="19072"/>
                  </a:lnTo>
                  <a:lnTo>
                    <a:pt x="347029" y="41217"/>
                  </a:lnTo>
                  <a:lnTo>
                    <a:pt x="350401" y="44397"/>
                  </a:lnTo>
                  <a:close/>
                </a:path>
                <a:path w="445770" h="400050">
                  <a:moveTo>
                    <a:pt x="46061" y="400050"/>
                  </a:moveTo>
                  <a:lnTo>
                    <a:pt x="35001" y="400050"/>
                  </a:lnTo>
                  <a:lnTo>
                    <a:pt x="34074" y="399859"/>
                  </a:lnTo>
                  <a:lnTo>
                    <a:pt x="23270" y="388045"/>
                  </a:lnTo>
                  <a:lnTo>
                    <a:pt x="22133" y="379471"/>
                  </a:lnTo>
                  <a:lnTo>
                    <a:pt x="63735" y="300299"/>
                  </a:lnTo>
                  <a:lnTo>
                    <a:pt x="46837" y="275357"/>
                  </a:lnTo>
                  <a:lnTo>
                    <a:pt x="34239" y="247959"/>
                  </a:lnTo>
                  <a:lnTo>
                    <a:pt x="26368" y="218506"/>
                  </a:lnTo>
                  <a:lnTo>
                    <a:pt x="23664" y="187401"/>
                  </a:lnTo>
                  <a:lnTo>
                    <a:pt x="25114" y="164596"/>
                  </a:lnTo>
                  <a:lnTo>
                    <a:pt x="29395" y="142587"/>
                  </a:lnTo>
                  <a:lnTo>
                    <a:pt x="36323" y="121524"/>
                  </a:lnTo>
                  <a:lnTo>
                    <a:pt x="45685" y="101655"/>
                  </a:lnTo>
                  <a:lnTo>
                    <a:pt x="49132" y="105077"/>
                  </a:lnTo>
                  <a:lnTo>
                    <a:pt x="301500" y="358892"/>
                  </a:lnTo>
                  <a:lnTo>
                    <a:pt x="141726" y="358892"/>
                  </a:lnTo>
                  <a:lnTo>
                    <a:pt x="49710" y="398525"/>
                  </a:lnTo>
                  <a:lnTo>
                    <a:pt x="46061" y="400050"/>
                  </a:lnTo>
                  <a:close/>
                </a:path>
                <a:path w="445770" h="400050">
                  <a:moveTo>
                    <a:pt x="244618" y="373917"/>
                  </a:moveTo>
                  <a:lnTo>
                    <a:pt x="200671" y="373917"/>
                  </a:lnTo>
                  <a:lnTo>
                    <a:pt x="180663" y="370884"/>
                  </a:lnTo>
                  <a:lnTo>
                    <a:pt x="160755" y="365803"/>
                  </a:lnTo>
                  <a:lnTo>
                    <a:pt x="141726" y="358892"/>
                  </a:lnTo>
                  <a:lnTo>
                    <a:pt x="301500" y="358892"/>
                  </a:lnTo>
                  <a:lnTo>
                    <a:pt x="302163" y="359559"/>
                  </a:lnTo>
                  <a:lnTo>
                    <a:pt x="283410" y="366205"/>
                  </a:lnTo>
                  <a:lnTo>
                    <a:pt x="263866" y="371075"/>
                  </a:lnTo>
                  <a:lnTo>
                    <a:pt x="244618" y="373917"/>
                  </a:lnTo>
                  <a:close/>
                </a:path>
                <a:path w="445770" h="400050">
                  <a:moveTo>
                    <a:pt x="222655" y="375088"/>
                  </a:moveTo>
                  <a:lnTo>
                    <a:pt x="199330" y="373917"/>
                  </a:lnTo>
                  <a:lnTo>
                    <a:pt x="246700" y="373917"/>
                  </a:lnTo>
                  <a:lnTo>
                    <a:pt x="222655" y="375088"/>
                  </a:lnTo>
                  <a:close/>
                </a:path>
              </a:pathLst>
            </a:custGeom>
            <a:solidFill>
              <a:srgbClr val="C791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142217" y="4485398"/>
            <a:ext cx="8287384" cy="97155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785495">
              <a:lnSpc>
                <a:spcPct val="100000"/>
              </a:lnSpc>
              <a:spcBef>
                <a:spcPts val="1105"/>
              </a:spcBef>
            </a:pPr>
            <a:r>
              <a:rPr dirty="0" sz="1800" spc="-30" b="1">
                <a:solidFill>
                  <a:srgbClr val="1A1A1A"/>
                </a:solidFill>
                <a:latin typeface="Times New Roman"/>
                <a:cs typeface="Times New Roman"/>
              </a:rPr>
              <a:t>Lack</a:t>
            </a:r>
            <a:r>
              <a:rPr dirty="0" sz="1800" spc="-4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0" b="1">
                <a:solidFill>
                  <a:srgbClr val="1A1A1A"/>
                </a:solidFill>
                <a:latin typeface="Times New Roman"/>
                <a:cs typeface="Times New Roman"/>
              </a:rPr>
              <a:t>of</a:t>
            </a:r>
            <a:r>
              <a:rPr dirty="0" sz="1800" spc="-4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45" b="1">
                <a:solidFill>
                  <a:srgbClr val="1A1A1A"/>
                </a:solidFill>
                <a:latin typeface="Times New Roman"/>
                <a:cs typeface="Times New Roman"/>
              </a:rPr>
              <a:t>Feedback</a:t>
            </a:r>
            <a:r>
              <a:rPr dirty="0" sz="1800" spc="-4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75" b="1">
                <a:solidFill>
                  <a:srgbClr val="1A1A1A"/>
                </a:solidFill>
                <a:latin typeface="Times New Roman"/>
                <a:cs typeface="Times New Roman"/>
              </a:rPr>
              <a:t>Mechanism</a:t>
            </a:r>
            <a:endParaRPr sz="1800">
              <a:latin typeface="Times New Roman"/>
              <a:cs typeface="Times New Roman"/>
            </a:endParaRPr>
          </a:p>
          <a:p>
            <a:pPr marL="785495">
              <a:lnSpc>
                <a:spcPct val="100000"/>
              </a:lnSpc>
              <a:spcBef>
                <a:spcPts val="865"/>
              </a:spcBef>
            </a:pPr>
            <a:r>
              <a:rPr dirty="0" sz="1550" spc="105">
                <a:solidFill>
                  <a:srgbClr val="6A8E7B"/>
                </a:solidFill>
                <a:latin typeface="Times New Roman"/>
                <a:cs typeface="Times New Roman"/>
              </a:rPr>
              <a:t>Students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30">
                <a:solidFill>
                  <a:srgbClr val="6A8E7B"/>
                </a:solidFill>
                <a:latin typeface="Times New Roman"/>
                <a:cs typeface="Times New Roman"/>
              </a:rPr>
              <a:t>unaware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0">
                <a:solidFill>
                  <a:srgbClr val="6A8E7B"/>
                </a:solidFill>
                <a:latin typeface="Times New Roman"/>
                <a:cs typeface="Times New Roman"/>
              </a:rPr>
              <a:t>of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shortlisting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0">
                <a:solidFill>
                  <a:srgbClr val="6A8E7B"/>
                </a:solidFill>
                <a:latin typeface="Times New Roman"/>
                <a:cs typeface="Times New Roman"/>
              </a:rPr>
              <a:t>until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20">
                <a:solidFill>
                  <a:srgbClr val="6A8E7B"/>
                </a:solidFill>
                <a:latin typeface="Times New Roman"/>
                <a:cs typeface="Times New Roman"/>
              </a:rPr>
              <a:t>manual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TPO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contact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142217" y="5599604"/>
            <a:ext cx="8287384" cy="971550"/>
            <a:chOff x="9142217" y="5599604"/>
            <a:chExt cx="8287384" cy="971550"/>
          </a:xfrm>
        </p:grpSpPr>
        <p:sp>
          <p:nvSpPr>
            <p:cNvPr id="20" name="object 20"/>
            <p:cNvSpPr/>
            <p:nvPr/>
          </p:nvSpPr>
          <p:spPr>
            <a:xfrm>
              <a:off x="9142217" y="5599604"/>
              <a:ext cx="8287384" cy="971550"/>
            </a:xfrm>
            <a:custGeom>
              <a:avLst/>
              <a:gdLst/>
              <a:ahLst/>
              <a:cxnLst/>
              <a:rect l="l" t="t" r="r" b="b"/>
              <a:pathLst>
                <a:path w="8287384" h="971550">
                  <a:moveTo>
                    <a:pt x="8286910" y="971359"/>
                  </a:moveTo>
                  <a:lnTo>
                    <a:pt x="0" y="971359"/>
                  </a:lnTo>
                  <a:lnTo>
                    <a:pt x="0" y="0"/>
                  </a:lnTo>
                  <a:lnTo>
                    <a:pt x="8286910" y="0"/>
                  </a:lnTo>
                  <a:lnTo>
                    <a:pt x="8286910" y="9713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394162" y="5777317"/>
              <a:ext cx="327660" cy="393700"/>
            </a:xfrm>
            <a:custGeom>
              <a:avLst/>
              <a:gdLst/>
              <a:ahLst/>
              <a:cxnLst/>
              <a:rect l="l" t="t" r="r" b="b"/>
              <a:pathLst>
                <a:path w="327659" h="393700">
                  <a:moveTo>
                    <a:pt x="163535" y="187493"/>
                  </a:moveTo>
                  <a:lnTo>
                    <a:pt x="126813" y="180119"/>
                  </a:lnTo>
                  <a:lnTo>
                    <a:pt x="96808" y="160019"/>
                  </a:lnTo>
                  <a:lnTo>
                    <a:pt x="76569" y="130218"/>
                  </a:lnTo>
                  <a:lnTo>
                    <a:pt x="69146" y="93746"/>
                  </a:lnTo>
                  <a:lnTo>
                    <a:pt x="76569" y="57274"/>
                  </a:lnTo>
                  <a:lnTo>
                    <a:pt x="96808" y="27473"/>
                  </a:lnTo>
                  <a:lnTo>
                    <a:pt x="126813" y="7373"/>
                  </a:lnTo>
                  <a:lnTo>
                    <a:pt x="163535" y="0"/>
                  </a:lnTo>
                  <a:lnTo>
                    <a:pt x="200257" y="7373"/>
                  </a:lnTo>
                  <a:lnTo>
                    <a:pt x="230262" y="27473"/>
                  </a:lnTo>
                  <a:lnTo>
                    <a:pt x="250501" y="57274"/>
                  </a:lnTo>
                  <a:lnTo>
                    <a:pt x="257924" y="93746"/>
                  </a:lnTo>
                  <a:lnTo>
                    <a:pt x="250501" y="130218"/>
                  </a:lnTo>
                  <a:lnTo>
                    <a:pt x="230262" y="160019"/>
                  </a:lnTo>
                  <a:lnTo>
                    <a:pt x="200257" y="180119"/>
                  </a:lnTo>
                  <a:lnTo>
                    <a:pt x="163535" y="187493"/>
                  </a:lnTo>
                  <a:close/>
                </a:path>
                <a:path w="327659" h="393700">
                  <a:moveTo>
                    <a:pt x="200850" y="368698"/>
                  </a:moveTo>
                  <a:lnTo>
                    <a:pt x="126438" y="368698"/>
                  </a:lnTo>
                  <a:lnTo>
                    <a:pt x="145470" y="298447"/>
                  </a:lnTo>
                  <a:lnTo>
                    <a:pt x="150695" y="278762"/>
                  </a:lnTo>
                  <a:lnTo>
                    <a:pt x="125933" y="248180"/>
                  </a:lnTo>
                  <a:lnTo>
                    <a:pt x="125933" y="237319"/>
                  </a:lnTo>
                  <a:lnTo>
                    <a:pt x="132072" y="231222"/>
                  </a:lnTo>
                  <a:lnTo>
                    <a:pt x="195190" y="231222"/>
                  </a:lnTo>
                  <a:lnTo>
                    <a:pt x="201329" y="237319"/>
                  </a:lnTo>
                  <a:lnTo>
                    <a:pt x="201329" y="248180"/>
                  </a:lnTo>
                  <a:lnTo>
                    <a:pt x="200178" y="251324"/>
                  </a:lnTo>
                  <a:lnTo>
                    <a:pt x="198149" y="253706"/>
                  </a:lnTo>
                  <a:lnTo>
                    <a:pt x="176485" y="278762"/>
                  </a:lnTo>
                  <a:lnTo>
                    <a:pt x="200850" y="368698"/>
                  </a:lnTo>
                  <a:close/>
                </a:path>
                <a:path w="327659" h="393700">
                  <a:moveTo>
                    <a:pt x="305695" y="393563"/>
                  </a:moveTo>
                  <a:lnTo>
                    <a:pt x="21094" y="393563"/>
                  </a:lnTo>
                  <a:lnTo>
                    <a:pt x="12704" y="391875"/>
                  </a:lnTo>
                  <a:lnTo>
                    <a:pt x="13035" y="391875"/>
                  </a:lnTo>
                  <a:lnTo>
                    <a:pt x="6251" y="387276"/>
                  </a:lnTo>
                  <a:lnTo>
                    <a:pt x="1665" y="380461"/>
                  </a:lnTo>
                  <a:lnTo>
                    <a:pt x="0" y="372127"/>
                  </a:lnTo>
                  <a:lnTo>
                    <a:pt x="6178" y="332845"/>
                  </a:lnTo>
                  <a:lnTo>
                    <a:pt x="23413" y="298447"/>
                  </a:lnTo>
                  <a:lnTo>
                    <a:pt x="49835" y="270856"/>
                  </a:lnTo>
                  <a:lnTo>
                    <a:pt x="83597" y="251991"/>
                  </a:lnTo>
                  <a:lnTo>
                    <a:pt x="90216" y="249514"/>
                  </a:lnTo>
                  <a:lnTo>
                    <a:pt x="89798" y="249514"/>
                  </a:lnTo>
                  <a:lnTo>
                    <a:pt x="96964" y="253706"/>
                  </a:lnTo>
                  <a:lnTo>
                    <a:pt x="125909" y="368698"/>
                  </a:lnTo>
                  <a:lnTo>
                    <a:pt x="326739" y="368698"/>
                  </a:lnTo>
                  <a:lnTo>
                    <a:pt x="327277" y="372127"/>
                  </a:lnTo>
                  <a:lnTo>
                    <a:pt x="325578" y="380461"/>
                  </a:lnTo>
                  <a:lnTo>
                    <a:pt x="320946" y="387276"/>
                  </a:lnTo>
                  <a:lnTo>
                    <a:pt x="314085" y="391875"/>
                  </a:lnTo>
                  <a:lnTo>
                    <a:pt x="305695" y="393563"/>
                  </a:lnTo>
                  <a:close/>
                </a:path>
                <a:path w="327659" h="393700">
                  <a:moveTo>
                    <a:pt x="326739" y="368698"/>
                  </a:moveTo>
                  <a:lnTo>
                    <a:pt x="201329" y="368698"/>
                  </a:lnTo>
                  <a:lnTo>
                    <a:pt x="228572" y="260470"/>
                  </a:lnTo>
                  <a:lnTo>
                    <a:pt x="230298" y="253706"/>
                  </a:lnTo>
                  <a:lnTo>
                    <a:pt x="237301" y="249514"/>
                  </a:lnTo>
                  <a:lnTo>
                    <a:pt x="243919" y="251991"/>
                  </a:lnTo>
                  <a:lnTo>
                    <a:pt x="277502" y="270856"/>
                  </a:lnTo>
                  <a:lnTo>
                    <a:pt x="303872" y="298447"/>
                  </a:lnTo>
                  <a:lnTo>
                    <a:pt x="321105" y="332845"/>
                  </a:lnTo>
                  <a:lnTo>
                    <a:pt x="326739" y="368698"/>
                  </a:lnTo>
                  <a:close/>
                </a:path>
              </a:pathLst>
            </a:custGeom>
            <a:solidFill>
              <a:srgbClr val="C791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142217" y="5599604"/>
            <a:ext cx="8287384" cy="97155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785495">
              <a:lnSpc>
                <a:spcPct val="100000"/>
              </a:lnSpc>
              <a:spcBef>
                <a:spcPts val="1105"/>
              </a:spcBef>
            </a:pPr>
            <a:r>
              <a:rPr dirty="0" sz="1800" spc="70" b="1">
                <a:solidFill>
                  <a:srgbClr val="1A1A1A"/>
                </a:solidFill>
                <a:latin typeface="Times New Roman"/>
                <a:cs typeface="Times New Roman"/>
              </a:rPr>
              <a:t>Burdened</a:t>
            </a:r>
            <a:r>
              <a:rPr dirty="0" sz="1800" spc="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1A1A1A"/>
                </a:solidFill>
                <a:latin typeface="Times New Roman"/>
                <a:cs typeface="Times New Roman"/>
              </a:rPr>
              <a:t>TPO</a:t>
            </a:r>
            <a:endParaRPr sz="1800">
              <a:latin typeface="Times New Roman"/>
              <a:cs typeface="Times New Roman"/>
            </a:endParaRPr>
          </a:p>
          <a:p>
            <a:pPr marL="785495">
              <a:lnSpc>
                <a:spcPct val="100000"/>
              </a:lnSpc>
              <a:spcBef>
                <a:spcPts val="865"/>
              </a:spcBef>
            </a:pPr>
            <a:r>
              <a:rPr dirty="0" sz="1550" spc="65">
                <a:solidFill>
                  <a:srgbClr val="6A8E7B"/>
                </a:solidFill>
                <a:latin typeface="Times New Roman"/>
                <a:cs typeface="Times New Roman"/>
              </a:rPr>
              <a:t>Sole </a:t>
            </a:r>
            <a:r>
              <a:rPr dirty="0" sz="1550" spc="80">
                <a:solidFill>
                  <a:srgbClr val="6A8E7B"/>
                </a:solidFill>
                <a:latin typeface="Times New Roman"/>
                <a:cs typeface="Times New Roman"/>
              </a:rPr>
              <a:t>responsibility</a:t>
            </a:r>
            <a:r>
              <a:rPr dirty="0" sz="1550" spc="6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for</a:t>
            </a:r>
            <a:r>
              <a:rPr dirty="0" sz="1550" spc="6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eligibility,</a:t>
            </a:r>
            <a:r>
              <a:rPr dirty="0" sz="1550" spc="7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matching,</a:t>
            </a:r>
            <a:r>
              <a:rPr dirty="0" sz="1550" spc="6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40">
                <a:solidFill>
                  <a:srgbClr val="6A8E7B"/>
                </a:solidFill>
                <a:latin typeface="Times New Roman"/>
                <a:cs typeface="Times New Roman"/>
              </a:rPr>
              <a:t>and</a:t>
            </a:r>
            <a:r>
              <a:rPr dirty="0" sz="1550" spc="6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scheduling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142217" y="6713810"/>
            <a:ext cx="8287384" cy="971550"/>
            <a:chOff x="9142217" y="6713810"/>
            <a:chExt cx="8287384" cy="971550"/>
          </a:xfrm>
        </p:grpSpPr>
        <p:sp>
          <p:nvSpPr>
            <p:cNvPr id="24" name="object 24"/>
            <p:cNvSpPr/>
            <p:nvPr/>
          </p:nvSpPr>
          <p:spPr>
            <a:xfrm>
              <a:off x="9142217" y="6713810"/>
              <a:ext cx="8287384" cy="971550"/>
            </a:xfrm>
            <a:custGeom>
              <a:avLst/>
              <a:gdLst/>
              <a:ahLst/>
              <a:cxnLst/>
              <a:rect l="l" t="t" r="r" b="b"/>
              <a:pathLst>
                <a:path w="8287384" h="971550">
                  <a:moveTo>
                    <a:pt x="8286910" y="971359"/>
                  </a:moveTo>
                  <a:lnTo>
                    <a:pt x="0" y="971359"/>
                  </a:lnTo>
                  <a:lnTo>
                    <a:pt x="0" y="0"/>
                  </a:lnTo>
                  <a:lnTo>
                    <a:pt x="8286910" y="0"/>
                  </a:lnTo>
                  <a:lnTo>
                    <a:pt x="8286910" y="9713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381485" y="6885234"/>
              <a:ext cx="352425" cy="400050"/>
            </a:xfrm>
            <a:custGeom>
              <a:avLst/>
              <a:gdLst/>
              <a:ahLst/>
              <a:cxnLst/>
              <a:rect l="l" t="t" r="r" b="b"/>
              <a:pathLst>
                <a:path w="352425" h="400050">
                  <a:moveTo>
                    <a:pt x="176212" y="162532"/>
                  </a:moveTo>
                  <a:lnTo>
                    <a:pt x="107457" y="157616"/>
                  </a:lnTo>
                  <a:lnTo>
                    <a:pt x="107588" y="157616"/>
                  </a:lnTo>
                  <a:lnTo>
                    <a:pt x="51563" y="144216"/>
                  </a:lnTo>
                  <a:lnTo>
                    <a:pt x="13832" y="124349"/>
                  </a:lnTo>
                  <a:lnTo>
                    <a:pt x="0" y="100034"/>
                  </a:lnTo>
                  <a:lnTo>
                    <a:pt x="0" y="62497"/>
                  </a:lnTo>
                  <a:lnTo>
                    <a:pt x="13841" y="38182"/>
                  </a:lnTo>
                  <a:lnTo>
                    <a:pt x="51595" y="18315"/>
                  </a:lnTo>
                  <a:lnTo>
                    <a:pt x="107604" y="4915"/>
                  </a:lnTo>
                  <a:lnTo>
                    <a:pt x="176212" y="0"/>
                  </a:lnTo>
                  <a:lnTo>
                    <a:pt x="244820" y="4915"/>
                  </a:lnTo>
                  <a:lnTo>
                    <a:pt x="300829" y="18315"/>
                  </a:lnTo>
                  <a:lnTo>
                    <a:pt x="338583" y="38182"/>
                  </a:lnTo>
                  <a:lnTo>
                    <a:pt x="352424" y="62497"/>
                  </a:lnTo>
                  <a:lnTo>
                    <a:pt x="352424" y="100034"/>
                  </a:lnTo>
                  <a:lnTo>
                    <a:pt x="338569" y="124349"/>
                  </a:lnTo>
                  <a:lnTo>
                    <a:pt x="300793" y="144216"/>
                  </a:lnTo>
                  <a:lnTo>
                    <a:pt x="244780" y="157616"/>
                  </a:lnTo>
                  <a:lnTo>
                    <a:pt x="176212" y="162532"/>
                  </a:lnTo>
                  <a:close/>
                </a:path>
                <a:path w="352425" h="400050">
                  <a:moveTo>
                    <a:pt x="176212" y="287527"/>
                  </a:moveTo>
                  <a:lnTo>
                    <a:pt x="107457" y="282612"/>
                  </a:lnTo>
                  <a:lnTo>
                    <a:pt x="107588" y="282612"/>
                  </a:lnTo>
                  <a:lnTo>
                    <a:pt x="51563" y="269211"/>
                  </a:lnTo>
                  <a:lnTo>
                    <a:pt x="13832" y="249344"/>
                  </a:lnTo>
                  <a:lnTo>
                    <a:pt x="0" y="225029"/>
                  </a:lnTo>
                  <a:lnTo>
                    <a:pt x="0" y="160817"/>
                  </a:lnTo>
                  <a:lnTo>
                    <a:pt x="9039" y="166268"/>
                  </a:lnTo>
                  <a:lnTo>
                    <a:pt x="18645" y="171201"/>
                  </a:lnTo>
                  <a:lnTo>
                    <a:pt x="68689" y="188292"/>
                  </a:lnTo>
                  <a:lnTo>
                    <a:pt x="138105" y="198703"/>
                  </a:lnTo>
                  <a:lnTo>
                    <a:pt x="176212" y="200068"/>
                  </a:lnTo>
                  <a:lnTo>
                    <a:pt x="352424" y="200068"/>
                  </a:lnTo>
                  <a:lnTo>
                    <a:pt x="352424" y="225029"/>
                  </a:lnTo>
                  <a:lnTo>
                    <a:pt x="338569" y="249344"/>
                  </a:lnTo>
                  <a:lnTo>
                    <a:pt x="300793" y="269211"/>
                  </a:lnTo>
                  <a:lnTo>
                    <a:pt x="244780" y="282612"/>
                  </a:lnTo>
                  <a:lnTo>
                    <a:pt x="176212" y="287527"/>
                  </a:lnTo>
                  <a:close/>
                </a:path>
                <a:path w="352425" h="400050">
                  <a:moveTo>
                    <a:pt x="352424" y="200068"/>
                  </a:moveTo>
                  <a:lnTo>
                    <a:pt x="176212" y="200068"/>
                  </a:lnTo>
                  <a:lnTo>
                    <a:pt x="214319" y="198703"/>
                  </a:lnTo>
                  <a:lnTo>
                    <a:pt x="250421" y="194721"/>
                  </a:lnTo>
                  <a:lnTo>
                    <a:pt x="313479" y="179585"/>
                  </a:lnTo>
                  <a:lnTo>
                    <a:pt x="352424" y="160817"/>
                  </a:lnTo>
                  <a:lnTo>
                    <a:pt x="352424" y="200068"/>
                  </a:lnTo>
                  <a:close/>
                </a:path>
                <a:path w="352425" h="400050">
                  <a:moveTo>
                    <a:pt x="176212" y="400042"/>
                  </a:moveTo>
                  <a:lnTo>
                    <a:pt x="107457" y="395126"/>
                  </a:lnTo>
                  <a:lnTo>
                    <a:pt x="107588" y="395126"/>
                  </a:lnTo>
                  <a:lnTo>
                    <a:pt x="51563" y="381726"/>
                  </a:lnTo>
                  <a:lnTo>
                    <a:pt x="13832" y="361859"/>
                  </a:lnTo>
                  <a:lnTo>
                    <a:pt x="0" y="337544"/>
                  </a:lnTo>
                  <a:lnTo>
                    <a:pt x="0" y="285812"/>
                  </a:lnTo>
                  <a:lnTo>
                    <a:pt x="9039" y="291263"/>
                  </a:lnTo>
                  <a:lnTo>
                    <a:pt x="18645" y="296197"/>
                  </a:lnTo>
                  <a:lnTo>
                    <a:pt x="68689" y="313287"/>
                  </a:lnTo>
                  <a:lnTo>
                    <a:pt x="138105" y="323699"/>
                  </a:lnTo>
                  <a:lnTo>
                    <a:pt x="176212" y="325064"/>
                  </a:lnTo>
                  <a:lnTo>
                    <a:pt x="352424" y="325064"/>
                  </a:lnTo>
                  <a:lnTo>
                    <a:pt x="352424" y="337544"/>
                  </a:lnTo>
                  <a:lnTo>
                    <a:pt x="338569" y="361859"/>
                  </a:lnTo>
                  <a:lnTo>
                    <a:pt x="300793" y="381726"/>
                  </a:lnTo>
                  <a:lnTo>
                    <a:pt x="244780" y="395126"/>
                  </a:lnTo>
                  <a:lnTo>
                    <a:pt x="176212" y="400042"/>
                  </a:lnTo>
                  <a:close/>
                </a:path>
                <a:path w="352425" h="400050">
                  <a:moveTo>
                    <a:pt x="352424" y="325064"/>
                  </a:moveTo>
                  <a:lnTo>
                    <a:pt x="176212" y="325064"/>
                  </a:lnTo>
                  <a:lnTo>
                    <a:pt x="214319" y="323699"/>
                  </a:lnTo>
                  <a:lnTo>
                    <a:pt x="250421" y="319717"/>
                  </a:lnTo>
                  <a:lnTo>
                    <a:pt x="313479" y="304580"/>
                  </a:lnTo>
                  <a:lnTo>
                    <a:pt x="352424" y="285812"/>
                  </a:lnTo>
                  <a:lnTo>
                    <a:pt x="352424" y="325064"/>
                  </a:lnTo>
                  <a:close/>
                </a:path>
              </a:pathLst>
            </a:custGeom>
            <a:solidFill>
              <a:srgbClr val="C791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142217" y="6713810"/>
            <a:ext cx="8287384" cy="97155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785495">
              <a:lnSpc>
                <a:spcPct val="100000"/>
              </a:lnSpc>
              <a:spcBef>
                <a:spcPts val="1105"/>
              </a:spcBef>
            </a:pPr>
            <a:r>
              <a:rPr dirty="0" sz="1800" spc="-30" b="1">
                <a:solidFill>
                  <a:srgbClr val="1A1A1A"/>
                </a:solidFill>
                <a:latin typeface="Times New Roman"/>
                <a:cs typeface="Times New Roman"/>
              </a:rPr>
              <a:t>Lack</a:t>
            </a:r>
            <a:r>
              <a:rPr dirty="0" sz="1800" spc="-3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0" b="1">
                <a:solidFill>
                  <a:srgbClr val="1A1A1A"/>
                </a:solidFill>
                <a:latin typeface="Times New Roman"/>
                <a:cs typeface="Times New Roman"/>
              </a:rPr>
              <a:t>of</a:t>
            </a:r>
            <a:r>
              <a:rPr dirty="0" sz="1800" spc="-3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0" b="1">
                <a:solidFill>
                  <a:srgbClr val="1A1A1A"/>
                </a:solidFill>
                <a:latin typeface="Times New Roman"/>
                <a:cs typeface="Times New Roman"/>
              </a:rPr>
              <a:t>Repository</a:t>
            </a:r>
            <a:r>
              <a:rPr dirty="0" sz="1800" spc="-3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70" b="1">
                <a:solidFill>
                  <a:srgbClr val="1A1A1A"/>
                </a:solidFill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  <a:p>
            <a:pPr marL="785495">
              <a:lnSpc>
                <a:spcPct val="100000"/>
              </a:lnSpc>
              <a:spcBef>
                <a:spcPts val="865"/>
              </a:spcBef>
            </a:pPr>
            <a:r>
              <a:rPr dirty="0" sz="1550" spc="110">
                <a:solidFill>
                  <a:srgbClr val="6A8E7B"/>
                </a:solidFill>
                <a:latin typeface="Times New Roman"/>
                <a:cs typeface="Times New Roman"/>
              </a:rPr>
              <a:t>Companies</a:t>
            </a:r>
            <a:r>
              <a:rPr dirty="0" sz="1550" spc="-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0">
                <a:solidFill>
                  <a:srgbClr val="6A8E7B"/>
                </a:solidFill>
                <a:latin typeface="Times New Roman"/>
                <a:cs typeface="Times New Roman"/>
              </a:rPr>
              <a:t>rely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55">
                <a:solidFill>
                  <a:srgbClr val="6A8E7B"/>
                </a:solidFill>
                <a:latin typeface="Times New Roman"/>
                <a:cs typeface="Times New Roman"/>
              </a:rPr>
              <a:t>on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individual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10">
                <a:solidFill>
                  <a:srgbClr val="6A8E7B"/>
                </a:solidFill>
                <a:latin typeface="Times New Roman"/>
                <a:cs typeface="Times New Roman"/>
              </a:rPr>
              <a:t>resumes,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55">
                <a:solidFill>
                  <a:srgbClr val="6A8E7B"/>
                </a:solidFill>
                <a:latin typeface="Times New Roman"/>
                <a:cs typeface="Times New Roman"/>
              </a:rPr>
              <a:t>no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20">
                <a:solidFill>
                  <a:srgbClr val="6A8E7B"/>
                </a:solidFill>
                <a:latin typeface="Times New Roman"/>
                <a:cs typeface="Times New Roman"/>
              </a:rPr>
              <a:t>structured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0">
                <a:solidFill>
                  <a:srgbClr val="6A8E7B"/>
                </a:solidFill>
                <a:latin typeface="Times New Roman"/>
                <a:cs typeface="Times New Roman"/>
              </a:rPr>
              <a:t>profiles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7078" y="8213711"/>
            <a:ext cx="16569690" cy="714375"/>
          </a:xfrm>
          <a:prstGeom prst="rect">
            <a:avLst/>
          </a:prstGeom>
          <a:solidFill>
            <a:srgbClr val="1B4D4D"/>
          </a:solidFill>
        </p:spPr>
        <p:txBody>
          <a:bodyPr wrap="square" lIns="0" tIns="180975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1425"/>
              </a:spcBef>
            </a:pPr>
            <a:r>
              <a:rPr dirty="0" sz="1800" spc="55" b="1">
                <a:solidFill>
                  <a:srgbClr val="FFFFFF"/>
                </a:solidFill>
                <a:latin typeface="Times New Roman"/>
                <a:cs typeface="Times New Roman"/>
              </a:rPr>
              <a:t>Need:</a:t>
            </a: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90">
                <a:solidFill>
                  <a:srgbClr val="FFFFFF"/>
                </a:solidFill>
                <a:latin typeface="Times New Roman"/>
                <a:cs typeface="Times New Roman"/>
              </a:rPr>
              <a:t>systematic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25">
                <a:solidFill>
                  <a:srgbClr val="FFFFFF"/>
                </a:solidFill>
                <a:latin typeface="Times New Roman"/>
                <a:cs typeface="Times New Roman"/>
              </a:rPr>
              <a:t>Internet-based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95">
                <a:solidFill>
                  <a:srgbClr val="FFFFFF"/>
                </a:solidFill>
                <a:latin typeface="Times New Roman"/>
                <a:cs typeface="Times New Roman"/>
              </a:rPr>
              <a:t>solution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1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05">
                <a:solidFill>
                  <a:srgbClr val="FFFFFF"/>
                </a:solidFill>
                <a:latin typeface="Times New Roman"/>
                <a:cs typeface="Times New Roman"/>
              </a:rPr>
              <a:t>streamline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3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10">
                <a:solidFill>
                  <a:srgbClr val="FFFFFF"/>
                </a:solidFill>
                <a:latin typeface="Times New Roman"/>
                <a:cs typeface="Times New Roman"/>
              </a:rPr>
              <a:t>entire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40">
                <a:solidFill>
                  <a:srgbClr val="FFFFFF"/>
                </a:solidFill>
                <a:latin typeface="Times New Roman"/>
                <a:cs typeface="Times New Roman"/>
              </a:rPr>
              <a:t>campus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25">
                <a:solidFill>
                  <a:srgbClr val="FFFFFF"/>
                </a:solidFill>
                <a:latin typeface="Times New Roman"/>
                <a:cs typeface="Times New Roman"/>
              </a:rPr>
              <a:t>placement</a:t>
            </a:r>
            <a:r>
              <a:rPr dirty="0" sz="1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1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57078" y="9713603"/>
            <a:ext cx="16570325" cy="14604"/>
          </a:xfrm>
          <a:custGeom>
            <a:avLst/>
            <a:gdLst/>
            <a:ahLst/>
            <a:cxnLst/>
            <a:rect l="l" t="t" r="r" b="b"/>
            <a:pathLst>
              <a:path w="16570325" h="14604">
                <a:moveTo>
                  <a:pt x="16570262" y="14287"/>
                </a:moveTo>
                <a:lnTo>
                  <a:pt x="0" y="14287"/>
                </a:lnTo>
                <a:lnTo>
                  <a:pt x="0" y="0"/>
                </a:lnTo>
                <a:lnTo>
                  <a:pt x="16570262" y="0"/>
                </a:lnTo>
                <a:lnTo>
                  <a:pt x="16570262" y="14287"/>
                </a:lnTo>
                <a:close/>
              </a:path>
            </a:pathLst>
          </a:custGeom>
          <a:solidFill>
            <a:srgbClr val="E9E9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7497770" y="9879416"/>
            <a:ext cx="227965" cy="215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z="1350" spc="90">
                <a:solidFill>
                  <a:srgbClr val="6A8E7B"/>
                </a:solidFill>
                <a:latin typeface="Times New Roman"/>
                <a:cs typeface="Times New Roman"/>
              </a:rPr>
              <a:t>02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338" y="187391"/>
            <a:ext cx="734250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8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-90" b="1">
                <a:solidFill>
                  <a:srgbClr val="C7913A"/>
                </a:solidFill>
                <a:latin typeface="Times New Roman"/>
                <a:cs typeface="Times New Roman"/>
              </a:rPr>
              <a:t>OBJECTIVES</a:t>
            </a:r>
            <a:r>
              <a:rPr dirty="0" sz="1350" spc="15" b="1">
                <a:solidFill>
                  <a:srgbClr val="C7913A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65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Times New Roman"/>
                <a:cs typeface="Times New Roman"/>
              </a:rPr>
              <a:t>Design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85">
                <a:solidFill>
                  <a:srgbClr val="FFFFFF"/>
                </a:solidFill>
                <a:latin typeface="Times New Roman"/>
                <a:cs typeface="Times New Roman"/>
              </a:rPr>
              <a:t>Implementation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75">
                <a:solidFill>
                  <a:srgbClr val="FFFFFF"/>
                </a:solidFill>
                <a:latin typeface="Times New Roman"/>
                <a:cs typeface="Times New Roman"/>
              </a:rPr>
              <a:t>Workflow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45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5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0"/>
              <a:t>Objectives</a:t>
            </a:r>
            <a:r>
              <a:rPr dirty="0" spc="-35"/>
              <a:t> </a:t>
            </a:r>
            <a:r>
              <a:rPr dirty="0" spc="-330"/>
              <a:t>&amp;</a:t>
            </a:r>
            <a:r>
              <a:rPr dirty="0" spc="-30"/>
              <a:t> </a:t>
            </a:r>
            <a:r>
              <a:rPr dirty="0" spc="145"/>
              <a:t>Scope</a:t>
            </a:r>
          </a:p>
        </p:txBody>
      </p:sp>
      <p:sp>
        <p:nvSpPr>
          <p:cNvPr id="4" name="object 4"/>
          <p:cNvSpPr/>
          <p:nvPr/>
        </p:nvSpPr>
        <p:spPr>
          <a:xfrm>
            <a:off x="857078" y="1399898"/>
            <a:ext cx="857250" cy="43180"/>
          </a:xfrm>
          <a:custGeom>
            <a:avLst/>
            <a:gdLst/>
            <a:ahLst/>
            <a:cxnLst/>
            <a:rect l="l" t="t" r="r" b="b"/>
            <a:pathLst>
              <a:path w="857250" h="43180">
                <a:moveTo>
                  <a:pt x="857059" y="42852"/>
                </a:moveTo>
                <a:lnTo>
                  <a:pt x="0" y="42852"/>
                </a:lnTo>
                <a:lnTo>
                  <a:pt x="0" y="0"/>
                </a:lnTo>
                <a:lnTo>
                  <a:pt x="857059" y="0"/>
                </a:lnTo>
                <a:lnTo>
                  <a:pt x="857059" y="42852"/>
                </a:lnTo>
                <a:close/>
              </a:path>
            </a:pathLst>
          </a:custGeom>
          <a:solidFill>
            <a:srgbClr val="C791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44378" y="1663461"/>
            <a:ext cx="2919095" cy="4025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75" b="1">
                <a:solidFill>
                  <a:srgbClr val="6A8E7B"/>
                </a:solidFill>
                <a:latin typeface="Times New Roman"/>
                <a:cs typeface="Times New Roman"/>
              </a:rPr>
              <a:t>Research</a:t>
            </a:r>
            <a:r>
              <a:rPr dirty="0" sz="2450" spc="-10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60" b="1">
                <a:solidFill>
                  <a:srgbClr val="6A8E7B"/>
                </a:solidFill>
                <a:latin typeface="Times New Roman"/>
                <a:cs typeface="Times New Roman"/>
              </a:rPr>
              <a:t>Objectives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9925" y="2324798"/>
            <a:ext cx="428625" cy="311150"/>
          </a:xfrm>
          <a:custGeom>
            <a:avLst/>
            <a:gdLst/>
            <a:ahLst/>
            <a:cxnLst/>
            <a:rect l="l" t="t" r="r" b="b"/>
            <a:pathLst>
              <a:path w="428625" h="311150">
                <a:moveTo>
                  <a:pt x="214353" y="139294"/>
                </a:moveTo>
                <a:lnTo>
                  <a:pt x="187274" y="133811"/>
                </a:lnTo>
                <a:lnTo>
                  <a:pt x="165135" y="118869"/>
                </a:lnTo>
                <a:lnTo>
                  <a:pt x="150194" y="96727"/>
                </a:lnTo>
                <a:lnTo>
                  <a:pt x="144712" y="69647"/>
                </a:lnTo>
                <a:lnTo>
                  <a:pt x="150194" y="42566"/>
                </a:lnTo>
                <a:lnTo>
                  <a:pt x="165135" y="20424"/>
                </a:lnTo>
                <a:lnTo>
                  <a:pt x="187274" y="5482"/>
                </a:lnTo>
                <a:lnTo>
                  <a:pt x="214353" y="0"/>
                </a:lnTo>
                <a:lnTo>
                  <a:pt x="241472" y="5482"/>
                </a:lnTo>
                <a:lnTo>
                  <a:pt x="263607" y="20424"/>
                </a:lnTo>
                <a:lnTo>
                  <a:pt x="278525" y="42566"/>
                </a:lnTo>
                <a:lnTo>
                  <a:pt x="283994" y="69647"/>
                </a:lnTo>
                <a:lnTo>
                  <a:pt x="278512" y="96727"/>
                </a:lnTo>
                <a:lnTo>
                  <a:pt x="263571" y="118869"/>
                </a:lnTo>
                <a:lnTo>
                  <a:pt x="241431" y="133811"/>
                </a:lnTo>
                <a:lnTo>
                  <a:pt x="214353" y="139294"/>
                </a:lnTo>
                <a:close/>
              </a:path>
              <a:path w="428625" h="311150">
                <a:moveTo>
                  <a:pt x="64306" y="144724"/>
                </a:moveTo>
                <a:lnTo>
                  <a:pt x="45560" y="140930"/>
                </a:lnTo>
                <a:lnTo>
                  <a:pt x="30235" y="130588"/>
                </a:lnTo>
                <a:lnTo>
                  <a:pt x="19894" y="115262"/>
                </a:lnTo>
                <a:lnTo>
                  <a:pt x="16100" y="96515"/>
                </a:lnTo>
                <a:lnTo>
                  <a:pt x="19894" y="77767"/>
                </a:lnTo>
                <a:lnTo>
                  <a:pt x="30235" y="62441"/>
                </a:lnTo>
                <a:lnTo>
                  <a:pt x="45560" y="52099"/>
                </a:lnTo>
                <a:lnTo>
                  <a:pt x="64306" y="48305"/>
                </a:lnTo>
                <a:lnTo>
                  <a:pt x="83051" y="52099"/>
                </a:lnTo>
                <a:lnTo>
                  <a:pt x="98376" y="62441"/>
                </a:lnTo>
                <a:lnTo>
                  <a:pt x="108717" y="77767"/>
                </a:lnTo>
                <a:lnTo>
                  <a:pt x="112511" y="96515"/>
                </a:lnTo>
                <a:lnTo>
                  <a:pt x="108717" y="115262"/>
                </a:lnTo>
                <a:lnTo>
                  <a:pt x="98376" y="130588"/>
                </a:lnTo>
                <a:lnTo>
                  <a:pt x="83051" y="140930"/>
                </a:lnTo>
                <a:lnTo>
                  <a:pt x="64306" y="144724"/>
                </a:lnTo>
                <a:close/>
              </a:path>
              <a:path w="428625" h="311150">
                <a:moveTo>
                  <a:pt x="300565" y="310696"/>
                </a:moveTo>
                <a:lnTo>
                  <a:pt x="128141" y="310696"/>
                </a:lnTo>
                <a:lnTo>
                  <a:pt x="120239" y="309076"/>
                </a:lnTo>
                <a:lnTo>
                  <a:pt x="113464" y="304503"/>
                </a:lnTo>
                <a:lnTo>
                  <a:pt x="108864" y="297688"/>
                </a:lnTo>
                <a:lnTo>
                  <a:pt x="107176" y="289354"/>
                </a:lnTo>
                <a:lnTo>
                  <a:pt x="107195" y="278588"/>
                </a:lnTo>
                <a:lnTo>
                  <a:pt x="115617" y="236934"/>
                </a:lnTo>
                <a:lnTo>
                  <a:pt x="138596" y="202867"/>
                </a:lnTo>
                <a:lnTo>
                  <a:pt x="172674" y="179911"/>
                </a:lnTo>
                <a:lnTo>
                  <a:pt x="214353" y="171497"/>
                </a:lnTo>
                <a:lnTo>
                  <a:pt x="256098" y="179911"/>
                </a:lnTo>
                <a:lnTo>
                  <a:pt x="290163" y="202867"/>
                </a:lnTo>
                <a:lnTo>
                  <a:pt x="313116" y="236934"/>
                </a:lnTo>
                <a:lnTo>
                  <a:pt x="321510" y="278588"/>
                </a:lnTo>
                <a:lnTo>
                  <a:pt x="321530" y="289354"/>
                </a:lnTo>
                <a:lnTo>
                  <a:pt x="319842" y="297688"/>
                </a:lnTo>
                <a:lnTo>
                  <a:pt x="315242" y="304503"/>
                </a:lnTo>
                <a:lnTo>
                  <a:pt x="308467" y="309076"/>
                </a:lnTo>
                <a:lnTo>
                  <a:pt x="300565" y="310696"/>
                </a:lnTo>
                <a:close/>
              </a:path>
              <a:path w="428625" h="311150">
                <a:moveTo>
                  <a:pt x="79453" y="310696"/>
                </a:moveTo>
                <a:lnTo>
                  <a:pt x="21435" y="310696"/>
                </a:lnTo>
                <a:lnTo>
                  <a:pt x="13102" y="309076"/>
                </a:lnTo>
                <a:lnTo>
                  <a:pt x="6271" y="304503"/>
                </a:lnTo>
                <a:lnTo>
                  <a:pt x="1680" y="297688"/>
                </a:lnTo>
                <a:lnTo>
                  <a:pt x="0" y="289354"/>
                </a:lnTo>
                <a:lnTo>
                  <a:pt x="0" y="267917"/>
                </a:lnTo>
                <a:lnTo>
                  <a:pt x="6738" y="234542"/>
                </a:lnTo>
                <a:lnTo>
                  <a:pt x="25115" y="207285"/>
                </a:lnTo>
                <a:lnTo>
                  <a:pt x="52369" y="188907"/>
                </a:lnTo>
                <a:lnTo>
                  <a:pt x="85741" y="182168"/>
                </a:lnTo>
                <a:lnTo>
                  <a:pt x="94315" y="182168"/>
                </a:lnTo>
                <a:lnTo>
                  <a:pt x="102603" y="183407"/>
                </a:lnTo>
                <a:lnTo>
                  <a:pt x="110415" y="185789"/>
                </a:lnTo>
                <a:lnTo>
                  <a:pt x="95594" y="205688"/>
                </a:lnTo>
                <a:lnTo>
                  <a:pt x="84443" y="228079"/>
                </a:lnTo>
                <a:lnTo>
                  <a:pt x="77418" y="252525"/>
                </a:lnTo>
                <a:lnTo>
                  <a:pt x="74976" y="278588"/>
                </a:lnTo>
                <a:lnTo>
                  <a:pt x="74976" y="296881"/>
                </a:lnTo>
                <a:lnTo>
                  <a:pt x="76595" y="304122"/>
                </a:lnTo>
                <a:lnTo>
                  <a:pt x="79453" y="310696"/>
                </a:lnTo>
                <a:close/>
              </a:path>
              <a:path w="428625" h="311150">
                <a:moveTo>
                  <a:pt x="408116" y="310696"/>
                </a:moveTo>
                <a:lnTo>
                  <a:pt x="349199" y="310696"/>
                </a:lnTo>
                <a:lnTo>
                  <a:pt x="351891" y="304503"/>
                </a:lnTo>
                <a:lnTo>
                  <a:pt x="352037" y="304122"/>
                </a:lnTo>
                <a:lnTo>
                  <a:pt x="353476" y="297688"/>
                </a:lnTo>
                <a:lnTo>
                  <a:pt x="353635" y="296881"/>
                </a:lnTo>
                <a:lnTo>
                  <a:pt x="353626" y="278588"/>
                </a:lnTo>
                <a:lnTo>
                  <a:pt x="351169" y="252525"/>
                </a:lnTo>
                <a:lnTo>
                  <a:pt x="344138" y="228079"/>
                </a:lnTo>
                <a:lnTo>
                  <a:pt x="332976" y="205688"/>
                </a:lnTo>
                <a:lnTo>
                  <a:pt x="318124" y="185789"/>
                </a:lnTo>
                <a:lnTo>
                  <a:pt x="318508" y="185789"/>
                </a:lnTo>
                <a:lnTo>
                  <a:pt x="326320" y="183407"/>
                </a:lnTo>
                <a:lnTo>
                  <a:pt x="326645" y="183407"/>
                </a:lnTo>
                <a:lnTo>
                  <a:pt x="334933" y="182168"/>
                </a:lnTo>
                <a:lnTo>
                  <a:pt x="342398" y="182168"/>
                </a:lnTo>
                <a:lnTo>
                  <a:pt x="375770" y="188907"/>
                </a:lnTo>
                <a:lnTo>
                  <a:pt x="376101" y="188907"/>
                </a:lnTo>
                <a:lnTo>
                  <a:pt x="421808" y="234542"/>
                </a:lnTo>
                <a:lnTo>
                  <a:pt x="428611" y="289354"/>
                </a:lnTo>
                <a:lnTo>
                  <a:pt x="426942" y="297688"/>
                </a:lnTo>
                <a:lnTo>
                  <a:pt x="422388" y="304503"/>
                </a:lnTo>
                <a:lnTo>
                  <a:pt x="415690" y="309076"/>
                </a:lnTo>
                <a:lnTo>
                  <a:pt x="416111" y="309076"/>
                </a:lnTo>
                <a:lnTo>
                  <a:pt x="408116" y="310696"/>
                </a:lnTo>
                <a:close/>
              </a:path>
              <a:path w="428625" h="311150">
                <a:moveTo>
                  <a:pt x="364305" y="144629"/>
                </a:moveTo>
                <a:lnTo>
                  <a:pt x="345560" y="140834"/>
                </a:lnTo>
                <a:lnTo>
                  <a:pt x="330235" y="130493"/>
                </a:lnTo>
                <a:lnTo>
                  <a:pt x="319894" y="115166"/>
                </a:lnTo>
                <a:lnTo>
                  <a:pt x="316099" y="96419"/>
                </a:lnTo>
                <a:lnTo>
                  <a:pt x="319894" y="77672"/>
                </a:lnTo>
                <a:lnTo>
                  <a:pt x="330235" y="62346"/>
                </a:lnTo>
                <a:lnTo>
                  <a:pt x="345560" y="52004"/>
                </a:lnTo>
                <a:lnTo>
                  <a:pt x="364305" y="48209"/>
                </a:lnTo>
                <a:lnTo>
                  <a:pt x="383051" y="52004"/>
                </a:lnTo>
                <a:lnTo>
                  <a:pt x="398375" y="62346"/>
                </a:lnTo>
                <a:lnTo>
                  <a:pt x="408716" y="77672"/>
                </a:lnTo>
                <a:lnTo>
                  <a:pt x="412511" y="96419"/>
                </a:lnTo>
                <a:lnTo>
                  <a:pt x="408716" y="115166"/>
                </a:lnTo>
                <a:lnTo>
                  <a:pt x="398375" y="130493"/>
                </a:lnTo>
                <a:lnTo>
                  <a:pt x="383051" y="140834"/>
                </a:lnTo>
                <a:lnTo>
                  <a:pt x="364305" y="144629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42780" y="331405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095" y="342787"/>
                </a:moveTo>
                <a:lnTo>
                  <a:pt x="125875" y="336774"/>
                </a:lnTo>
                <a:lnTo>
                  <a:pt x="84920" y="319489"/>
                </a:lnTo>
                <a:lnTo>
                  <a:pt x="50220" y="292679"/>
                </a:lnTo>
                <a:lnTo>
                  <a:pt x="23410" y="257979"/>
                </a:lnTo>
                <a:lnTo>
                  <a:pt x="6125" y="217024"/>
                </a:lnTo>
                <a:lnTo>
                  <a:pt x="0" y="171450"/>
                </a:lnTo>
                <a:lnTo>
                  <a:pt x="6131" y="125875"/>
                </a:lnTo>
                <a:lnTo>
                  <a:pt x="23431" y="84920"/>
                </a:lnTo>
                <a:lnTo>
                  <a:pt x="50256" y="50220"/>
                </a:lnTo>
                <a:lnTo>
                  <a:pt x="84963" y="23410"/>
                </a:lnTo>
                <a:lnTo>
                  <a:pt x="125908" y="6125"/>
                </a:lnTo>
                <a:lnTo>
                  <a:pt x="171450" y="0"/>
                </a:lnTo>
                <a:lnTo>
                  <a:pt x="217008" y="6125"/>
                </a:lnTo>
                <a:lnTo>
                  <a:pt x="257969" y="23410"/>
                </a:lnTo>
                <a:lnTo>
                  <a:pt x="292680" y="50220"/>
                </a:lnTo>
                <a:lnTo>
                  <a:pt x="319498" y="84920"/>
                </a:lnTo>
                <a:lnTo>
                  <a:pt x="333527" y="118117"/>
                </a:lnTo>
                <a:lnTo>
                  <a:pt x="216954" y="118117"/>
                </a:lnTo>
                <a:lnTo>
                  <a:pt x="210776" y="118312"/>
                </a:lnTo>
                <a:lnTo>
                  <a:pt x="205152" y="120811"/>
                </a:lnTo>
                <a:lnTo>
                  <a:pt x="200787" y="125444"/>
                </a:lnTo>
                <a:lnTo>
                  <a:pt x="178642" y="160865"/>
                </a:lnTo>
                <a:lnTo>
                  <a:pt x="130980" y="160865"/>
                </a:lnTo>
                <a:lnTo>
                  <a:pt x="124838" y="161176"/>
                </a:lnTo>
                <a:lnTo>
                  <a:pt x="119062" y="163925"/>
                </a:lnTo>
                <a:lnTo>
                  <a:pt x="114792" y="168683"/>
                </a:lnTo>
                <a:lnTo>
                  <a:pt x="112764" y="174486"/>
                </a:lnTo>
                <a:lnTo>
                  <a:pt x="113075" y="180628"/>
                </a:lnTo>
                <a:lnTo>
                  <a:pt x="115824" y="186404"/>
                </a:lnTo>
                <a:lnTo>
                  <a:pt x="147923" y="229266"/>
                </a:lnTo>
                <a:lnTo>
                  <a:pt x="151066" y="233553"/>
                </a:lnTo>
                <a:lnTo>
                  <a:pt x="156114" y="235839"/>
                </a:lnTo>
                <a:lnTo>
                  <a:pt x="328780" y="235839"/>
                </a:lnTo>
                <a:lnTo>
                  <a:pt x="319394" y="257979"/>
                </a:lnTo>
                <a:lnTo>
                  <a:pt x="292520" y="292679"/>
                </a:lnTo>
                <a:lnTo>
                  <a:pt x="257711" y="319489"/>
                </a:lnTo>
                <a:lnTo>
                  <a:pt x="216765" y="336774"/>
                </a:lnTo>
                <a:lnTo>
                  <a:pt x="216283" y="336774"/>
                </a:lnTo>
                <a:lnTo>
                  <a:pt x="171095" y="342787"/>
                </a:lnTo>
                <a:close/>
              </a:path>
              <a:path w="342900" h="342900">
                <a:moveTo>
                  <a:pt x="339003" y="142398"/>
                </a:moveTo>
                <a:lnTo>
                  <a:pt x="228101" y="142398"/>
                </a:lnTo>
                <a:lnTo>
                  <a:pt x="230320" y="136576"/>
                </a:lnTo>
                <a:lnTo>
                  <a:pt x="230147" y="130421"/>
                </a:lnTo>
                <a:lnTo>
                  <a:pt x="227653" y="124801"/>
                </a:lnTo>
                <a:lnTo>
                  <a:pt x="222980" y="120396"/>
                </a:lnTo>
                <a:lnTo>
                  <a:pt x="216954" y="118117"/>
                </a:lnTo>
                <a:lnTo>
                  <a:pt x="333527" y="118117"/>
                </a:lnTo>
                <a:lnTo>
                  <a:pt x="336623" y="125444"/>
                </a:lnTo>
                <a:lnTo>
                  <a:pt x="336780" y="125875"/>
                </a:lnTo>
                <a:lnTo>
                  <a:pt x="339003" y="142398"/>
                </a:lnTo>
                <a:close/>
              </a:path>
              <a:path w="342900" h="342900">
                <a:moveTo>
                  <a:pt x="328780" y="235839"/>
                </a:moveTo>
                <a:lnTo>
                  <a:pt x="156114" y="235839"/>
                </a:lnTo>
                <a:lnTo>
                  <a:pt x="166782" y="235458"/>
                </a:lnTo>
                <a:lnTo>
                  <a:pt x="171545" y="232600"/>
                </a:lnTo>
                <a:lnTo>
                  <a:pt x="174402" y="228123"/>
                </a:lnTo>
                <a:lnTo>
                  <a:pt x="227814" y="142589"/>
                </a:lnTo>
                <a:lnTo>
                  <a:pt x="339029" y="142589"/>
                </a:lnTo>
                <a:lnTo>
                  <a:pt x="342540" y="168683"/>
                </a:lnTo>
                <a:lnTo>
                  <a:pt x="342833" y="171450"/>
                </a:lnTo>
                <a:lnTo>
                  <a:pt x="336728" y="217024"/>
                </a:lnTo>
                <a:lnTo>
                  <a:pt x="328780" y="235839"/>
                </a:lnTo>
                <a:close/>
              </a:path>
              <a:path w="342900" h="342900">
                <a:moveTo>
                  <a:pt x="159639" y="191262"/>
                </a:moveTo>
                <a:lnTo>
                  <a:pt x="141541" y="167163"/>
                </a:lnTo>
                <a:lnTo>
                  <a:pt x="136783" y="162893"/>
                </a:lnTo>
                <a:lnTo>
                  <a:pt x="130980" y="160865"/>
                </a:lnTo>
                <a:lnTo>
                  <a:pt x="178642" y="160865"/>
                </a:lnTo>
                <a:lnTo>
                  <a:pt x="159639" y="191262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42793" y="4313986"/>
            <a:ext cx="343535" cy="342900"/>
          </a:xfrm>
          <a:custGeom>
            <a:avLst/>
            <a:gdLst/>
            <a:ahLst/>
            <a:cxnLst/>
            <a:rect l="l" t="t" r="r" b="b"/>
            <a:pathLst>
              <a:path w="343534" h="342900">
                <a:moveTo>
                  <a:pt x="171472" y="342901"/>
                </a:moveTo>
                <a:lnTo>
                  <a:pt x="170788" y="342901"/>
                </a:lnTo>
                <a:lnTo>
                  <a:pt x="125188" y="336773"/>
                </a:lnTo>
                <a:lnTo>
                  <a:pt x="125671" y="336773"/>
                </a:lnTo>
                <a:lnTo>
                  <a:pt x="84808" y="319483"/>
                </a:lnTo>
                <a:lnTo>
                  <a:pt x="50148" y="292665"/>
                </a:lnTo>
                <a:lnTo>
                  <a:pt x="23363" y="257955"/>
                </a:lnTo>
                <a:lnTo>
                  <a:pt x="6376" y="217706"/>
                </a:lnTo>
                <a:lnTo>
                  <a:pt x="1107" y="179831"/>
                </a:lnTo>
                <a:lnTo>
                  <a:pt x="0" y="171402"/>
                </a:lnTo>
                <a:lnTo>
                  <a:pt x="5922" y="127384"/>
                </a:lnTo>
                <a:lnTo>
                  <a:pt x="22418" y="87328"/>
                </a:lnTo>
                <a:lnTo>
                  <a:pt x="50319" y="50186"/>
                </a:lnTo>
                <a:lnTo>
                  <a:pt x="85032" y="23392"/>
                </a:lnTo>
                <a:lnTo>
                  <a:pt x="125983" y="6119"/>
                </a:lnTo>
                <a:lnTo>
                  <a:pt x="171484" y="0"/>
                </a:lnTo>
                <a:lnTo>
                  <a:pt x="217038" y="6119"/>
                </a:lnTo>
                <a:lnTo>
                  <a:pt x="257995" y="23392"/>
                </a:lnTo>
                <a:lnTo>
                  <a:pt x="292712" y="50186"/>
                </a:lnTo>
                <a:lnTo>
                  <a:pt x="319544" y="84873"/>
                </a:lnTo>
                <a:lnTo>
                  <a:pt x="320581" y="87328"/>
                </a:lnTo>
                <a:lnTo>
                  <a:pt x="243503" y="87328"/>
                </a:lnTo>
                <a:lnTo>
                  <a:pt x="234081" y="88035"/>
                </a:lnTo>
                <a:lnTo>
                  <a:pt x="131849" y="127384"/>
                </a:lnTo>
                <a:lnTo>
                  <a:pt x="127371" y="131767"/>
                </a:lnTo>
                <a:lnTo>
                  <a:pt x="88022" y="234094"/>
                </a:lnTo>
                <a:lnTo>
                  <a:pt x="87315" y="243516"/>
                </a:lnTo>
                <a:lnTo>
                  <a:pt x="91655" y="251232"/>
                </a:lnTo>
                <a:lnTo>
                  <a:pt x="99370" y="255571"/>
                </a:lnTo>
                <a:lnTo>
                  <a:pt x="320551" y="255571"/>
                </a:lnTo>
                <a:lnTo>
                  <a:pt x="319544" y="257955"/>
                </a:lnTo>
                <a:lnTo>
                  <a:pt x="292712" y="292665"/>
                </a:lnTo>
                <a:lnTo>
                  <a:pt x="257995" y="319483"/>
                </a:lnTo>
                <a:lnTo>
                  <a:pt x="217038" y="336773"/>
                </a:lnTo>
                <a:lnTo>
                  <a:pt x="171472" y="342901"/>
                </a:lnTo>
                <a:close/>
              </a:path>
              <a:path w="343534" h="342900">
                <a:moveTo>
                  <a:pt x="320551" y="255571"/>
                </a:moveTo>
                <a:lnTo>
                  <a:pt x="99370" y="255571"/>
                </a:lnTo>
                <a:lnTo>
                  <a:pt x="108792" y="254864"/>
                </a:lnTo>
                <a:lnTo>
                  <a:pt x="211024" y="215515"/>
                </a:lnTo>
                <a:lnTo>
                  <a:pt x="215597" y="211132"/>
                </a:lnTo>
                <a:lnTo>
                  <a:pt x="217693" y="205416"/>
                </a:lnTo>
                <a:lnTo>
                  <a:pt x="254851" y="108805"/>
                </a:lnTo>
                <a:lnTo>
                  <a:pt x="255558" y="99383"/>
                </a:lnTo>
                <a:lnTo>
                  <a:pt x="251219" y="91667"/>
                </a:lnTo>
                <a:lnTo>
                  <a:pt x="243503" y="87328"/>
                </a:lnTo>
                <a:lnTo>
                  <a:pt x="320581" y="87328"/>
                </a:lnTo>
                <a:lnTo>
                  <a:pt x="336849" y="125822"/>
                </a:lnTo>
                <a:lnTo>
                  <a:pt x="342982" y="171402"/>
                </a:lnTo>
                <a:lnTo>
                  <a:pt x="336849" y="216989"/>
                </a:lnTo>
                <a:lnTo>
                  <a:pt x="320551" y="255571"/>
                </a:lnTo>
                <a:close/>
              </a:path>
              <a:path w="343534" h="342900">
                <a:moveTo>
                  <a:pt x="171484" y="192934"/>
                </a:moveTo>
                <a:lnTo>
                  <a:pt x="163131" y="191246"/>
                </a:lnTo>
                <a:lnTo>
                  <a:pt x="156311" y="186646"/>
                </a:lnTo>
                <a:lnTo>
                  <a:pt x="151727" y="179831"/>
                </a:lnTo>
                <a:lnTo>
                  <a:pt x="150066" y="171402"/>
                </a:lnTo>
                <a:lnTo>
                  <a:pt x="151735" y="163123"/>
                </a:lnTo>
                <a:lnTo>
                  <a:pt x="156335" y="156312"/>
                </a:lnTo>
                <a:lnTo>
                  <a:pt x="163151" y="151735"/>
                </a:lnTo>
                <a:lnTo>
                  <a:pt x="171484" y="150060"/>
                </a:lnTo>
                <a:lnTo>
                  <a:pt x="179752" y="151735"/>
                </a:lnTo>
                <a:lnTo>
                  <a:pt x="186580" y="156312"/>
                </a:lnTo>
                <a:lnTo>
                  <a:pt x="191206" y="163123"/>
                </a:lnTo>
                <a:lnTo>
                  <a:pt x="192902" y="171402"/>
                </a:lnTo>
                <a:lnTo>
                  <a:pt x="191233" y="179831"/>
                </a:lnTo>
                <a:lnTo>
                  <a:pt x="186633" y="186646"/>
                </a:lnTo>
                <a:lnTo>
                  <a:pt x="179818" y="191246"/>
                </a:lnTo>
                <a:lnTo>
                  <a:pt x="171484" y="192934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21352" y="5314006"/>
            <a:ext cx="381635" cy="342900"/>
          </a:xfrm>
          <a:custGeom>
            <a:avLst/>
            <a:gdLst/>
            <a:ahLst/>
            <a:cxnLst/>
            <a:rect l="l" t="t" r="r" b="b"/>
            <a:pathLst>
              <a:path w="381634" h="342900">
                <a:moveTo>
                  <a:pt x="150767" y="342614"/>
                </a:moveTo>
                <a:lnTo>
                  <a:pt x="142366" y="341947"/>
                </a:lnTo>
                <a:lnTo>
                  <a:pt x="134874" y="338049"/>
                </a:lnTo>
                <a:lnTo>
                  <a:pt x="129640" y="331776"/>
                </a:lnTo>
                <a:lnTo>
                  <a:pt x="127123" y="323966"/>
                </a:lnTo>
                <a:lnTo>
                  <a:pt x="127781" y="315460"/>
                </a:lnTo>
                <a:lnTo>
                  <a:pt x="212468" y="15434"/>
                </a:lnTo>
                <a:lnTo>
                  <a:pt x="216317" y="7848"/>
                </a:lnTo>
                <a:lnTo>
                  <a:pt x="222512" y="2548"/>
                </a:lnTo>
                <a:lnTo>
                  <a:pt x="230225" y="0"/>
                </a:lnTo>
                <a:lnTo>
                  <a:pt x="238626" y="666"/>
                </a:lnTo>
                <a:lnTo>
                  <a:pt x="246118" y="4564"/>
                </a:lnTo>
                <a:lnTo>
                  <a:pt x="251353" y="10837"/>
                </a:lnTo>
                <a:lnTo>
                  <a:pt x="253870" y="18647"/>
                </a:lnTo>
                <a:lnTo>
                  <a:pt x="253211" y="27153"/>
                </a:lnTo>
                <a:lnTo>
                  <a:pt x="168525" y="327179"/>
                </a:lnTo>
                <a:lnTo>
                  <a:pt x="164676" y="334765"/>
                </a:lnTo>
                <a:lnTo>
                  <a:pt x="158480" y="340065"/>
                </a:lnTo>
                <a:lnTo>
                  <a:pt x="150767" y="342614"/>
                </a:lnTo>
                <a:close/>
              </a:path>
              <a:path w="381634" h="342900">
                <a:moveTo>
                  <a:pt x="296436" y="257115"/>
                </a:moveTo>
                <a:lnTo>
                  <a:pt x="288457" y="255538"/>
                </a:lnTo>
                <a:lnTo>
                  <a:pt x="281440" y="250862"/>
                </a:lnTo>
                <a:lnTo>
                  <a:pt x="276782" y="243810"/>
                </a:lnTo>
                <a:lnTo>
                  <a:pt x="275229" y="235749"/>
                </a:lnTo>
                <a:lnTo>
                  <a:pt x="276782" y="227670"/>
                </a:lnTo>
                <a:lnTo>
                  <a:pt x="281440" y="220565"/>
                </a:lnTo>
                <a:lnTo>
                  <a:pt x="329958" y="171366"/>
                </a:lnTo>
                <a:lnTo>
                  <a:pt x="281346" y="122144"/>
                </a:lnTo>
                <a:lnTo>
                  <a:pt x="276688" y="115092"/>
                </a:lnTo>
                <a:lnTo>
                  <a:pt x="275135" y="107031"/>
                </a:lnTo>
                <a:lnTo>
                  <a:pt x="276688" y="98952"/>
                </a:lnTo>
                <a:lnTo>
                  <a:pt x="281158" y="92132"/>
                </a:lnTo>
                <a:lnTo>
                  <a:pt x="288404" y="87225"/>
                </a:lnTo>
                <a:lnTo>
                  <a:pt x="296366" y="85653"/>
                </a:lnTo>
                <a:lnTo>
                  <a:pt x="304345" y="87225"/>
                </a:lnTo>
                <a:lnTo>
                  <a:pt x="374877" y="156253"/>
                </a:lnTo>
                <a:lnTo>
                  <a:pt x="381087" y="171366"/>
                </a:lnTo>
                <a:lnTo>
                  <a:pt x="379534" y="179445"/>
                </a:lnTo>
                <a:lnTo>
                  <a:pt x="374877" y="186551"/>
                </a:lnTo>
                <a:lnTo>
                  <a:pt x="311362" y="250862"/>
                </a:lnTo>
                <a:lnTo>
                  <a:pt x="304437" y="255538"/>
                </a:lnTo>
                <a:lnTo>
                  <a:pt x="296436" y="257115"/>
                </a:lnTo>
                <a:close/>
              </a:path>
              <a:path w="381634" h="342900">
                <a:moveTo>
                  <a:pt x="281158" y="92132"/>
                </a:moveTo>
                <a:lnTo>
                  <a:pt x="281330" y="91870"/>
                </a:lnTo>
                <a:lnTo>
                  <a:pt x="281546" y="91870"/>
                </a:lnTo>
                <a:lnTo>
                  <a:pt x="281158" y="92132"/>
                </a:lnTo>
                <a:close/>
              </a:path>
              <a:path w="381634" h="342900">
                <a:moveTo>
                  <a:pt x="84721" y="257055"/>
                </a:moveTo>
                <a:lnTo>
                  <a:pt x="6210" y="186456"/>
                </a:lnTo>
                <a:lnTo>
                  <a:pt x="0" y="171342"/>
                </a:lnTo>
                <a:lnTo>
                  <a:pt x="1552" y="163263"/>
                </a:lnTo>
                <a:lnTo>
                  <a:pt x="6210" y="156158"/>
                </a:lnTo>
                <a:lnTo>
                  <a:pt x="69745" y="91832"/>
                </a:lnTo>
                <a:lnTo>
                  <a:pt x="76689" y="87130"/>
                </a:lnTo>
                <a:lnTo>
                  <a:pt x="84650" y="85558"/>
                </a:lnTo>
                <a:lnTo>
                  <a:pt x="92629" y="87130"/>
                </a:lnTo>
                <a:lnTo>
                  <a:pt x="99364" y="91656"/>
                </a:lnTo>
                <a:lnTo>
                  <a:pt x="104210" y="98993"/>
                </a:lnTo>
                <a:lnTo>
                  <a:pt x="105763" y="107055"/>
                </a:lnTo>
                <a:lnTo>
                  <a:pt x="104210" y="115134"/>
                </a:lnTo>
                <a:lnTo>
                  <a:pt x="99553" y="122239"/>
                </a:lnTo>
                <a:lnTo>
                  <a:pt x="51152" y="171342"/>
                </a:lnTo>
                <a:lnTo>
                  <a:pt x="59011" y="179404"/>
                </a:lnTo>
                <a:lnTo>
                  <a:pt x="99647" y="220469"/>
                </a:lnTo>
                <a:lnTo>
                  <a:pt x="104291" y="227521"/>
                </a:lnTo>
                <a:lnTo>
                  <a:pt x="105822" y="235582"/>
                </a:lnTo>
                <a:lnTo>
                  <a:pt x="104265" y="243662"/>
                </a:lnTo>
                <a:lnTo>
                  <a:pt x="99647" y="250767"/>
                </a:lnTo>
                <a:lnTo>
                  <a:pt x="92682" y="255483"/>
                </a:lnTo>
                <a:lnTo>
                  <a:pt x="84721" y="257055"/>
                </a:lnTo>
                <a:close/>
              </a:path>
              <a:path w="381634" h="342900">
                <a:moveTo>
                  <a:pt x="99626" y="91832"/>
                </a:moveTo>
                <a:lnTo>
                  <a:pt x="99481" y="91832"/>
                </a:lnTo>
                <a:lnTo>
                  <a:pt x="99364" y="91656"/>
                </a:lnTo>
                <a:lnTo>
                  <a:pt x="99626" y="91832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96301" y="6313845"/>
            <a:ext cx="236220" cy="342900"/>
          </a:xfrm>
          <a:custGeom>
            <a:avLst/>
            <a:gdLst/>
            <a:ahLst/>
            <a:cxnLst/>
            <a:rect l="l" t="t" r="r" b="b"/>
            <a:pathLst>
              <a:path w="236219" h="342900">
                <a:moveTo>
                  <a:pt x="194377" y="342501"/>
                </a:moveTo>
                <a:lnTo>
                  <a:pt x="41366" y="342501"/>
                </a:lnTo>
                <a:lnTo>
                  <a:pt x="26199" y="339429"/>
                </a:lnTo>
                <a:lnTo>
                  <a:pt x="12572" y="330231"/>
                </a:lnTo>
                <a:lnTo>
                  <a:pt x="3375" y="316605"/>
                </a:lnTo>
                <a:lnTo>
                  <a:pt x="0" y="299942"/>
                </a:lnTo>
                <a:lnTo>
                  <a:pt x="0" y="42862"/>
                </a:lnTo>
                <a:lnTo>
                  <a:pt x="3375" y="26199"/>
                </a:lnTo>
                <a:lnTo>
                  <a:pt x="12572" y="12573"/>
                </a:lnTo>
                <a:lnTo>
                  <a:pt x="26199" y="3375"/>
                </a:lnTo>
                <a:lnTo>
                  <a:pt x="42862" y="0"/>
                </a:lnTo>
                <a:lnTo>
                  <a:pt x="192881" y="0"/>
                </a:lnTo>
                <a:lnTo>
                  <a:pt x="209544" y="3375"/>
                </a:lnTo>
                <a:lnTo>
                  <a:pt x="223170" y="12573"/>
                </a:lnTo>
                <a:lnTo>
                  <a:pt x="232368" y="26199"/>
                </a:lnTo>
                <a:lnTo>
                  <a:pt x="235743" y="42862"/>
                </a:lnTo>
                <a:lnTo>
                  <a:pt x="42862" y="42862"/>
                </a:lnTo>
                <a:lnTo>
                  <a:pt x="42862" y="246411"/>
                </a:lnTo>
                <a:lnTo>
                  <a:pt x="235743" y="246411"/>
                </a:lnTo>
                <a:lnTo>
                  <a:pt x="235743" y="273177"/>
                </a:lnTo>
                <a:lnTo>
                  <a:pt x="117919" y="273177"/>
                </a:lnTo>
                <a:lnTo>
                  <a:pt x="109588" y="274864"/>
                </a:lnTo>
                <a:lnTo>
                  <a:pt x="102774" y="279463"/>
                </a:lnTo>
                <a:lnTo>
                  <a:pt x="98175" y="286276"/>
                </a:lnTo>
                <a:lnTo>
                  <a:pt x="96488" y="294608"/>
                </a:lnTo>
                <a:lnTo>
                  <a:pt x="98175" y="302939"/>
                </a:lnTo>
                <a:lnTo>
                  <a:pt x="102774" y="309753"/>
                </a:lnTo>
                <a:lnTo>
                  <a:pt x="109588" y="314351"/>
                </a:lnTo>
                <a:lnTo>
                  <a:pt x="117919" y="316039"/>
                </a:lnTo>
                <a:lnTo>
                  <a:pt x="232482" y="316039"/>
                </a:lnTo>
                <a:lnTo>
                  <a:pt x="232368" y="316605"/>
                </a:lnTo>
                <a:lnTo>
                  <a:pt x="223170" y="330231"/>
                </a:lnTo>
                <a:lnTo>
                  <a:pt x="209544" y="339429"/>
                </a:lnTo>
                <a:lnTo>
                  <a:pt x="194377" y="342501"/>
                </a:lnTo>
                <a:close/>
              </a:path>
              <a:path w="236219" h="342900">
                <a:moveTo>
                  <a:pt x="235743" y="246411"/>
                </a:moveTo>
                <a:lnTo>
                  <a:pt x="192881" y="246411"/>
                </a:lnTo>
                <a:lnTo>
                  <a:pt x="192881" y="42862"/>
                </a:lnTo>
                <a:lnTo>
                  <a:pt x="235743" y="42862"/>
                </a:lnTo>
                <a:lnTo>
                  <a:pt x="235743" y="246411"/>
                </a:lnTo>
                <a:close/>
              </a:path>
              <a:path w="236219" h="342900">
                <a:moveTo>
                  <a:pt x="232482" y="316039"/>
                </a:moveTo>
                <a:lnTo>
                  <a:pt x="117919" y="316039"/>
                </a:lnTo>
                <a:lnTo>
                  <a:pt x="126250" y="314351"/>
                </a:lnTo>
                <a:lnTo>
                  <a:pt x="133064" y="309753"/>
                </a:lnTo>
                <a:lnTo>
                  <a:pt x="137663" y="302939"/>
                </a:lnTo>
                <a:lnTo>
                  <a:pt x="139350" y="294608"/>
                </a:lnTo>
                <a:lnTo>
                  <a:pt x="137663" y="286276"/>
                </a:lnTo>
                <a:lnTo>
                  <a:pt x="133064" y="279463"/>
                </a:lnTo>
                <a:lnTo>
                  <a:pt x="126250" y="274864"/>
                </a:lnTo>
                <a:lnTo>
                  <a:pt x="117919" y="273177"/>
                </a:lnTo>
                <a:lnTo>
                  <a:pt x="235743" y="273177"/>
                </a:lnTo>
                <a:lnTo>
                  <a:pt x="235743" y="299942"/>
                </a:lnTo>
                <a:lnTo>
                  <a:pt x="232482" y="316039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644325" y="2205427"/>
            <a:ext cx="5564505" cy="476821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800" spc="70" b="1">
                <a:solidFill>
                  <a:srgbClr val="1A1A1A"/>
                </a:solidFill>
                <a:latin typeface="Times New Roman"/>
                <a:cs typeface="Times New Roman"/>
              </a:rPr>
              <a:t>Role-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Based</a:t>
            </a: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UI</a:t>
            </a:r>
            <a:r>
              <a:rPr dirty="0" sz="1800" spc="7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0" b="1">
                <a:solidFill>
                  <a:srgbClr val="1A1A1A"/>
                </a:solidFill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Create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interfaces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for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Student,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Company,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40">
                <a:solidFill>
                  <a:srgbClr val="6A8E7B"/>
                </a:solidFill>
                <a:latin typeface="Times New Roman"/>
                <a:cs typeface="Times New Roman"/>
              </a:rPr>
              <a:t>and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0">
                <a:solidFill>
                  <a:srgbClr val="6A8E7B"/>
                </a:solidFill>
                <a:latin typeface="Times New Roman"/>
                <a:cs typeface="Times New Roman"/>
              </a:rPr>
              <a:t>Admin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6A8E7B"/>
                </a:solidFill>
                <a:latin typeface="Times New Roman"/>
                <a:cs typeface="Times New Roman"/>
              </a:rPr>
              <a:t>(TPO)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Client-</a:t>
            </a: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Side</a:t>
            </a:r>
            <a:r>
              <a:rPr dirty="0" sz="1800" spc="-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40" b="1">
                <a:solidFill>
                  <a:srgbClr val="1A1A1A"/>
                </a:solidFill>
                <a:latin typeface="Times New Roman"/>
                <a:cs typeface="Times New Roman"/>
              </a:rPr>
              <a:t>Validation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550" spc="114">
                <a:solidFill>
                  <a:srgbClr val="6A8E7B"/>
                </a:solidFill>
                <a:latin typeface="Times New Roman"/>
                <a:cs typeface="Times New Roman"/>
              </a:rPr>
              <a:t>Form</a:t>
            </a:r>
            <a:r>
              <a:rPr dirty="0" sz="1550" spc="-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0">
                <a:solidFill>
                  <a:srgbClr val="6A8E7B"/>
                </a:solidFill>
                <a:latin typeface="Times New Roman"/>
                <a:cs typeface="Times New Roman"/>
              </a:rPr>
              <a:t>validation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40">
                <a:solidFill>
                  <a:srgbClr val="6A8E7B"/>
                </a:solidFill>
                <a:latin typeface="Times New Roman"/>
                <a:cs typeface="Times New Roman"/>
              </a:rPr>
              <a:t>and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UI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0">
                <a:solidFill>
                  <a:srgbClr val="6A8E7B"/>
                </a:solidFill>
                <a:latin typeface="Times New Roman"/>
                <a:cs typeface="Times New Roman"/>
              </a:rPr>
              <a:t>interactivity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using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45">
                <a:solidFill>
                  <a:srgbClr val="6A8E7B"/>
                </a:solidFill>
                <a:latin typeface="Times New Roman"/>
                <a:cs typeface="Times New Roman"/>
              </a:rPr>
              <a:t>JavaScript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Dashboard</a:t>
            </a:r>
            <a:r>
              <a:rPr dirty="0" sz="1800" spc="1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45" b="1">
                <a:solidFill>
                  <a:srgbClr val="1A1A1A"/>
                </a:solidFill>
                <a:latin typeface="Times New Roman"/>
                <a:cs typeface="Times New Roman"/>
              </a:rPr>
              <a:t>Navigation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550" spc="60">
                <a:solidFill>
                  <a:srgbClr val="6A8E7B"/>
                </a:solidFill>
                <a:latin typeface="Times New Roman"/>
                <a:cs typeface="Times New Roman"/>
              </a:rPr>
              <a:t>Navigation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40">
                <a:solidFill>
                  <a:srgbClr val="6A8E7B"/>
                </a:solidFill>
                <a:latin typeface="Times New Roman"/>
                <a:cs typeface="Times New Roman"/>
              </a:rPr>
              <a:t>and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25">
                <a:solidFill>
                  <a:srgbClr val="6A8E7B"/>
                </a:solidFill>
                <a:latin typeface="Times New Roman"/>
                <a:cs typeface="Times New Roman"/>
              </a:rPr>
              <a:t>dashboard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designs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for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20">
                <a:solidFill>
                  <a:srgbClr val="6A8E7B"/>
                </a:solidFill>
                <a:latin typeface="Times New Roman"/>
                <a:cs typeface="Times New Roman"/>
              </a:rPr>
              <a:t>each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25">
                <a:solidFill>
                  <a:srgbClr val="6A8E7B"/>
                </a:solidFill>
                <a:latin typeface="Times New Roman"/>
                <a:cs typeface="Times New Roman"/>
              </a:rPr>
              <a:t>user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role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70" b="1">
                <a:solidFill>
                  <a:srgbClr val="1A1A1A"/>
                </a:solidFill>
                <a:latin typeface="Times New Roman"/>
                <a:cs typeface="Times New Roman"/>
              </a:rPr>
              <a:t>Simulated</a:t>
            </a:r>
            <a:r>
              <a:rPr dirty="0" sz="1800" spc="-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70" b="1">
                <a:solidFill>
                  <a:srgbClr val="1A1A1A"/>
                </a:solidFill>
                <a:latin typeface="Times New Roman"/>
                <a:cs typeface="Times New Roman"/>
              </a:rPr>
              <a:t>Workflows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550" spc="60">
                <a:solidFill>
                  <a:srgbClr val="6A8E7B"/>
                </a:solidFill>
                <a:latin typeface="Times New Roman"/>
                <a:cs typeface="Times New Roman"/>
              </a:rPr>
              <a:t>Job</a:t>
            </a:r>
            <a:r>
              <a:rPr dirty="0" sz="1550" spc="-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postings,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applications,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40">
                <a:solidFill>
                  <a:srgbClr val="6A8E7B"/>
                </a:solidFill>
                <a:latin typeface="Times New Roman"/>
                <a:cs typeface="Times New Roman"/>
              </a:rPr>
              <a:t>and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status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using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65">
                <a:solidFill>
                  <a:srgbClr val="6A8E7B"/>
                </a:solidFill>
                <a:latin typeface="Times New Roman"/>
                <a:cs typeface="Times New Roman"/>
              </a:rPr>
              <a:t>dummy</a:t>
            </a:r>
            <a:r>
              <a:rPr dirty="0" sz="1550" spc="-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JSON</a:t>
            </a:r>
            <a:r>
              <a:rPr dirty="0" sz="1550" spc="-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0">
                <a:solidFill>
                  <a:srgbClr val="6A8E7B"/>
                </a:solidFill>
                <a:latin typeface="Times New Roman"/>
                <a:cs typeface="Times New Roman"/>
              </a:rPr>
              <a:t>data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70" b="1">
                <a:solidFill>
                  <a:srgbClr val="1A1A1A"/>
                </a:solidFill>
                <a:latin typeface="Times New Roman"/>
                <a:cs typeface="Times New Roman"/>
              </a:rPr>
              <a:t>Responsive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Mobile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1A1A1A"/>
                </a:solidFill>
                <a:latin typeface="Times New Roman"/>
                <a:cs typeface="Times New Roman"/>
              </a:rPr>
              <a:t>UI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Mobile-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friendly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design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using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Bootstrap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0">
                <a:solidFill>
                  <a:srgbClr val="6A8E7B"/>
                </a:solidFill>
                <a:latin typeface="Times New Roman"/>
                <a:cs typeface="Times New Roman"/>
              </a:rPr>
              <a:t>5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grid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0">
                <a:solidFill>
                  <a:srgbClr val="6A8E7B"/>
                </a:solidFill>
                <a:latin typeface="Times New Roman"/>
                <a:cs typeface="Times New Roman"/>
              </a:rPr>
              <a:t>system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15211" y="1663461"/>
            <a:ext cx="2917190" cy="4025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120" b="1">
                <a:solidFill>
                  <a:srgbClr val="6A8E7B"/>
                </a:solidFill>
                <a:latin typeface="Times New Roman"/>
                <a:cs typeface="Times New Roman"/>
              </a:rPr>
              <a:t>Scope</a:t>
            </a:r>
            <a:r>
              <a:rPr dirty="0" sz="2450" spc="-10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-210" b="1">
                <a:solidFill>
                  <a:srgbClr val="6A8E7B"/>
                </a:solidFill>
                <a:latin typeface="Times New Roman"/>
                <a:cs typeface="Times New Roman"/>
              </a:rPr>
              <a:t>&amp;</a:t>
            </a:r>
            <a:r>
              <a:rPr dirty="0" sz="2450" spc="-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55" b="1">
                <a:solidFill>
                  <a:srgbClr val="6A8E7B"/>
                </a:solidFill>
                <a:latin typeface="Times New Roman"/>
                <a:cs typeface="Times New Roman"/>
              </a:rPr>
              <a:t>Limitations</a:t>
            </a:r>
            <a:endParaRPr sz="24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427911" y="2256986"/>
            <a:ext cx="7999730" cy="5285740"/>
            <a:chOff x="9427911" y="2256986"/>
            <a:chExt cx="7999730" cy="5285740"/>
          </a:xfrm>
        </p:grpSpPr>
        <p:sp>
          <p:nvSpPr>
            <p:cNvPr id="14" name="object 14"/>
            <p:cNvSpPr/>
            <p:nvPr/>
          </p:nvSpPr>
          <p:spPr>
            <a:xfrm>
              <a:off x="9427911" y="2256986"/>
              <a:ext cx="7999730" cy="5285740"/>
            </a:xfrm>
            <a:custGeom>
              <a:avLst/>
              <a:gdLst/>
              <a:ahLst/>
              <a:cxnLst/>
              <a:rect l="l" t="t" r="r" b="b"/>
              <a:pathLst>
                <a:path w="7999730" h="5285740">
                  <a:moveTo>
                    <a:pt x="7999437" y="5285342"/>
                  </a:moveTo>
                  <a:lnTo>
                    <a:pt x="0" y="5285342"/>
                  </a:lnTo>
                  <a:lnTo>
                    <a:pt x="0" y="0"/>
                  </a:lnTo>
                  <a:lnTo>
                    <a:pt x="7999437" y="0"/>
                  </a:lnTo>
                  <a:lnTo>
                    <a:pt x="7999437" y="52853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713604" y="4628245"/>
              <a:ext cx="7428230" cy="14604"/>
            </a:xfrm>
            <a:custGeom>
              <a:avLst/>
              <a:gdLst/>
              <a:ahLst/>
              <a:cxnLst/>
              <a:rect l="l" t="t" r="r" b="b"/>
              <a:pathLst>
                <a:path w="7428230" h="14604">
                  <a:moveTo>
                    <a:pt x="7428048" y="14287"/>
                  </a:moveTo>
                  <a:lnTo>
                    <a:pt x="0" y="14287"/>
                  </a:lnTo>
                  <a:lnTo>
                    <a:pt x="0" y="0"/>
                  </a:lnTo>
                  <a:lnTo>
                    <a:pt x="7428048" y="0"/>
                  </a:lnTo>
                  <a:lnTo>
                    <a:pt x="7428048" y="14287"/>
                  </a:lnTo>
                  <a:close/>
                </a:path>
              </a:pathLst>
            </a:custGeom>
            <a:solidFill>
              <a:srgbClr val="E9E9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93675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1525"/>
              </a:spcBef>
            </a:pPr>
            <a:r>
              <a:rPr dirty="0"/>
              <a:t>IN</a:t>
            </a:r>
            <a:r>
              <a:rPr dirty="0" spc="55"/>
              <a:t> </a:t>
            </a:r>
            <a:r>
              <a:rPr dirty="0" spc="-10"/>
              <a:t>SCOPE</a:t>
            </a:r>
          </a:p>
          <a:p>
            <a:pPr marL="414020" indent="-128905">
              <a:lnSpc>
                <a:spcPct val="100000"/>
              </a:lnSpc>
              <a:spcBef>
                <a:spcPts val="800"/>
              </a:spcBef>
              <a:buChar char="•"/>
              <a:tabLst>
                <a:tab pos="414020" algn="l"/>
              </a:tabLst>
            </a:pPr>
            <a:r>
              <a:rPr dirty="0" sz="1800" b="0">
                <a:solidFill>
                  <a:srgbClr val="1A1A1A"/>
                </a:solidFill>
                <a:latin typeface="Times New Roman"/>
                <a:cs typeface="Times New Roman"/>
              </a:rPr>
              <a:t>UI</a:t>
            </a:r>
            <a:r>
              <a:rPr dirty="0" sz="1800" spc="3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14" b="0">
                <a:solidFill>
                  <a:srgbClr val="1A1A1A"/>
                </a:solidFill>
                <a:latin typeface="Times New Roman"/>
                <a:cs typeface="Times New Roman"/>
              </a:rPr>
              <a:t>experience</a:t>
            </a:r>
            <a:r>
              <a:rPr dirty="0" sz="1800" spc="3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25" b="0">
                <a:solidFill>
                  <a:srgbClr val="1A1A1A"/>
                </a:solidFill>
                <a:latin typeface="Times New Roman"/>
                <a:cs typeface="Times New Roman"/>
              </a:rPr>
              <a:t>from</a:t>
            </a:r>
            <a:r>
              <a:rPr dirty="0" sz="1800" spc="3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 b="0">
                <a:solidFill>
                  <a:srgbClr val="1A1A1A"/>
                </a:solidFill>
                <a:latin typeface="Times New Roman"/>
                <a:cs typeface="Times New Roman"/>
              </a:rPr>
              <a:t>job</a:t>
            </a:r>
            <a:r>
              <a:rPr dirty="0" sz="1800" spc="3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0">
                <a:solidFill>
                  <a:srgbClr val="1A1A1A"/>
                </a:solidFill>
                <a:latin typeface="Times New Roman"/>
                <a:cs typeface="Times New Roman"/>
              </a:rPr>
              <a:t>listing</a:t>
            </a:r>
            <a:r>
              <a:rPr dirty="0" sz="1800" spc="40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10" b="0">
                <a:solidFill>
                  <a:srgbClr val="1A1A1A"/>
                </a:solidFill>
                <a:latin typeface="Times New Roman"/>
                <a:cs typeface="Times New Roman"/>
              </a:rPr>
              <a:t>to</a:t>
            </a:r>
            <a:r>
              <a:rPr dirty="0" sz="1800" spc="3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75" b="0">
                <a:solidFill>
                  <a:srgbClr val="1A1A1A"/>
                </a:solidFill>
                <a:latin typeface="Times New Roman"/>
                <a:cs typeface="Times New Roman"/>
              </a:rPr>
              <a:t>application</a:t>
            </a:r>
            <a:endParaRPr sz="1800">
              <a:latin typeface="Times New Roman"/>
              <a:cs typeface="Times New Roman"/>
            </a:endParaRPr>
          </a:p>
          <a:p>
            <a:pPr marL="414020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414020" algn="l"/>
              </a:tabLst>
            </a:pPr>
            <a:r>
              <a:rPr dirty="0" sz="1800" spc="105" b="0">
                <a:solidFill>
                  <a:srgbClr val="1A1A1A"/>
                </a:solidFill>
                <a:latin typeface="Times New Roman"/>
                <a:cs typeface="Times New Roman"/>
              </a:rPr>
              <a:t>Three</a:t>
            </a:r>
            <a:r>
              <a:rPr dirty="0" sz="1800" spc="-1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25" b="0">
                <a:solidFill>
                  <a:srgbClr val="1A1A1A"/>
                </a:solidFill>
                <a:latin typeface="Times New Roman"/>
                <a:cs typeface="Times New Roman"/>
              </a:rPr>
              <a:t>role-based</a:t>
            </a:r>
            <a:r>
              <a:rPr dirty="0" sz="1800" spc="-10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30" b="0">
                <a:solidFill>
                  <a:srgbClr val="1A1A1A"/>
                </a:solidFill>
                <a:latin typeface="Times New Roman"/>
                <a:cs typeface="Times New Roman"/>
              </a:rPr>
              <a:t>dashboard</a:t>
            </a:r>
            <a:r>
              <a:rPr dirty="0" sz="1800" spc="-10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 b="0">
                <a:solidFill>
                  <a:srgbClr val="1A1A1A"/>
                </a:solidFill>
                <a:latin typeface="Times New Roman"/>
                <a:cs typeface="Times New Roman"/>
              </a:rPr>
              <a:t>prototypes</a:t>
            </a:r>
            <a:endParaRPr sz="1800">
              <a:latin typeface="Times New Roman"/>
              <a:cs typeface="Times New Roman"/>
            </a:endParaRPr>
          </a:p>
          <a:p>
            <a:pPr marL="414020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414020" algn="l"/>
              </a:tabLst>
            </a:pPr>
            <a:r>
              <a:rPr dirty="0" sz="1800" spc="80" b="0">
                <a:solidFill>
                  <a:srgbClr val="1A1A1A"/>
                </a:solidFill>
                <a:latin typeface="Times New Roman"/>
                <a:cs typeface="Times New Roman"/>
              </a:rPr>
              <a:t>Client-</a:t>
            </a:r>
            <a:r>
              <a:rPr dirty="0" sz="1800" spc="90" b="0">
                <a:solidFill>
                  <a:srgbClr val="1A1A1A"/>
                </a:solidFill>
                <a:latin typeface="Times New Roman"/>
                <a:cs typeface="Times New Roman"/>
              </a:rPr>
              <a:t>side</a:t>
            </a:r>
            <a:r>
              <a:rPr dirty="0" sz="1800" spc="-20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25" b="0">
                <a:solidFill>
                  <a:srgbClr val="1A1A1A"/>
                </a:solidFill>
                <a:latin typeface="Times New Roman"/>
                <a:cs typeface="Times New Roman"/>
              </a:rPr>
              <a:t>form</a:t>
            </a:r>
            <a:r>
              <a:rPr dirty="0" sz="1800" spc="-1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70" b="0">
                <a:solidFill>
                  <a:srgbClr val="1A1A1A"/>
                </a:solidFill>
                <a:latin typeface="Times New Roman"/>
                <a:cs typeface="Times New Roman"/>
              </a:rPr>
              <a:t>validation</a:t>
            </a:r>
            <a:r>
              <a:rPr dirty="0" sz="1800" spc="-1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0">
                <a:solidFill>
                  <a:srgbClr val="1A1A1A"/>
                </a:solidFill>
                <a:latin typeface="Times New Roman"/>
                <a:cs typeface="Times New Roman"/>
              </a:rPr>
              <a:t>&amp;</a:t>
            </a:r>
            <a:r>
              <a:rPr dirty="0" sz="1800" spc="-1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5" b="0">
                <a:solidFill>
                  <a:srgbClr val="1A1A1A"/>
                </a:solidFill>
                <a:latin typeface="Times New Roman"/>
                <a:cs typeface="Times New Roman"/>
              </a:rPr>
              <a:t>interactivity</a:t>
            </a:r>
            <a:endParaRPr sz="1800">
              <a:latin typeface="Times New Roman"/>
              <a:cs typeface="Times New Roman"/>
            </a:endParaRPr>
          </a:p>
          <a:p>
            <a:pPr marL="414020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414020" algn="l"/>
              </a:tabLst>
            </a:pPr>
            <a:r>
              <a:rPr dirty="0" sz="1800" spc="90" b="0">
                <a:solidFill>
                  <a:srgbClr val="1A1A1A"/>
                </a:solidFill>
                <a:latin typeface="Times New Roman"/>
                <a:cs typeface="Times New Roman"/>
              </a:rPr>
              <a:t>Simulated</a:t>
            </a:r>
            <a:r>
              <a:rPr dirty="0" sz="1800" spc="-10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 b="0">
                <a:solidFill>
                  <a:srgbClr val="1A1A1A"/>
                </a:solidFill>
                <a:latin typeface="Times New Roman"/>
                <a:cs typeface="Times New Roman"/>
              </a:rPr>
              <a:t>data</a:t>
            </a:r>
            <a:r>
              <a:rPr dirty="0" sz="1800" spc="-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 b="0">
                <a:solidFill>
                  <a:srgbClr val="1A1A1A"/>
                </a:solidFill>
                <a:latin typeface="Times New Roman"/>
                <a:cs typeface="Times New Roman"/>
              </a:rPr>
              <a:t>workflows</a:t>
            </a:r>
            <a:r>
              <a:rPr dirty="0" sz="1800" spc="-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 b="0">
                <a:solidFill>
                  <a:srgbClr val="1A1A1A"/>
                </a:solidFill>
                <a:latin typeface="Times New Roman"/>
                <a:cs typeface="Times New Roman"/>
              </a:rPr>
              <a:t>with</a:t>
            </a:r>
            <a:r>
              <a:rPr dirty="0" sz="1800" spc="-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70" b="0">
                <a:solidFill>
                  <a:srgbClr val="1A1A1A"/>
                </a:solidFill>
                <a:latin typeface="Times New Roman"/>
                <a:cs typeface="Times New Roman"/>
              </a:rPr>
              <a:t>static</a:t>
            </a:r>
            <a:r>
              <a:rPr dirty="0" sz="1800" spc="-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0">
                <a:solidFill>
                  <a:srgbClr val="1A1A1A"/>
                </a:solidFill>
                <a:latin typeface="Times New Roman"/>
                <a:cs typeface="Times New Roman"/>
              </a:rPr>
              <a:t>JSON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  <a:buClr>
                <a:srgbClr val="1A1A1A"/>
              </a:buClr>
              <a:buFont typeface="Times New Roman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dirty="0" spc="-10">
                <a:solidFill>
                  <a:srgbClr val="C7913A"/>
                </a:solidFill>
              </a:rPr>
              <a:t>LIMITATIONS</a:t>
            </a:r>
          </a:p>
          <a:p>
            <a:pPr marL="414020" indent="-128905">
              <a:lnSpc>
                <a:spcPct val="100000"/>
              </a:lnSpc>
              <a:spcBef>
                <a:spcPts val="800"/>
              </a:spcBef>
              <a:buChar char="•"/>
              <a:tabLst>
                <a:tab pos="414020" algn="l"/>
              </a:tabLst>
            </a:pPr>
            <a:r>
              <a:rPr dirty="0" sz="1800" spc="85" b="0">
                <a:solidFill>
                  <a:srgbClr val="1A1A1A"/>
                </a:solidFill>
                <a:latin typeface="Times New Roman"/>
                <a:cs typeface="Times New Roman"/>
              </a:rPr>
              <a:t>No</a:t>
            </a:r>
            <a:r>
              <a:rPr dirty="0" sz="1800" spc="-1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25" b="0">
                <a:solidFill>
                  <a:srgbClr val="1A1A1A"/>
                </a:solidFill>
                <a:latin typeface="Times New Roman"/>
                <a:cs typeface="Times New Roman"/>
              </a:rPr>
              <a:t>backend</a:t>
            </a:r>
            <a:r>
              <a:rPr dirty="0" sz="1800" spc="-10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10" b="0">
                <a:solidFill>
                  <a:srgbClr val="1A1A1A"/>
                </a:solidFill>
                <a:latin typeface="Times New Roman"/>
                <a:cs typeface="Times New Roman"/>
              </a:rPr>
              <a:t>database</a:t>
            </a:r>
            <a:r>
              <a:rPr dirty="0" sz="1800" spc="-10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0" b="0">
                <a:solidFill>
                  <a:srgbClr val="1A1A1A"/>
                </a:solidFill>
                <a:latin typeface="Times New Roman"/>
                <a:cs typeface="Times New Roman"/>
              </a:rPr>
              <a:t>integration</a:t>
            </a:r>
            <a:endParaRPr sz="1800">
              <a:latin typeface="Times New Roman"/>
              <a:cs typeface="Times New Roman"/>
            </a:endParaRPr>
          </a:p>
          <a:p>
            <a:pPr marL="414020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414020" algn="l"/>
              </a:tabLst>
            </a:pPr>
            <a:r>
              <a:rPr dirty="0" sz="1800" spc="85" b="0">
                <a:solidFill>
                  <a:srgbClr val="1A1A1A"/>
                </a:solidFill>
                <a:latin typeface="Times New Roman"/>
                <a:cs typeface="Times New Roman"/>
              </a:rPr>
              <a:t>No</a:t>
            </a:r>
            <a:r>
              <a:rPr dirty="0" sz="1800" spc="-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 b="0">
                <a:solidFill>
                  <a:srgbClr val="1A1A1A"/>
                </a:solidFill>
                <a:latin typeface="Times New Roman"/>
                <a:cs typeface="Times New Roman"/>
              </a:rPr>
              <a:t>online</a:t>
            </a:r>
            <a:r>
              <a:rPr dirty="0" sz="1800" spc="-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5" b="0">
                <a:solidFill>
                  <a:srgbClr val="1A1A1A"/>
                </a:solidFill>
                <a:latin typeface="Times New Roman"/>
                <a:cs typeface="Times New Roman"/>
              </a:rPr>
              <a:t>aptitude</a:t>
            </a:r>
            <a:r>
              <a:rPr dirty="0" sz="1800" spc="-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0" b="0">
                <a:solidFill>
                  <a:srgbClr val="1A1A1A"/>
                </a:solidFill>
                <a:latin typeface="Times New Roman"/>
                <a:cs typeface="Times New Roman"/>
              </a:rPr>
              <a:t>testing</a:t>
            </a:r>
            <a:r>
              <a:rPr dirty="0" sz="1800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30" b="0">
                <a:solidFill>
                  <a:srgbClr val="1A1A1A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  <a:p>
            <a:pPr marL="414020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414020" algn="l"/>
              </a:tabLst>
            </a:pPr>
            <a:r>
              <a:rPr dirty="0" sz="1800" spc="85" b="0">
                <a:solidFill>
                  <a:srgbClr val="1A1A1A"/>
                </a:solidFill>
                <a:latin typeface="Times New Roman"/>
                <a:cs typeface="Times New Roman"/>
              </a:rPr>
              <a:t>No</a:t>
            </a:r>
            <a:r>
              <a:rPr dirty="0" sz="1800" spc="-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 b="0">
                <a:solidFill>
                  <a:srgbClr val="1A1A1A"/>
                </a:solidFill>
                <a:latin typeface="Times New Roman"/>
                <a:cs typeface="Times New Roman"/>
              </a:rPr>
              <a:t>video</a:t>
            </a:r>
            <a:r>
              <a:rPr dirty="0" sz="1800" spc="-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 b="0">
                <a:solidFill>
                  <a:srgbClr val="1A1A1A"/>
                </a:solidFill>
                <a:latin typeface="Times New Roman"/>
                <a:cs typeface="Times New Roman"/>
              </a:rPr>
              <a:t>interview</a:t>
            </a:r>
            <a:r>
              <a:rPr dirty="0" sz="1800" spc="-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5" b="0">
                <a:solidFill>
                  <a:srgbClr val="1A1A1A"/>
                </a:solidFill>
                <a:latin typeface="Times New Roman"/>
                <a:cs typeface="Times New Roman"/>
              </a:rPr>
              <a:t>capability</a:t>
            </a:r>
            <a:endParaRPr sz="1800">
              <a:latin typeface="Times New Roman"/>
              <a:cs typeface="Times New Roman"/>
            </a:endParaRPr>
          </a:p>
          <a:p>
            <a:pPr marL="414020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414020" algn="l"/>
              </a:tabLst>
            </a:pPr>
            <a:r>
              <a:rPr dirty="0" sz="1800" spc="85" b="0">
                <a:solidFill>
                  <a:srgbClr val="1A1A1A"/>
                </a:solidFill>
                <a:latin typeface="Times New Roman"/>
                <a:cs typeface="Times New Roman"/>
              </a:rPr>
              <a:t>No</a:t>
            </a:r>
            <a:r>
              <a:rPr dirty="0" sz="1800" spc="-1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50" b="0">
                <a:solidFill>
                  <a:srgbClr val="1A1A1A"/>
                </a:solidFill>
                <a:latin typeface="Times New Roman"/>
                <a:cs typeface="Times New Roman"/>
              </a:rPr>
              <a:t>resume</a:t>
            </a:r>
            <a:r>
              <a:rPr dirty="0" sz="1800" spc="-1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 b="0">
                <a:solidFill>
                  <a:srgbClr val="1A1A1A"/>
                </a:solidFill>
                <a:latin typeface="Times New Roman"/>
                <a:cs typeface="Times New Roman"/>
              </a:rPr>
              <a:t>parsing</a:t>
            </a:r>
            <a:r>
              <a:rPr dirty="0" sz="1800" spc="-1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 b="0">
                <a:solidFill>
                  <a:srgbClr val="1A1A1A"/>
                </a:solidFill>
                <a:latin typeface="Times New Roman"/>
                <a:cs typeface="Times New Roman"/>
              </a:rPr>
              <a:t>feature</a:t>
            </a:r>
            <a:endParaRPr sz="1800">
              <a:latin typeface="Times New Roman"/>
              <a:cs typeface="Times New Roman"/>
            </a:endParaRPr>
          </a:p>
          <a:p>
            <a:pPr marL="414020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414020" algn="l"/>
              </a:tabLst>
            </a:pPr>
            <a:r>
              <a:rPr dirty="0" sz="1800" spc="60" b="0">
                <a:solidFill>
                  <a:srgbClr val="1A1A1A"/>
                </a:solidFill>
                <a:latin typeface="Times New Roman"/>
                <a:cs typeface="Times New Roman"/>
              </a:rPr>
              <a:t>Data</a:t>
            </a:r>
            <a:r>
              <a:rPr dirty="0" sz="1800" spc="-10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5" b="0">
                <a:solidFill>
                  <a:srgbClr val="1A1A1A"/>
                </a:solidFill>
                <a:latin typeface="Times New Roman"/>
                <a:cs typeface="Times New Roman"/>
              </a:rPr>
              <a:t>cleared</a:t>
            </a:r>
            <a:r>
              <a:rPr dirty="0" sz="1800" spc="-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60" b="0">
                <a:solidFill>
                  <a:srgbClr val="1A1A1A"/>
                </a:solidFill>
                <a:latin typeface="Times New Roman"/>
                <a:cs typeface="Times New Roman"/>
              </a:rPr>
              <a:t>on</a:t>
            </a:r>
            <a:r>
              <a:rPr dirty="0" sz="1800" spc="-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5" b="0">
                <a:solidFill>
                  <a:srgbClr val="1A1A1A"/>
                </a:solidFill>
                <a:latin typeface="Times New Roman"/>
                <a:cs typeface="Times New Roman"/>
              </a:rPr>
              <a:t>page</a:t>
            </a:r>
            <a:r>
              <a:rPr dirty="0" sz="1800" spc="-5" b="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 b="0">
                <a:solidFill>
                  <a:srgbClr val="1A1A1A"/>
                </a:solidFill>
                <a:latin typeface="Times New Roman"/>
                <a:cs typeface="Times New Roman"/>
              </a:rPr>
              <a:t>refresh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57078" y="9713603"/>
            <a:ext cx="16570325" cy="14604"/>
          </a:xfrm>
          <a:custGeom>
            <a:avLst/>
            <a:gdLst/>
            <a:ahLst/>
            <a:cxnLst/>
            <a:rect l="l" t="t" r="r" b="b"/>
            <a:pathLst>
              <a:path w="16570325" h="14604">
                <a:moveTo>
                  <a:pt x="16570262" y="14287"/>
                </a:moveTo>
                <a:lnTo>
                  <a:pt x="0" y="14287"/>
                </a:lnTo>
                <a:lnTo>
                  <a:pt x="0" y="0"/>
                </a:lnTo>
                <a:lnTo>
                  <a:pt x="16570262" y="0"/>
                </a:lnTo>
                <a:lnTo>
                  <a:pt x="16570262" y="14287"/>
                </a:lnTo>
                <a:close/>
              </a:path>
            </a:pathLst>
          </a:custGeom>
          <a:solidFill>
            <a:srgbClr val="E9E9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7496431" y="9879416"/>
            <a:ext cx="229870" cy="215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z="1350" spc="95">
                <a:solidFill>
                  <a:srgbClr val="6A8E7B"/>
                </a:solidFill>
                <a:latin typeface="Times New Roman"/>
                <a:cs typeface="Times New Roman"/>
              </a:rPr>
              <a:t>03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378" y="168370"/>
            <a:ext cx="738378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8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-65" b="1">
                <a:solidFill>
                  <a:srgbClr val="C7913A"/>
                </a:solidFill>
                <a:latin typeface="Times New Roman"/>
                <a:cs typeface="Times New Roman"/>
              </a:rPr>
              <a:t>SYSTEM</a:t>
            </a:r>
            <a:r>
              <a:rPr dirty="0" sz="1350" spc="20" b="1">
                <a:solidFill>
                  <a:srgbClr val="C7913A"/>
                </a:solidFill>
                <a:latin typeface="Times New Roman"/>
                <a:cs typeface="Times New Roman"/>
              </a:rPr>
              <a:t> </a:t>
            </a:r>
            <a:r>
              <a:rPr dirty="0" sz="1350" spc="-25" b="1">
                <a:solidFill>
                  <a:srgbClr val="C7913A"/>
                </a:solidFill>
                <a:latin typeface="Times New Roman"/>
                <a:cs typeface="Times New Roman"/>
              </a:rPr>
              <a:t>DESIGN</a:t>
            </a:r>
            <a:r>
              <a:rPr dirty="0" sz="1350" spc="20" b="1">
                <a:solidFill>
                  <a:srgbClr val="C7913A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85">
                <a:solidFill>
                  <a:srgbClr val="FFFFFF"/>
                </a:solidFill>
                <a:latin typeface="Times New Roman"/>
                <a:cs typeface="Times New Roman"/>
              </a:rPr>
              <a:t>Implementation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75">
                <a:solidFill>
                  <a:srgbClr val="FFFFFF"/>
                </a:solidFill>
                <a:latin typeface="Times New Roman"/>
                <a:cs typeface="Times New Roman"/>
              </a:rPr>
              <a:t>Workflow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45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5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70"/>
              <a:t>System</a:t>
            </a:r>
            <a:r>
              <a:rPr dirty="0" spc="-30"/>
              <a:t> </a:t>
            </a:r>
            <a:r>
              <a:rPr dirty="0" spc="130"/>
              <a:t>Design</a:t>
            </a:r>
            <a:r>
              <a:rPr dirty="0" spc="-30"/>
              <a:t> </a:t>
            </a:r>
            <a:r>
              <a:rPr dirty="0" spc="-330"/>
              <a:t>&amp;</a:t>
            </a:r>
            <a:r>
              <a:rPr dirty="0" spc="-30"/>
              <a:t> </a:t>
            </a:r>
            <a:r>
              <a:rPr dirty="0" spc="90"/>
              <a:t>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857078" y="1399898"/>
            <a:ext cx="857250" cy="43180"/>
          </a:xfrm>
          <a:custGeom>
            <a:avLst/>
            <a:gdLst/>
            <a:ahLst/>
            <a:cxnLst/>
            <a:rect l="l" t="t" r="r" b="b"/>
            <a:pathLst>
              <a:path w="857250" h="43180">
                <a:moveTo>
                  <a:pt x="857059" y="42852"/>
                </a:moveTo>
                <a:lnTo>
                  <a:pt x="0" y="42852"/>
                </a:lnTo>
                <a:lnTo>
                  <a:pt x="0" y="0"/>
                </a:lnTo>
                <a:lnTo>
                  <a:pt x="857059" y="0"/>
                </a:lnTo>
                <a:lnTo>
                  <a:pt x="857059" y="42852"/>
                </a:lnTo>
                <a:close/>
              </a:path>
            </a:pathLst>
          </a:custGeom>
          <a:solidFill>
            <a:srgbClr val="C791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44378" y="1663461"/>
            <a:ext cx="4937125" cy="4025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160" b="1">
                <a:solidFill>
                  <a:srgbClr val="6A8E7B"/>
                </a:solidFill>
                <a:latin typeface="Times New Roman"/>
                <a:cs typeface="Times New Roman"/>
              </a:rPr>
              <a:t>Two-</a:t>
            </a:r>
            <a:r>
              <a:rPr dirty="0" sz="2450" b="1">
                <a:solidFill>
                  <a:srgbClr val="6A8E7B"/>
                </a:solidFill>
                <a:latin typeface="Times New Roman"/>
                <a:cs typeface="Times New Roman"/>
              </a:rPr>
              <a:t>Layer</a:t>
            </a:r>
            <a:r>
              <a:rPr dirty="0" sz="2450" spc="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90" b="1">
                <a:solidFill>
                  <a:srgbClr val="6A8E7B"/>
                </a:solidFill>
                <a:latin typeface="Times New Roman"/>
                <a:cs typeface="Times New Roman"/>
              </a:rPr>
              <a:t>Frontend</a:t>
            </a:r>
            <a:r>
              <a:rPr dirty="0" sz="2450" spc="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65" b="1">
                <a:solidFill>
                  <a:srgbClr val="6A8E7B"/>
                </a:solidFill>
                <a:latin typeface="Times New Roman"/>
                <a:cs typeface="Times New Roman"/>
              </a:rPr>
              <a:t>Architecture</a:t>
            </a:r>
            <a:endParaRPr sz="24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49944" y="2249843"/>
            <a:ext cx="7728584" cy="2871470"/>
            <a:chOff x="849944" y="2249843"/>
            <a:chExt cx="7728584" cy="2871470"/>
          </a:xfrm>
        </p:grpSpPr>
        <p:sp>
          <p:nvSpPr>
            <p:cNvPr id="7" name="object 7"/>
            <p:cNvSpPr/>
            <p:nvPr/>
          </p:nvSpPr>
          <p:spPr>
            <a:xfrm>
              <a:off x="857088" y="2256986"/>
              <a:ext cx="7713980" cy="2857500"/>
            </a:xfrm>
            <a:custGeom>
              <a:avLst/>
              <a:gdLst/>
              <a:ahLst/>
              <a:cxnLst/>
              <a:rect l="l" t="t" r="r" b="b"/>
              <a:pathLst>
                <a:path w="7713980" h="2857500">
                  <a:moveTo>
                    <a:pt x="7713725" y="2856928"/>
                  </a:moveTo>
                  <a:lnTo>
                    <a:pt x="0" y="2856928"/>
                  </a:lnTo>
                  <a:lnTo>
                    <a:pt x="0" y="0"/>
                  </a:lnTo>
                  <a:lnTo>
                    <a:pt x="7713725" y="0"/>
                  </a:lnTo>
                  <a:lnTo>
                    <a:pt x="7713725" y="28569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49944" y="2249843"/>
              <a:ext cx="7728584" cy="2871470"/>
            </a:xfrm>
            <a:custGeom>
              <a:avLst/>
              <a:gdLst/>
              <a:ahLst/>
              <a:cxnLst/>
              <a:rect l="l" t="t" r="r" b="b"/>
              <a:pathLst>
                <a:path w="7728584" h="2871470">
                  <a:moveTo>
                    <a:pt x="7724774" y="2871225"/>
                  </a:moveTo>
                  <a:lnTo>
                    <a:pt x="3238" y="2871225"/>
                  </a:lnTo>
                  <a:lnTo>
                    <a:pt x="0" y="2867977"/>
                  </a:lnTo>
                  <a:lnTo>
                    <a:pt x="0" y="3238"/>
                  </a:lnTo>
                  <a:lnTo>
                    <a:pt x="3238" y="0"/>
                  </a:lnTo>
                  <a:lnTo>
                    <a:pt x="7724774" y="0"/>
                  </a:lnTo>
                  <a:lnTo>
                    <a:pt x="7728012" y="3238"/>
                  </a:lnTo>
                  <a:lnTo>
                    <a:pt x="7728012" y="7143"/>
                  </a:lnTo>
                  <a:lnTo>
                    <a:pt x="7143" y="7143"/>
                  </a:lnTo>
                  <a:lnTo>
                    <a:pt x="7143" y="14287"/>
                  </a:lnTo>
                  <a:lnTo>
                    <a:pt x="14287" y="14287"/>
                  </a:lnTo>
                  <a:lnTo>
                    <a:pt x="14287" y="2856928"/>
                  </a:lnTo>
                  <a:lnTo>
                    <a:pt x="7143" y="2856928"/>
                  </a:lnTo>
                  <a:lnTo>
                    <a:pt x="7143" y="2864072"/>
                  </a:lnTo>
                  <a:lnTo>
                    <a:pt x="7728012" y="2864072"/>
                  </a:lnTo>
                  <a:lnTo>
                    <a:pt x="7728012" y="2867977"/>
                  </a:lnTo>
                  <a:lnTo>
                    <a:pt x="7724774" y="2871225"/>
                  </a:lnTo>
                  <a:close/>
                </a:path>
                <a:path w="7728584" h="2871470">
                  <a:moveTo>
                    <a:pt x="14287" y="14287"/>
                  </a:moveTo>
                  <a:lnTo>
                    <a:pt x="7143" y="14287"/>
                  </a:lnTo>
                  <a:lnTo>
                    <a:pt x="7143" y="7143"/>
                  </a:lnTo>
                  <a:lnTo>
                    <a:pt x="14287" y="7143"/>
                  </a:lnTo>
                  <a:lnTo>
                    <a:pt x="14287" y="14287"/>
                  </a:lnTo>
                  <a:close/>
                </a:path>
                <a:path w="7728584" h="2871470">
                  <a:moveTo>
                    <a:pt x="7713725" y="14287"/>
                  </a:moveTo>
                  <a:lnTo>
                    <a:pt x="14287" y="14287"/>
                  </a:lnTo>
                  <a:lnTo>
                    <a:pt x="14287" y="7143"/>
                  </a:lnTo>
                  <a:lnTo>
                    <a:pt x="7713725" y="7143"/>
                  </a:lnTo>
                  <a:lnTo>
                    <a:pt x="7713725" y="14287"/>
                  </a:lnTo>
                  <a:close/>
                </a:path>
                <a:path w="7728584" h="2871470">
                  <a:moveTo>
                    <a:pt x="7720869" y="2864072"/>
                  </a:moveTo>
                  <a:lnTo>
                    <a:pt x="7713725" y="2864072"/>
                  </a:lnTo>
                  <a:lnTo>
                    <a:pt x="7713725" y="7143"/>
                  </a:lnTo>
                  <a:lnTo>
                    <a:pt x="7720869" y="7143"/>
                  </a:lnTo>
                  <a:lnTo>
                    <a:pt x="7720869" y="14287"/>
                  </a:lnTo>
                  <a:lnTo>
                    <a:pt x="7728012" y="14287"/>
                  </a:lnTo>
                  <a:lnTo>
                    <a:pt x="7728012" y="2856928"/>
                  </a:lnTo>
                  <a:lnTo>
                    <a:pt x="7720869" y="2856928"/>
                  </a:lnTo>
                  <a:lnTo>
                    <a:pt x="7720869" y="2864072"/>
                  </a:lnTo>
                  <a:close/>
                </a:path>
                <a:path w="7728584" h="2871470">
                  <a:moveTo>
                    <a:pt x="7728012" y="14287"/>
                  </a:moveTo>
                  <a:lnTo>
                    <a:pt x="7720869" y="14287"/>
                  </a:lnTo>
                  <a:lnTo>
                    <a:pt x="7720869" y="7143"/>
                  </a:lnTo>
                  <a:lnTo>
                    <a:pt x="7728012" y="7143"/>
                  </a:lnTo>
                  <a:lnTo>
                    <a:pt x="7728012" y="14287"/>
                  </a:lnTo>
                  <a:close/>
                </a:path>
                <a:path w="7728584" h="2871470">
                  <a:moveTo>
                    <a:pt x="14287" y="2864072"/>
                  </a:moveTo>
                  <a:lnTo>
                    <a:pt x="7143" y="2864072"/>
                  </a:lnTo>
                  <a:lnTo>
                    <a:pt x="7143" y="2856928"/>
                  </a:lnTo>
                  <a:lnTo>
                    <a:pt x="14287" y="2856928"/>
                  </a:lnTo>
                  <a:lnTo>
                    <a:pt x="14287" y="2864072"/>
                  </a:lnTo>
                  <a:close/>
                </a:path>
                <a:path w="7728584" h="2871470">
                  <a:moveTo>
                    <a:pt x="7713725" y="2864072"/>
                  </a:moveTo>
                  <a:lnTo>
                    <a:pt x="14287" y="2864072"/>
                  </a:lnTo>
                  <a:lnTo>
                    <a:pt x="14287" y="2856928"/>
                  </a:lnTo>
                  <a:lnTo>
                    <a:pt x="7713725" y="2856928"/>
                  </a:lnTo>
                  <a:lnTo>
                    <a:pt x="7713725" y="2864072"/>
                  </a:lnTo>
                  <a:close/>
                </a:path>
                <a:path w="7728584" h="2871470">
                  <a:moveTo>
                    <a:pt x="7728012" y="2864072"/>
                  </a:moveTo>
                  <a:lnTo>
                    <a:pt x="7720869" y="2864072"/>
                  </a:lnTo>
                  <a:lnTo>
                    <a:pt x="7720869" y="2856928"/>
                  </a:lnTo>
                  <a:lnTo>
                    <a:pt x="7728012" y="2856928"/>
                  </a:lnTo>
                  <a:lnTo>
                    <a:pt x="7728012" y="2864072"/>
                  </a:lnTo>
                  <a:close/>
                </a:path>
              </a:pathLst>
            </a:custGeom>
            <a:solidFill>
              <a:srgbClr val="E9E9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30080" y="2406278"/>
            <a:ext cx="1014094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20" b="1">
                <a:solidFill>
                  <a:srgbClr val="1B4D4D"/>
                </a:solidFill>
                <a:latin typeface="Times New Roman"/>
                <a:cs typeface="Times New Roman"/>
              </a:rPr>
              <a:t>BROWSER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2780" y="2856938"/>
            <a:ext cx="7141209" cy="857250"/>
          </a:xfrm>
          <a:prstGeom prst="rect">
            <a:avLst/>
          </a:prstGeom>
          <a:solidFill>
            <a:srgbClr val="1B4D4D"/>
          </a:solidFill>
        </p:spPr>
        <p:txBody>
          <a:bodyPr wrap="square" lIns="0" tIns="9334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735"/>
              </a:spcBef>
            </a:pPr>
            <a:r>
              <a:rPr dirty="0" sz="1800" spc="55" b="1">
                <a:solidFill>
                  <a:srgbClr val="FFFFFF"/>
                </a:solidFill>
                <a:latin typeface="Times New Roman"/>
                <a:cs typeface="Times New Roman"/>
              </a:rPr>
              <a:t>Presentation</a:t>
            </a:r>
            <a:r>
              <a:rPr dirty="0" sz="1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  <a:spcBef>
                <a:spcPts val="640"/>
              </a:spcBef>
            </a:pP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HTML5</a:t>
            </a:r>
            <a:r>
              <a:rPr dirty="0" sz="155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-10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155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CSS3</a:t>
            </a:r>
            <a:r>
              <a:rPr dirty="0" sz="155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-10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155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FFFFFF"/>
                </a:solidFill>
                <a:latin typeface="Times New Roman"/>
                <a:cs typeface="Times New Roman"/>
              </a:rPr>
              <a:t>Bootstrap</a:t>
            </a:r>
            <a:r>
              <a:rPr dirty="0" sz="155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56826" y="3771165"/>
            <a:ext cx="28575" cy="285750"/>
          </a:xfrm>
          <a:custGeom>
            <a:avLst/>
            <a:gdLst/>
            <a:ahLst/>
            <a:cxnLst/>
            <a:rect l="l" t="t" r="r" b="b"/>
            <a:pathLst>
              <a:path w="28575" h="285750">
                <a:moveTo>
                  <a:pt x="28574" y="285654"/>
                </a:moveTo>
                <a:lnTo>
                  <a:pt x="0" y="285654"/>
                </a:lnTo>
                <a:lnTo>
                  <a:pt x="0" y="0"/>
                </a:lnTo>
                <a:lnTo>
                  <a:pt x="28574" y="0"/>
                </a:lnTo>
                <a:lnTo>
                  <a:pt x="28574" y="285654"/>
                </a:lnTo>
                <a:close/>
              </a:path>
            </a:pathLst>
          </a:custGeom>
          <a:solidFill>
            <a:srgbClr val="6A8E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42780" y="4113999"/>
            <a:ext cx="7141209" cy="857250"/>
          </a:xfrm>
          <a:prstGeom prst="rect">
            <a:avLst/>
          </a:prstGeom>
          <a:solidFill>
            <a:srgbClr val="6A8E7B"/>
          </a:solidFill>
        </p:spPr>
        <p:txBody>
          <a:bodyPr wrap="square" lIns="0" tIns="9334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735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Logic</a:t>
            </a:r>
            <a:r>
              <a:rPr dirty="0" sz="18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8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  <a:spcBef>
                <a:spcPts val="640"/>
              </a:spcBef>
            </a:pPr>
            <a:r>
              <a:rPr dirty="0" sz="1550" spc="55">
                <a:solidFill>
                  <a:srgbClr val="FFFFFF"/>
                </a:solidFill>
                <a:latin typeface="Times New Roman"/>
                <a:cs typeface="Times New Roman"/>
              </a:rPr>
              <a:t>JavaScript</a:t>
            </a:r>
            <a:r>
              <a:rPr dirty="0" sz="15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ES6</a:t>
            </a:r>
            <a:r>
              <a:rPr dirty="0" sz="15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-10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15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DOM</a:t>
            </a:r>
            <a:r>
              <a:rPr dirty="0" sz="155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-10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15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114">
                <a:solidFill>
                  <a:srgbClr val="FFFFFF"/>
                </a:solidFill>
                <a:latin typeface="Times New Roman"/>
                <a:cs typeface="Times New Roman"/>
              </a:rPr>
              <a:t>Form</a:t>
            </a:r>
            <a:r>
              <a:rPr dirty="0" sz="155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50">
                <a:solidFill>
                  <a:srgbClr val="FFFFFF"/>
                </a:solidFill>
                <a:latin typeface="Times New Roman"/>
                <a:cs typeface="Times New Roman"/>
              </a:rPr>
              <a:t>Validation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4378" y="5406091"/>
            <a:ext cx="6338570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80">
                <a:solidFill>
                  <a:srgbClr val="6A8E7B"/>
                </a:solidFill>
                <a:latin typeface="Times New Roman"/>
                <a:cs typeface="Times New Roman"/>
              </a:rPr>
              <a:t>Deployable</a:t>
            </a:r>
            <a:r>
              <a:rPr dirty="0" sz="1550" spc="4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55">
                <a:solidFill>
                  <a:srgbClr val="6A8E7B"/>
                </a:solidFill>
                <a:latin typeface="Times New Roman"/>
                <a:cs typeface="Times New Roman"/>
              </a:rPr>
              <a:t>on</a:t>
            </a:r>
            <a:r>
              <a:rPr dirty="0" sz="1550" spc="4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GitHub</a:t>
            </a:r>
            <a:r>
              <a:rPr dirty="0" sz="1550" spc="4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Pages,</a:t>
            </a:r>
            <a:r>
              <a:rPr dirty="0" sz="1550" spc="4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Netlify,</a:t>
            </a:r>
            <a:r>
              <a:rPr dirty="0" sz="1550" spc="4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30">
                <a:solidFill>
                  <a:srgbClr val="6A8E7B"/>
                </a:solidFill>
                <a:latin typeface="Times New Roman"/>
                <a:cs typeface="Times New Roman"/>
              </a:rPr>
              <a:t>or</a:t>
            </a:r>
            <a:r>
              <a:rPr dirty="0" sz="1550" spc="4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0">
                <a:solidFill>
                  <a:srgbClr val="6A8E7B"/>
                </a:solidFill>
                <a:latin typeface="Times New Roman"/>
                <a:cs typeface="Times New Roman"/>
              </a:rPr>
              <a:t>Vercel</a:t>
            </a:r>
            <a:r>
              <a:rPr dirty="0" sz="1550" spc="4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-330">
                <a:solidFill>
                  <a:srgbClr val="6A8E7B"/>
                </a:solidFill>
                <a:latin typeface="Times New Roman"/>
                <a:cs typeface="Times New Roman"/>
              </a:rPr>
              <a:t>—</a:t>
            </a:r>
            <a:r>
              <a:rPr dirty="0" sz="1550" spc="3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55">
                <a:solidFill>
                  <a:srgbClr val="6A8E7B"/>
                </a:solidFill>
                <a:latin typeface="Times New Roman"/>
                <a:cs typeface="Times New Roman"/>
              </a:rPr>
              <a:t>no</a:t>
            </a:r>
            <a:r>
              <a:rPr dirty="0" sz="1550" spc="4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20">
                <a:solidFill>
                  <a:srgbClr val="6A8E7B"/>
                </a:solidFill>
                <a:latin typeface="Times New Roman"/>
                <a:cs typeface="Times New Roman"/>
              </a:rPr>
              <a:t>backend</a:t>
            </a:r>
            <a:r>
              <a:rPr dirty="0" sz="1550" spc="4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10">
                <a:solidFill>
                  <a:srgbClr val="6A8E7B"/>
                </a:solidFill>
                <a:latin typeface="Times New Roman"/>
                <a:cs typeface="Times New Roman"/>
              </a:rPr>
              <a:t>required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15211" y="1663461"/>
            <a:ext cx="2929255" cy="4025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55" b="1">
                <a:solidFill>
                  <a:srgbClr val="6A8E7B"/>
                </a:solidFill>
                <a:latin typeface="Times New Roman"/>
                <a:cs typeface="Times New Roman"/>
              </a:rPr>
              <a:t>Three</a:t>
            </a:r>
            <a:r>
              <a:rPr dirty="0" sz="2450" spc="-10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65" b="1">
                <a:solidFill>
                  <a:srgbClr val="6A8E7B"/>
                </a:solidFill>
                <a:latin typeface="Times New Roman"/>
                <a:cs typeface="Times New Roman"/>
              </a:rPr>
              <a:t>User</a:t>
            </a:r>
            <a:r>
              <a:rPr dirty="0" sz="2450" spc="-10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105" b="1">
                <a:solidFill>
                  <a:srgbClr val="6A8E7B"/>
                </a:solidFill>
                <a:latin typeface="Times New Roman"/>
                <a:cs typeface="Times New Roman"/>
              </a:rPr>
              <a:t>Modules</a:t>
            </a:r>
            <a:endParaRPr sz="24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427911" y="2256986"/>
            <a:ext cx="7997825" cy="1571625"/>
            <a:chOff x="9427911" y="2256986"/>
            <a:chExt cx="7997825" cy="1571625"/>
          </a:xfrm>
        </p:grpSpPr>
        <p:sp>
          <p:nvSpPr>
            <p:cNvPr id="16" name="object 16"/>
            <p:cNvSpPr/>
            <p:nvPr/>
          </p:nvSpPr>
          <p:spPr>
            <a:xfrm>
              <a:off x="9427911" y="2256986"/>
              <a:ext cx="7997825" cy="1571625"/>
            </a:xfrm>
            <a:custGeom>
              <a:avLst/>
              <a:gdLst/>
              <a:ahLst/>
              <a:cxnLst/>
              <a:rect l="l" t="t" r="r" b="b"/>
              <a:pathLst>
                <a:path w="7997825" h="1571625">
                  <a:moveTo>
                    <a:pt x="7997774" y="1571320"/>
                  </a:moveTo>
                  <a:lnTo>
                    <a:pt x="0" y="1571320"/>
                  </a:lnTo>
                  <a:lnTo>
                    <a:pt x="0" y="0"/>
                  </a:lnTo>
                  <a:lnTo>
                    <a:pt x="7997774" y="0"/>
                  </a:lnTo>
                  <a:lnTo>
                    <a:pt x="7997774" y="15713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685032" y="2571260"/>
              <a:ext cx="514350" cy="400050"/>
            </a:xfrm>
            <a:custGeom>
              <a:avLst/>
              <a:gdLst/>
              <a:ahLst/>
              <a:cxnLst/>
              <a:rect l="l" t="t" r="r" b="b"/>
              <a:pathLst>
                <a:path w="514350" h="400050">
                  <a:moveTo>
                    <a:pt x="21434" y="400038"/>
                  </a:moveTo>
                  <a:lnTo>
                    <a:pt x="13061" y="398363"/>
                  </a:lnTo>
                  <a:lnTo>
                    <a:pt x="6251" y="393785"/>
                  </a:lnTo>
                  <a:lnTo>
                    <a:pt x="1674" y="386975"/>
                  </a:lnTo>
                  <a:lnTo>
                    <a:pt x="0" y="378602"/>
                  </a:lnTo>
                  <a:lnTo>
                    <a:pt x="0" y="105654"/>
                  </a:lnTo>
                  <a:lnTo>
                    <a:pt x="5144" y="97842"/>
                  </a:lnTo>
                  <a:lnTo>
                    <a:pt x="13242" y="94602"/>
                  </a:lnTo>
                  <a:lnTo>
                    <a:pt x="229592" y="5430"/>
                  </a:lnTo>
                  <a:lnTo>
                    <a:pt x="236251" y="3094"/>
                  </a:lnTo>
                  <a:lnTo>
                    <a:pt x="243072" y="1393"/>
                  </a:lnTo>
                  <a:lnTo>
                    <a:pt x="250035" y="352"/>
                  </a:lnTo>
                  <a:lnTo>
                    <a:pt x="257123" y="0"/>
                  </a:lnTo>
                  <a:lnTo>
                    <a:pt x="264212" y="352"/>
                  </a:lnTo>
                  <a:lnTo>
                    <a:pt x="271175" y="1393"/>
                  </a:lnTo>
                  <a:lnTo>
                    <a:pt x="277996" y="3094"/>
                  </a:lnTo>
                  <a:lnTo>
                    <a:pt x="284655" y="5430"/>
                  </a:lnTo>
                  <a:lnTo>
                    <a:pt x="508967" y="97842"/>
                  </a:lnTo>
                  <a:lnTo>
                    <a:pt x="509135" y="97842"/>
                  </a:lnTo>
                  <a:lnTo>
                    <a:pt x="514343" y="105654"/>
                  </a:lnTo>
                  <a:lnTo>
                    <a:pt x="514343" y="122993"/>
                  </a:lnTo>
                  <a:lnTo>
                    <a:pt x="509103" y="130710"/>
                  </a:lnTo>
                  <a:lnTo>
                    <a:pt x="471483" y="146239"/>
                  </a:lnTo>
                  <a:lnTo>
                    <a:pt x="42869" y="146239"/>
                  </a:lnTo>
                  <a:lnTo>
                    <a:pt x="42869" y="378602"/>
                  </a:lnTo>
                  <a:lnTo>
                    <a:pt x="41195" y="386975"/>
                  </a:lnTo>
                  <a:lnTo>
                    <a:pt x="36618" y="393785"/>
                  </a:lnTo>
                  <a:lnTo>
                    <a:pt x="29807" y="398363"/>
                  </a:lnTo>
                  <a:lnTo>
                    <a:pt x="21434" y="400038"/>
                  </a:lnTo>
                  <a:close/>
                </a:path>
                <a:path w="514350" h="400050">
                  <a:moveTo>
                    <a:pt x="257219" y="228552"/>
                  </a:moveTo>
                  <a:lnTo>
                    <a:pt x="42869" y="146239"/>
                  </a:lnTo>
                  <a:lnTo>
                    <a:pt x="471483" y="146239"/>
                  </a:lnTo>
                  <a:lnTo>
                    <a:pt x="284751" y="223121"/>
                  </a:lnTo>
                  <a:lnTo>
                    <a:pt x="257219" y="228552"/>
                  </a:lnTo>
                  <a:close/>
                </a:path>
                <a:path w="514350" h="400050">
                  <a:moveTo>
                    <a:pt x="257219" y="400038"/>
                  </a:moveTo>
                  <a:lnTo>
                    <a:pt x="190476" y="393299"/>
                  </a:lnTo>
                  <a:lnTo>
                    <a:pt x="135968" y="374922"/>
                  </a:lnTo>
                  <a:lnTo>
                    <a:pt x="99216" y="347667"/>
                  </a:lnTo>
                  <a:lnTo>
                    <a:pt x="85739" y="314295"/>
                  </a:lnTo>
                  <a:lnTo>
                    <a:pt x="85739" y="210165"/>
                  </a:lnTo>
                  <a:lnTo>
                    <a:pt x="213396" y="262754"/>
                  </a:lnTo>
                  <a:lnTo>
                    <a:pt x="223995" y="266520"/>
                  </a:lnTo>
                  <a:lnTo>
                    <a:pt x="234879" y="269232"/>
                  </a:lnTo>
                  <a:lnTo>
                    <a:pt x="245977" y="270872"/>
                  </a:lnTo>
                  <a:lnTo>
                    <a:pt x="257219" y="271423"/>
                  </a:lnTo>
                  <a:lnTo>
                    <a:pt x="428698" y="271423"/>
                  </a:lnTo>
                  <a:lnTo>
                    <a:pt x="428698" y="314295"/>
                  </a:lnTo>
                  <a:lnTo>
                    <a:pt x="415221" y="347667"/>
                  </a:lnTo>
                  <a:lnTo>
                    <a:pt x="378469" y="374922"/>
                  </a:lnTo>
                  <a:lnTo>
                    <a:pt x="323962" y="393299"/>
                  </a:lnTo>
                  <a:lnTo>
                    <a:pt x="257219" y="400038"/>
                  </a:lnTo>
                  <a:close/>
                </a:path>
                <a:path w="514350" h="400050">
                  <a:moveTo>
                    <a:pt x="428698" y="271423"/>
                  </a:moveTo>
                  <a:lnTo>
                    <a:pt x="257219" y="271423"/>
                  </a:lnTo>
                  <a:lnTo>
                    <a:pt x="268460" y="270872"/>
                  </a:lnTo>
                  <a:lnTo>
                    <a:pt x="279559" y="269232"/>
                  </a:lnTo>
                  <a:lnTo>
                    <a:pt x="290443" y="266520"/>
                  </a:lnTo>
                  <a:lnTo>
                    <a:pt x="301041" y="262754"/>
                  </a:lnTo>
                  <a:lnTo>
                    <a:pt x="428698" y="210165"/>
                  </a:lnTo>
                  <a:lnTo>
                    <a:pt x="428698" y="271423"/>
                  </a:lnTo>
                  <a:close/>
                </a:path>
              </a:pathLst>
            </a:custGeom>
            <a:solidFill>
              <a:srgbClr val="1B4D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427911" y="2256986"/>
            <a:ext cx="7997825" cy="15716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1800">
              <a:latin typeface="Times New Roman"/>
              <a:cs typeface="Times New Roman"/>
            </a:endParaRPr>
          </a:p>
          <a:p>
            <a:pPr marL="942340">
              <a:lnSpc>
                <a:spcPct val="100000"/>
              </a:lnSpc>
              <a:spcBef>
                <a:spcPts val="5"/>
              </a:spcBef>
            </a:pP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Student</a:t>
            </a:r>
            <a:r>
              <a:rPr dirty="0" sz="1800" spc="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  <a:p>
            <a:pPr marL="942340" marR="566420">
              <a:lnSpc>
                <a:spcPct val="141100"/>
              </a:lnSpc>
              <a:spcBef>
                <a:spcPts val="100"/>
              </a:spcBef>
            </a:pP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Browse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0">
                <a:solidFill>
                  <a:srgbClr val="6A8E7B"/>
                </a:solidFill>
                <a:latin typeface="Times New Roman"/>
                <a:cs typeface="Times New Roman"/>
              </a:rPr>
              <a:t>active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6A8E7B"/>
                </a:solidFill>
                <a:latin typeface="Times New Roman"/>
                <a:cs typeface="Times New Roman"/>
              </a:rPr>
              <a:t>jobs,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6A8E7B"/>
                </a:solidFill>
                <a:latin typeface="Times New Roman"/>
                <a:cs typeface="Times New Roman"/>
              </a:rPr>
              <a:t>filter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by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25">
                <a:solidFill>
                  <a:srgbClr val="6A8E7B"/>
                </a:solidFill>
                <a:latin typeface="Times New Roman"/>
                <a:cs typeface="Times New Roman"/>
              </a:rPr>
              <a:t>company/branch/deadline,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65">
                <a:solidFill>
                  <a:srgbClr val="6A8E7B"/>
                </a:solidFill>
                <a:latin typeface="Times New Roman"/>
                <a:cs typeface="Times New Roman"/>
              </a:rPr>
              <a:t>one-</a:t>
            </a:r>
            <a:r>
              <a:rPr dirty="0" sz="1550" spc="50">
                <a:solidFill>
                  <a:srgbClr val="6A8E7B"/>
                </a:solidFill>
                <a:latin typeface="Times New Roman"/>
                <a:cs typeface="Times New Roman"/>
              </a:rPr>
              <a:t>click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0">
                <a:solidFill>
                  <a:srgbClr val="6A8E7B"/>
                </a:solidFill>
                <a:latin typeface="Times New Roman"/>
                <a:cs typeface="Times New Roman"/>
              </a:rPr>
              <a:t>apply,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track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application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status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65">
                <a:solidFill>
                  <a:srgbClr val="6A8E7B"/>
                </a:solidFill>
                <a:latin typeface="Times New Roman"/>
                <a:cs typeface="Times New Roman"/>
              </a:rPr>
              <a:t>(Pending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254">
                <a:solidFill>
                  <a:srgbClr val="6A8E7B"/>
                </a:solidFill>
                <a:latin typeface="Times New Roman"/>
                <a:cs typeface="Times New Roman"/>
              </a:rPr>
              <a:t>/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Shortlisted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254">
                <a:solidFill>
                  <a:srgbClr val="6A8E7B"/>
                </a:solidFill>
                <a:latin typeface="Times New Roman"/>
                <a:cs typeface="Times New Roman"/>
              </a:rPr>
              <a:t>/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0">
                <a:solidFill>
                  <a:srgbClr val="6A8E7B"/>
                </a:solidFill>
                <a:latin typeface="Times New Roman"/>
                <a:cs typeface="Times New Roman"/>
              </a:rPr>
              <a:t>Rejected)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427911" y="3971153"/>
            <a:ext cx="7997825" cy="1571625"/>
            <a:chOff x="9427911" y="3971153"/>
            <a:chExt cx="7997825" cy="1571625"/>
          </a:xfrm>
        </p:grpSpPr>
        <p:sp>
          <p:nvSpPr>
            <p:cNvPr id="20" name="object 20"/>
            <p:cNvSpPr/>
            <p:nvPr/>
          </p:nvSpPr>
          <p:spPr>
            <a:xfrm>
              <a:off x="9427911" y="3971153"/>
              <a:ext cx="7997825" cy="1571625"/>
            </a:xfrm>
            <a:custGeom>
              <a:avLst/>
              <a:gdLst/>
              <a:ahLst/>
              <a:cxnLst/>
              <a:rect l="l" t="t" r="r" b="b"/>
              <a:pathLst>
                <a:path w="7997825" h="1571625">
                  <a:moveTo>
                    <a:pt x="7997774" y="1571320"/>
                  </a:moveTo>
                  <a:lnTo>
                    <a:pt x="0" y="1571320"/>
                  </a:lnTo>
                  <a:lnTo>
                    <a:pt x="0" y="0"/>
                  </a:lnTo>
                  <a:lnTo>
                    <a:pt x="7997774" y="0"/>
                  </a:lnTo>
                  <a:lnTo>
                    <a:pt x="7997774" y="15713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770744" y="4256855"/>
              <a:ext cx="343535" cy="457200"/>
            </a:xfrm>
            <a:custGeom>
              <a:avLst/>
              <a:gdLst/>
              <a:ahLst/>
              <a:cxnLst/>
              <a:rect l="l" t="t" r="r" b="b"/>
              <a:pathLst>
                <a:path w="343534" h="457200">
                  <a:moveTo>
                    <a:pt x="285829" y="457182"/>
                  </a:moveTo>
                  <a:lnTo>
                    <a:pt x="57165" y="457182"/>
                  </a:lnTo>
                  <a:lnTo>
                    <a:pt x="34929" y="452685"/>
                  </a:lnTo>
                  <a:lnTo>
                    <a:pt x="16756" y="440427"/>
                  </a:lnTo>
                  <a:lnTo>
                    <a:pt x="4497" y="422256"/>
                  </a:lnTo>
                  <a:lnTo>
                    <a:pt x="0" y="400022"/>
                  </a:lnTo>
                  <a:lnTo>
                    <a:pt x="0" y="57159"/>
                  </a:lnTo>
                  <a:lnTo>
                    <a:pt x="4497" y="34925"/>
                  </a:lnTo>
                  <a:lnTo>
                    <a:pt x="16756" y="16754"/>
                  </a:lnTo>
                  <a:lnTo>
                    <a:pt x="34929" y="4496"/>
                  </a:lnTo>
                  <a:lnTo>
                    <a:pt x="57165" y="0"/>
                  </a:lnTo>
                  <a:lnTo>
                    <a:pt x="285829" y="0"/>
                  </a:lnTo>
                  <a:lnTo>
                    <a:pt x="308066" y="4496"/>
                  </a:lnTo>
                  <a:lnTo>
                    <a:pt x="326238" y="16754"/>
                  </a:lnTo>
                  <a:lnTo>
                    <a:pt x="338497" y="34925"/>
                  </a:lnTo>
                  <a:lnTo>
                    <a:pt x="342995" y="57159"/>
                  </a:lnTo>
                  <a:lnTo>
                    <a:pt x="342995" y="85739"/>
                  </a:lnTo>
                  <a:lnTo>
                    <a:pt x="92132" y="85739"/>
                  </a:lnTo>
                  <a:lnTo>
                    <a:pt x="85748" y="92122"/>
                  </a:lnTo>
                  <a:lnTo>
                    <a:pt x="85748" y="136421"/>
                  </a:lnTo>
                  <a:lnTo>
                    <a:pt x="92132" y="142899"/>
                  </a:lnTo>
                  <a:lnTo>
                    <a:pt x="342995" y="142899"/>
                  </a:lnTo>
                  <a:lnTo>
                    <a:pt x="342995" y="200058"/>
                  </a:lnTo>
                  <a:lnTo>
                    <a:pt x="92132" y="200058"/>
                  </a:lnTo>
                  <a:lnTo>
                    <a:pt x="85842" y="206441"/>
                  </a:lnTo>
                  <a:lnTo>
                    <a:pt x="85748" y="250740"/>
                  </a:lnTo>
                  <a:lnTo>
                    <a:pt x="92227" y="257218"/>
                  </a:lnTo>
                  <a:lnTo>
                    <a:pt x="342995" y="257218"/>
                  </a:lnTo>
                  <a:lnTo>
                    <a:pt x="342995" y="314282"/>
                  </a:lnTo>
                  <a:lnTo>
                    <a:pt x="157206" y="314282"/>
                  </a:lnTo>
                  <a:lnTo>
                    <a:pt x="146067" y="316524"/>
                  </a:lnTo>
                  <a:lnTo>
                    <a:pt x="136983" y="322642"/>
                  </a:lnTo>
                  <a:lnTo>
                    <a:pt x="130865" y="331725"/>
                  </a:lnTo>
                  <a:lnTo>
                    <a:pt x="128623" y="342862"/>
                  </a:lnTo>
                  <a:lnTo>
                    <a:pt x="128623" y="414312"/>
                  </a:lnTo>
                  <a:lnTo>
                    <a:pt x="340104" y="414312"/>
                  </a:lnTo>
                  <a:lnTo>
                    <a:pt x="338497" y="422256"/>
                  </a:lnTo>
                  <a:lnTo>
                    <a:pt x="326238" y="440427"/>
                  </a:lnTo>
                  <a:lnTo>
                    <a:pt x="308066" y="452685"/>
                  </a:lnTo>
                  <a:lnTo>
                    <a:pt x="285829" y="457182"/>
                  </a:lnTo>
                  <a:close/>
                </a:path>
                <a:path w="343534" h="457200">
                  <a:moveTo>
                    <a:pt x="206559" y="142899"/>
                  </a:moveTo>
                  <a:lnTo>
                    <a:pt x="136531" y="142899"/>
                  </a:lnTo>
                  <a:lnTo>
                    <a:pt x="142914" y="136421"/>
                  </a:lnTo>
                  <a:lnTo>
                    <a:pt x="142914" y="92122"/>
                  </a:lnTo>
                  <a:lnTo>
                    <a:pt x="136435" y="85739"/>
                  </a:lnTo>
                  <a:lnTo>
                    <a:pt x="206464" y="85739"/>
                  </a:lnTo>
                  <a:lnTo>
                    <a:pt x="200174" y="92122"/>
                  </a:lnTo>
                  <a:lnTo>
                    <a:pt x="200080" y="136421"/>
                  </a:lnTo>
                  <a:lnTo>
                    <a:pt x="206559" y="142899"/>
                  </a:lnTo>
                  <a:close/>
                </a:path>
                <a:path w="343534" h="457200">
                  <a:moveTo>
                    <a:pt x="342995" y="142899"/>
                  </a:moveTo>
                  <a:lnTo>
                    <a:pt x="250862" y="142899"/>
                  </a:lnTo>
                  <a:lnTo>
                    <a:pt x="257246" y="136421"/>
                  </a:lnTo>
                  <a:lnTo>
                    <a:pt x="257246" y="92122"/>
                  </a:lnTo>
                  <a:lnTo>
                    <a:pt x="250767" y="85739"/>
                  </a:lnTo>
                  <a:lnTo>
                    <a:pt x="342995" y="85739"/>
                  </a:lnTo>
                  <a:lnTo>
                    <a:pt x="342995" y="142899"/>
                  </a:lnTo>
                  <a:close/>
                </a:path>
                <a:path w="343534" h="457200">
                  <a:moveTo>
                    <a:pt x="206559" y="257218"/>
                  </a:moveTo>
                  <a:lnTo>
                    <a:pt x="136531" y="257218"/>
                  </a:lnTo>
                  <a:lnTo>
                    <a:pt x="142914" y="250740"/>
                  </a:lnTo>
                  <a:lnTo>
                    <a:pt x="142914" y="206441"/>
                  </a:lnTo>
                  <a:lnTo>
                    <a:pt x="136435" y="200058"/>
                  </a:lnTo>
                  <a:lnTo>
                    <a:pt x="206464" y="200058"/>
                  </a:lnTo>
                  <a:lnTo>
                    <a:pt x="200174" y="206441"/>
                  </a:lnTo>
                  <a:lnTo>
                    <a:pt x="200080" y="250740"/>
                  </a:lnTo>
                  <a:lnTo>
                    <a:pt x="206559" y="257218"/>
                  </a:lnTo>
                  <a:close/>
                </a:path>
                <a:path w="343534" h="457200">
                  <a:moveTo>
                    <a:pt x="342995" y="257218"/>
                  </a:moveTo>
                  <a:lnTo>
                    <a:pt x="250862" y="257218"/>
                  </a:lnTo>
                  <a:lnTo>
                    <a:pt x="257246" y="250740"/>
                  </a:lnTo>
                  <a:lnTo>
                    <a:pt x="257246" y="206441"/>
                  </a:lnTo>
                  <a:lnTo>
                    <a:pt x="250767" y="200058"/>
                  </a:lnTo>
                  <a:lnTo>
                    <a:pt x="342995" y="200058"/>
                  </a:lnTo>
                  <a:lnTo>
                    <a:pt x="342995" y="257218"/>
                  </a:lnTo>
                  <a:close/>
                </a:path>
                <a:path w="343534" h="457200">
                  <a:moveTo>
                    <a:pt x="340104" y="414312"/>
                  </a:moveTo>
                  <a:lnTo>
                    <a:pt x="214372" y="414312"/>
                  </a:lnTo>
                  <a:lnTo>
                    <a:pt x="214372" y="342862"/>
                  </a:lnTo>
                  <a:lnTo>
                    <a:pt x="212130" y="331725"/>
                  </a:lnTo>
                  <a:lnTo>
                    <a:pt x="206011" y="322642"/>
                  </a:lnTo>
                  <a:lnTo>
                    <a:pt x="196927" y="316524"/>
                  </a:lnTo>
                  <a:lnTo>
                    <a:pt x="185789" y="314282"/>
                  </a:lnTo>
                  <a:lnTo>
                    <a:pt x="342995" y="314282"/>
                  </a:lnTo>
                  <a:lnTo>
                    <a:pt x="342995" y="400022"/>
                  </a:lnTo>
                  <a:lnTo>
                    <a:pt x="340104" y="414312"/>
                  </a:lnTo>
                  <a:close/>
                </a:path>
              </a:pathLst>
            </a:custGeom>
            <a:solidFill>
              <a:srgbClr val="1B4D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427911" y="3971153"/>
            <a:ext cx="7997825" cy="15716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1800">
              <a:latin typeface="Times New Roman"/>
              <a:cs typeface="Times New Roman"/>
            </a:endParaRPr>
          </a:p>
          <a:p>
            <a:pPr marL="942340">
              <a:lnSpc>
                <a:spcPct val="100000"/>
              </a:lnSpc>
              <a:spcBef>
                <a:spcPts val="5"/>
              </a:spcBef>
            </a:pPr>
            <a:r>
              <a:rPr dirty="0" sz="1800" spc="85" b="1">
                <a:solidFill>
                  <a:srgbClr val="1A1A1A"/>
                </a:solidFill>
                <a:latin typeface="Times New Roman"/>
                <a:cs typeface="Times New Roman"/>
              </a:rPr>
              <a:t>Company</a:t>
            </a:r>
            <a:r>
              <a:rPr dirty="0" sz="1800" spc="-2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  <a:p>
            <a:pPr marL="942340" marR="1006475">
              <a:lnSpc>
                <a:spcPct val="141100"/>
              </a:lnSpc>
              <a:spcBef>
                <a:spcPts val="100"/>
              </a:spcBef>
            </a:pPr>
            <a:r>
              <a:rPr dirty="0" sz="1550" spc="70">
                <a:solidFill>
                  <a:srgbClr val="6A8E7B"/>
                </a:solidFill>
                <a:latin typeface="Times New Roman"/>
                <a:cs typeface="Times New Roman"/>
              </a:rPr>
              <a:t>Registration</a:t>
            </a:r>
            <a:r>
              <a:rPr dirty="0" sz="1550" spc="2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form,</a:t>
            </a:r>
            <a:r>
              <a:rPr dirty="0" sz="1550" spc="2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job</a:t>
            </a:r>
            <a:r>
              <a:rPr dirty="0" sz="1550" spc="3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posting</a:t>
            </a:r>
            <a:r>
              <a:rPr dirty="0" sz="1550" spc="2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interface</a:t>
            </a:r>
            <a:r>
              <a:rPr dirty="0" sz="1550" spc="3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(title,</a:t>
            </a:r>
            <a:r>
              <a:rPr dirty="0" sz="1550" spc="2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description,</a:t>
            </a:r>
            <a:r>
              <a:rPr dirty="0" sz="1550" spc="3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6A8E7B"/>
                </a:solidFill>
                <a:latin typeface="Times New Roman"/>
                <a:cs typeface="Times New Roman"/>
              </a:rPr>
              <a:t>eligibility, </a:t>
            </a:r>
            <a:r>
              <a:rPr dirty="0" sz="1550" spc="65">
                <a:solidFill>
                  <a:srgbClr val="6A8E7B"/>
                </a:solidFill>
                <a:latin typeface="Times New Roman"/>
                <a:cs typeface="Times New Roman"/>
              </a:rPr>
              <a:t>deadline),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applicant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0">
                <a:solidFill>
                  <a:srgbClr val="6A8E7B"/>
                </a:solidFill>
                <a:latin typeface="Times New Roman"/>
                <a:cs typeface="Times New Roman"/>
              </a:rPr>
              <a:t>listing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with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status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25">
                <a:solidFill>
                  <a:srgbClr val="6A8E7B"/>
                </a:solidFill>
                <a:latin typeface="Times New Roman"/>
                <a:cs typeface="Times New Roman"/>
              </a:rPr>
              <a:t>update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controls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427911" y="5685310"/>
            <a:ext cx="7997825" cy="1571625"/>
            <a:chOff x="9427911" y="5685310"/>
            <a:chExt cx="7997825" cy="1571625"/>
          </a:xfrm>
        </p:grpSpPr>
        <p:sp>
          <p:nvSpPr>
            <p:cNvPr id="24" name="object 24"/>
            <p:cNvSpPr/>
            <p:nvPr/>
          </p:nvSpPr>
          <p:spPr>
            <a:xfrm>
              <a:off x="9427911" y="5685310"/>
              <a:ext cx="7997825" cy="1571625"/>
            </a:xfrm>
            <a:custGeom>
              <a:avLst/>
              <a:gdLst/>
              <a:ahLst/>
              <a:cxnLst/>
              <a:rect l="l" t="t" r="r" b="b"/>
              <a:pathLst>
                <a:path w="7997825" h="1571625">
                  <a:moveTo>
                    <a:pt x="7997774" y="1571320"/>
                  </a:moveTo>
                  <a:lnTo>
                    <a:pt x="0" y="1571320"/>
                  </a:lnTo>
                  <a:lnTo>
                    <a:pt x="0" y="0"/>
                  </a:lnTo>
                  <a:lnTo>
                    <a:pt x="7997774" y="0"/>
                  </a:lnTo>
                  <a:lnTo>
                    <a:pt x="7997774" y="15713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699323" y="5978158"/>
              <a:ext cx="500380" cy="450215"/>
            </a:xfrm>
            <a:custGeom>
              <a:avLst/>
              <a:gdLst/>
              <a:ahLst/>
              <a:cxnLst/>
              <a:rect l="l" t="t" r="r" b="b"/>
              <a:pathLst>
                <a:path w="500379" h="450214">
                  <a:moveTo>
                    <a:pt x="185769" y="214357"/>
                  </a:moveTo>
                  <a:lnTo>
                    <a:pt x="144065" y="205930"/>
                  </a:lnTo>
                  <a:lnTo>
                    <a:pt x="109996" y="182953"/>
                  </a:lnTo>
                  <a:lnTo>
                    <a:pt x="87021" y="148884"/>
                  </a:lnTo>
                  <a:lnTo>
                    <a:pt x="78594" y="107178"/>
                  </a:lnTo>
                  <a:lnTo>
                    <a:pt x="87034" y="65472"/>
                  </a:lnTo>
                  <a:lnTo>
                    <a:pt x="110032" y="31403"/>
                  </a:lnTo>
                  <a:lnTo>
                    <a:pt x="144105" y="8426"/>
                  </a:lnTo>
                  <a:lnTo>
                    <a:pt x="185769" y="0"/>
                  </a:lnTo>
                  <a:lnTo>
                    <a:pt x="227433" y="8426"/>
                  </a:lnTo>
                  <a:lnTo>
                    <a:pt x="261506" y="31403"/>
                  </a:lnTo>
                  <a:lnTo>
                    <a:pt x="284504" y="65472"/>
                  </a:lnTo>
                  <a:lnTo>
                    <a:pt x="292944" y="107178"/>
                  </a:lnTo>
                  <a:lnTo>
                    <a:pt x="284517" y="148884"/>
                  </a:lnTo>
                  <a:lnTo>
                    <a:pt x="261541" y="182953"/>
                  </a:lnTo>
                  <a:lnTo>
                    <a:pt x="227473" y="205930"/>
                  </a:lnTo>
                  <a:lnTo>
                    <a:pt x="185769" y="214357"/>
                  </a:lnTo>
                  <a:close/>
                </a:path>
                <a:path w="500379" h="450214">
                  <a:moveTo>
                    <a:pt x="428580" y="450054"/>
                  </a:moveTo>
                  <a:lnTo>
                    <a:pt x="314134" y="450054"/>
                  </a:lnTo>
                  <a:lnTo>
                    <a:pt x="302377" y="442313"/>
                  </a:lnTo>
                  <a:lnTo>
                    <a:pt x="273302" y="409058"/>
                  </a:lnTo>
                  <a:lnTo>
                    <a:pt x="255329" y="373200"/>
                  </a:lnTo>
                  <a:lnTo>
                    <a:pt x="242929" y="312770"/>
                  </a:lnTo>
                  <a:lnTo>
                    <a:pt x="242944" y="284952"/>
                  </a:lnTo>
                  <a:lnTo>
                    <a:pt x="368204" y="222455"/>
                  </a:lnTo>
                  <a:lnTo>
                    <a:pt x="374492" y="222455"/>
                  </a:lnTo>
                  <a:lnTo>
                    <a:pt x="480428" y="257800"/>
                  </a:lnTo>
                  <a:lnTo>
                    <a:pt x="488423" y="261962"/>
                  </a:lnTo>
                  <a:lnTo>
                    <a:pt x="493135" y="266755"/>
                  </a:lnTo>
                  <a:lnTo>
                    <a:pt x="371443" y="266755"/>
                  </a:lnTo>
                  <a:lnTo>
                    <a:pt x="371443" y="434716"/>
                  </a:lnTo>
                  <a:lnTo>
                    <a:pt x="447619" y="434716"/>
                  </a:lnTo>
                  <a:lnTo>
                    <a:pt x="442164" y="441117"/>
                  </a:lnTo>
                  <a:lnTo>
                    <a:pt x="428580" y="450054"/>
                  </a:lnTo>
                  <a:close/>
                </a:path>
                <a:path w="500379" h="450214">
                  <a:moveTo>
                    <a:pt x="251122" y="450054"/>
                  </a:moveTo>
                  <a:lnTo>
                    <a:pt x="26483" y="450054"/>
                  </a:lnTo>
                  <a:lnTo>
                    <a:pt x="16196" y="447979"/>
                  </a:lnTo>
                  <a:lnTo>
                    <a:pt x="7776" y="442313"/>
                  </a:lnTo>
                  <a:lnTo>
                    <a:pt x="2088" y="433897"/>
                  </a:lnTo>
                  <a:lnTo>
                    <a:pt x="0" y="423569"/>
                  </a:lnTo>
                  <a:lnTo>
                    <a:pt x="8115" y="373200"/>
                  </a:lnTo>
                  <a:lnTo>
                    <a:pt x="30716" y="329476"/>
                  </a:lnTo>
                  <a:lnTo>
                    <a:pt x="65189" y="295017"/>
                  </a:lnTo>
                  <a:lnTo>
                    <a:pt x="108917" y="272442"/>
                  </a:lnTo>
                  <a:lnTo>
                    <a:pt x="159880" y="264278"/>
                  </a:lnTo>
                  <a:lnTo>
                    <a:pt x="202631" y="264278"/>
                  </a:lnTo>
                  <a:lnTo>
                    <a:pt x="200916" y="270375"/>
                  </a:lnTo>
                  <a:lnTo>
                    <a:pt x="200162" y="276074"/>
                  </a:lnTo>
                  <a:lnTo>
                    <a:pt x="203456" y="349074"/>
                  </a:lnTo>
                  <a:lnTo>
                    <a:pt x="229478" y="419602"/>
                  </a:lnTo>
                  <a:lnTo>
                    <a:pt x="251122" y="450054"/>
                  </a:lnTo>
                  <a:close/>
                </a:path>
                <a:path w="500379" h="450214">
                  <a:moveTo>
                    <a:pt x="452394" y="429112"/>
                  </a:moveTo>
                  <a:lnTo>
                    <a:pt x="383470" y="429112"/>
                  </a:lnTo>
                  <a:lnTo>
                    <a:pt x="413898" y="409058"/>
                  </a:lnTo>
                  <a:lnTo>
                    <a:pt x="437165" y="381746"/>
                  </a:lnTo>
                  <a:lnTo>
                    <a:pt x="451983" y="349074"/>
                  </a:lnTo>
                  <a:lnTo>
                    <a:pt x="457183" y="312770"/>
                  </a:lnTo>
                  <a:lnTo>
                    <a:pt x="457183" y="295336"/>
                  </a:lnTo>
                  <a:lnTo>
                    <a:pt x="371443" y="266755"/>
                  </a:lnTo>
                  <a:lnTo>
                    <a:pt x="493135" y="266755"/>
                  </a:lnTo>
                  <a:lnTo>
                    <a:pt x="494587" y="268232"/>
                  </a:lnTo>
                  <a:lnTo>
                    <a:pt x="498554" y="276074"/>
                  </a:lnTo>
                  <a:lnTo>
                    <a:pt x="500056" y="284952"/>
                  </a:lnTo>
                  <a:lnTo>
                    <a:pt x="500056" y="312770"/>
                  </a:lnTo>
                  <a:lnTo>
                    <a:pt x="493018" y="361054"/>
                  </a:lnTo>
                  <a:lnTo>
                    <a:pt x="473235" y="404658"/>
                  </a:lnTo>
                  <a:lnTo>
                    <a:pt x="452394" y="429112"/>
                  </a:lnTo>
                  <a:close/>
                </a:path>
                <a:path w="500379" h="450214">
                  <a:moveTo>
                    <a:pt x="447619" y="434716"/>
                  </a:moveTo>
                  <a:lnTo>
                    <a:pt x="371443" y="434716"/>
                  </a:lnTo>
                  <a:lnTo>
                    <a:pt x="383861" y="428854"/>
                  </a:lnTo>
                  <a:lnTo>
                    <a:pt x="383470" y="429112"/>
                  </a:lnTo>
                  <a:lnTo>
                    <a:pt x="452394" y="429112"/>
                  </a:lnTo>
                  <a:lnTo>
                    <a:pt x="447619" y="434716"/>
                  </a:lnTo>
                  <a:close/>
                </a:path>
              </a:pathLst>
            </a:custGeom>
            <a:solidFill>
              <a:srgbClr val="1B4D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427911" y="5685310"/>
            <a:ext cx="7997825" cy="15716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1800">
              <a:latin typeface="Times New Roman"/>
              <a:cs typeface="Times New Roman"/>
            </a:endParaRPr>
          </a:p>
          <a:p>
            <a:pPr marL="942340">
              <a:lnSpc>
                <a:spcPct val="100000"/>
              </a:lnSpc>
              <a:spcBef>
                <a:spcPts val="5"/>
              </a:spcBef>
            </a:pPr>
            <a:r>
              <a:rPr dirty="0" sz="1800" spc="90" b="1">
                <a:solidFill>
                  <a:srgbClr val="1A1A1A"/>
                </a:solidFill>
                <a:latin typeface="Times New Roman"/>
                <a:cs typeface="Times New Roman"/>
              </a:rPr>
              <a:t>Admin</a:t>
            </a:r>
            <a:r>
              <a:rPr dirty="0" sz="1800" spc="-1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80" b="1">
                <a:solidFill>
                  <a:srgbClr val="1A1A1A"/>
                </a:solidFill>
                <a:latin typeface="Times New Roman"/>
                <a:cs typeface="Times New Roman"/>
              </a:rPr>
              <a:t>(TPO)</a:t>
            </a:r>
            <a:r>
              <a:rPr dirty="0" sz="1800" spc="-1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  <a:p>
            <a:pPr marL="942340" marR="774700">
              <a:lnSpc>
                <a:spcPct val="141100"/>
              </a:lnSpc>
              <a:spcBef>
                <a:spcPts val="100"/>
              </a:spcBef>
            </a:pP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Pending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30">
                <a:solidFill>
                  <a:srgbClr val="6A8E7B"/>
                </a:solidFill>
                <a:latin typeface="Times New Roman"/>
                <a:cs typeface="Times New Roman"/>
              </a:rPr>
              <a:t>company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approvals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60">
                <a:solidFill>
                  <a:srgbClr val="6A8E7B"/>
                </a:solidFill>
                <a:latin typeface="Times New Roman"/>
                <a:cs typeface="Times New Roman"/>
              </a:rPr>
              <a:t>(Approve/Reject),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35">
                <a:solidFill>
                  <a:srgbClr val="6A8E7B"/>
                </a:solidFill>
                <a:latin typeface="Times New Roman"/>
                <a:cs typeface="Times New Roman"/>
              </a:rPr>
              <a:t>student/company</a:t>
            </a:r>
            <a:r>
              <a:rPr dirty="0" sz="1550" spc="2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0">
                <a:solidFill>
                  <a:srgbClr val="6A8E7B"/>
                </a:solidFill>
                <a:latin typeface="Times New Roman"/>
                <a:cs typeface="Times New Roman"/>
              </a:rPr>
              <a:t>data </a:t>
            </a:r>
            <a:r>
              <a:rPr dirty="0" sz="1550" spc="114">
                <a:solidFill>
                  <a:srgbClr val="6A8E7B"/>
                </a:solidFill>
                <a:latin typeface="Times New Roman"/>
                <a:cs typeface="Times New Roman"/>
              </a:rPr>
              <a:t>management,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35">
                <a:solidFill>
                  <a:srgbClr val="6A8E7B"/>
                </a:solidFill>
                <a:latin typeface="Times New Roman"/>
                <a:cs typeface="Times New Roman"/>
              </a:rPr>
              <a:t>summary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6A8E7B"/>
                </a:solidFill>
                <a:latin typeface="Times New Roman"/>
                <a:cs typeface="Times New Roman"/>
              </a:rPr>
              <a:t>panel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with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6A8E7B"/>
                </a:solidFill>
                <a:latin typeface="Times New Roman"/>
                <a:cs typeface="Times New Roman"/>
              </a:rPr>
              <a:t>jobs,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applications,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40">
                <a:solidFill>
                  <a:srgbClr val="6A8E7B"/>
                </a:solidFill>
                <a:latin typeface="Times New Roman"/>
                <a:cs typeface="Times New Roman"/>
              </a:rPr>
              <a:t>and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6A8E7B"/>
                </a:solidFill>
                <a:latin typeface="Times New Roman"/>
                <a:cs typeface="Times New Roman"/>
              </a:rPr>
              <a:t>placements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4378" y="7577343"/>
            <a:ext cx="1460690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60">
                <a:solidFill>
                  <a:srgbClr val="6A8E7B"/>
                </a:solidFill>
                <a:latin typeface="Times New Roman"/>
                <a:cs typeface="Times New Roman"/>
              </a:rPr>
              <a:t>Note: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All </a:t>
            </a:r>
            <a:r>
              <a:rPr dirty="0" sz="1550" spc="100">
                <a:solidFill>
                  <a:srgbClr val="6A8E7B"/>
                </a:solidFill>
                <a:latin typeface="Times New Roman"/>
                <a:cs typeface="Times New Roman"/>
              </a:rPr>
              <a:t>data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(job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postings,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60">
                <a:solidFill>
                  <a:srgbClr val="6A8E7B"/>
                </a:solidFill>
                <a:latin typeface="Times New Roman"/>
                <a:cs typeface="Times New Roman"/>
              </a:rPr>
              <a:t>profiles,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applications)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is </a:t>
            </a:r>
            <a:r>
              <a:rPr dirty="0" sz="1550" spc="114">
                <a:solidFill>
                  <a:srgbClr val="6A8E7B"/>
                </a:solidFill>
                <a:latin typeface="Times New Roman"/>
                <a:cs typeface="Times New Roman"/>
              </a:rPr>
              <a:t>stored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0">
                <a:solidFill>
                  <a:srgbClr val="6A8E7B"/>
                </a:solidFill>
                <a:latin typeface="Times New Roman"/>
                <a:cs typeface="Times New Roman"/>
              </a:rPr>
              <a:t>temporarily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in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6A8E7B"/>
                </a:solidFill>
                <a:latin typeface="Times New Roman"/>
                <a:cs typeface="Times New Roman"/>
              </a:rPr>
              <a:t>JavaScript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objects.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6A8E7B"/>
                </a:solidFill>
                <a:latin typeface="Times New Roman"/>
                <a:cs typeface="Times New Roman"/>
              </a:rPr>
              <a:t>Production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20">
                <a:solidFill>
                  <a:srgbClr val="6A8E7B"/>
                </a:solidFill>
                <a:latin typeface="Times New Roman"/>
                <a:cs typeface="Times New Roman"/>
              </a:rPr>
              <a:t>would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25">
                <a:solidFill>
                  <a:srgbClr val="6A8E7B"/>
                </a:solidFill>
                <a:latin typeface="Times New Roman"/>
                <a:cs typeface="Times New Roman"/>
              </a:rPr>
              <a:t>use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MySQL </a:t>
            </a:r>
            <a:r>
              <a:rPr dirty="0" sz="1550" spc="130">
                <a:solidFill>
                  <a:srgbClr val="6A8E7B"/>
                </a:solidFill>
                <a:latin typeface="Times New Roman"/>
                <a:cs typeface="Times New Roman"/>
              </a:rPr>
              <a:t>or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6A8E7B"/>
                </a:solidFill>
                <a:latin typeface="Times New Roman"/>
                <a:cs typeface="Times New Roman"/>
              </a:rPr>
              <a:t>MongoDB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with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6A8E7B"/>
                </a:solidFill>
                <a:latin typeface="Times New Roman"/>
                <a:cs typeface="Times New Roman"/>
              </a:rPr>
              <a:t>REST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API </a:t>
            </a:r>
            <a:r>
              <a:rPr dirty="0" sz="1550" spc="65">
                <a:solidFill>
                  <a:srgbClr val="6A8E7B"/>
                </a:solidFill>
                <a:latin typeface="Times New Roman"/>
                <a:cs typeface="Times New Roman"/>
              </a:rPr>
              <a:t>integration.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57078" y="9713603"/>
            <a:ext cx="16570325" cy="14604"/>
          </a:xfrm>
          <a:custGeom>
            <a:avLst/>
            <a:gdLst/>
            <a:ahLst/>
            <a:cxnLst/>
            <a:rect l="l" t="t" r="r" b="b"/>
            <a:pathLst>
              <a:path w="16570325" h="14604">
                <a:moveTo>
                  <a:pt x="16570262" y="14287"/>
                </a:moveTo>
                <a:lnTo>
                  <a:pt x="0" y="14287"/>
                </a:lnTo>
                <a:lnTo>
                  <a:pt x="0" y="0"/>
                </a:lnTo>
                <a:lnTo>
                  <a:pt x="16570262" y="0"/>
                </a:lnTo>
                <a:lnTo>
                  <a:pt x="16570262" y="14287"/>
                </a:lnTo>
                <a:close/>
              </a:path>
            </a:pathLst>
          </a:custGeom>
          <a:solidFill>
            <a:srgbClr val="E9E9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7502533" y="9879416"/>
            <a:ext cx="223520" cy="215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z="1350" spc="70">
                <a:solidFill>
                  <a:srgbClr val="6A8E7B"/>
                </a:solidFill>
                <a:latin typeface="Times New Roman"/>
                <a:cs typeface="Times New Roman"/>
              </a:rPr>
              <a:t>04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378" y="168370"/>
            <a:ext cx="746633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8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r>
              <a:rPr dirty="0" sz="135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65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dirty="0" sz="135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Times New Roman"/>
                <a:cs typeface="Times New Roman"/>
              </a:rPr>
              <a:t>Design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-60" b="1">
                <a:solidFill>
                  <a:srgbClr val="C7913A"/>
                </a:solidFill>
                <a:latin typeface="Times New Roman"/>
                <a:cs typeface="Times New Roman"/>
              </a:rPr>
              <a:t>IMPLEMENTATION</a:t>
            </a:r>
            <a:r>
              <a:rPr dirty="0" sz="1350" spc="25" b="1">
                <a:solidFill>
                  <a:srgbClr val="C7913A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75">
                <a:solidFill>
                  <a:srgbClr val="FFFFFF"/>
                </a:solidFill>
                <a:latin typeface="Times New Roman"/>
                <a:cs typeface="Times New Roman"/>
              </a:rPr>
              <a:t>Workflow</a:t>
            </a:r>
            <a:r>
              <a:rPr dirty="0" sz="135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45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5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75"/>
              <a:t>Implementation</a:t>
            </a:r>
            <a:r>
              <a:rPr dirty="0" spc="-15"/>
              <a:t> </a:t>
            </a:r>
            <a:r>
              <a:rPr dirty="0" spc="-330"/>
              <a:t>&amp;</a:t>
            </a:r>
            <a:r>
              <a:rPr dirty="0" spc="-15"/>
              <a:t> </a:t>
            </a:r>
            <a:r>
              <a:rPr dirty="0" spc="130"/>
              <a:t>Technology</a:t>
            </a:r>
            <a:r>
              <a:rPr dirty="0" spc="-15"/>
              <a:t> </a:t>
            </a:r>
            <a:r>
              <a:rPr dirty="0" spc="-10"/>
              <a:t>Stack</a:t>
            </a:r>
          </a:p>
        </p:txBody>
      </p:sp>
      <p:sp>
        <p:nvSpPr>
          <p:cNvPr id="4" name="object 4"/>
          <p:cNvSpPr/>
          <p:nvPr/>
        </p:nvSpPr>
        <p:spPr>
          <a:xfrm>
            <a:off x="857078" y="1399898"/>
            <a:ext cx="857250" cy="43180"/>
          </a:xfrm>
          <a:custGeom>
            <a:avLst/>
            <a:gdLst/>
            <a:ahLst/>
            <a:cxnLst/>
            <a:rect l="l" t="t" r="r" b="b"/>
            <a:pathLst>
              <a:path w="857250" h="43180">
                <a:moveTo>
                  <a:pt x="857059" y="42852"/>
                </a:moveTo>
                <a:lnTo>
                  <a:pt x="0" y="42852"/>
                </a:lnTo>
                <a:lnTo>
                  <a:pt x="0" y="0"/>
                </a:lnTo>
                <a:lnTo>
                  <a:pt x="857059" y="0"/>
                </a:lnTo>
                <a:lnTo>
                  <a:pt x="857059" y="42852"/>
                </a:lnTo>
                <a:close/>
              </a:path>
            </a:pathLst>
          </a:custGeom>
          <a:solidFill>
            <a:srgbClr val="C791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61163" y="1862130"/>
            <a:ext cx="1927860" cy="4210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45"/>
              </a:lnSpc>
            </a:pPr>
            <a:r>
              <a:rPr dirty="0" sz="1550" spc="-10" b="1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241200"/>
              </a:lnSpc>
            </a:pPr>
            <a:r>
              <a:rPr dirty="0" sz="1550" spc="114">
                <a:solidFill>
                  <a:srgbClr val="1A1A1A"/>
                </a:solidFill>
                <a:latin typeface="Times New Roman"/>
                <a:cs typeface="Times New Roman"/>
              </a:rPr>
              <a:t>Frontend</a:t>
            </a:r>
            <a:r>
              <a:rPr dirty="0" sz="155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100">
                <a:solidFill>
                  <a:srgbClr val="1A1A1A"/>
                </a:solidFill>
                <a:latin typeface="Times New Roman"/>
                <a:cs typeface="Times New Roman"/>
              </a:rPr>
              <a:t>Framework </a:t>
            </a:r>
            <a:r>
              <a:rPr dirty="0" sz="1550" spc="-10">
                <a:solidFill>
                  <a:srgbClr val="1A1A1A"/>
                </a:solidFill>
                <a:latin typeface="Times New Roman"/>
                <a:cs typeface="Times New Roman"/>
              </a:rPr>
              <a:t>Styling</a:t>
            </a:r>
            <a:endParaRPr sz="1550">
              <a:latin typeface="Times New Roman"/>
              <a:cs typeface="Times New Roman"/>
            </a:endParaRPr>
          </a:p>
          <a:p>
            <a:pPr marR="832485">
              <a:lnSpc>
                <a:spcPct val="241200"/>
              </a:lnSpc>
            </a:pPr>
            <a:r>
              <a:rPr dirty="0" sz="1550" spc="60">
                <a:solidFill>
                  <a:srgbClr val="1A1A1A"/>
                </a:solidFill>
                <a:latin typeface="Times New Roman"/>
                <a:cs typeface="Times New Roman"/>
              </a:rPr>
              <a:t>Interactivity </a:t>
            </a:r>
            <a:r>
              <a:rPr dirty="0" sz="1550" spc="95">
                <a:solidFill>
                  <a:srgbClr val="1A1A1A"/>
                </a:solidFill>
                <a:latin typeface="Times New Roman"/>
                <a:cs typeface="Times New Roman"/>
              </a:rPr>
              <a:t>Structure </a:t>
            </a:r>
            <a:r>
              <a:rPr dirty="0" sz="1550" spc="90">
                <a:solidFill>
                  <a:srgbClr val="1A1A1A"/>
                </a:solidFill>
                <a:latin typeface="Times New Roman"/>
                <a:cs typeface="Times New Roman"/>
              </a:rPr>
              <a:t>Icons</a:t>
            </a:r>
            <a:endParaRPr sz="1550">
              <a:latin typeface="Times New Roman"/>
              <a:cs typeface="Times New Roman"/>
            </a:endParaRPr>
          </a:p>
          <a:p>
            <a:pPr marR="483870">
              <a:lnSpc>
                <a:spcPct val="241200"/>
              </a:lnSpc>
            </a:pPr>
            <a:r>
              <a:rPr dirty="0" sz="1550" spc="80">
                <a:solidFill>
                  <a:srgbClr val="1A1A1A"/>
                </a:solidFill>
                <a:latin typeface="Times New Roman"/>
                <a:cs typeface="Times New Roman"/>
              </a:rPr>
              <a:t>Mock</a:t>
            </a:r>
            <a:r>
              <a:rPr dirty="0" sz="155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45">
                <a:solidFill>
                  <a:srgbClr val="1A1A1A"/>
                </a:solidFill>
                <a:latin typeface="Times New Roman"/>
                <a:cs typeface="Times New Roman"/>
              </a:rPr>
              <a:t>Data </a:t>
            </a:r>
            <a:r>
              <a:rPr dirty="0" sz="1550" spc="80">
                <a:solidFill>
                  <a:srgbClr val="1A1A1A"/>
                </a:solidFill>
                <a:latin typeface="Times New Roman"/>
                <a:cs typeface="Times New Roman"/>
              </a:rPr>
              <a:t>Version</a:t>
            </a:r>
            <a:r>
              <a:rPr dirty="0" sz="155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1A1A1A"/>
                </a:solidFill>
                <a:latin typeface="Times New Roman"/>
                <a:cs typeface="Times New Roman"/>
              </a:rPr>
              <a:t>Control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7242" y="1862130"/>
            <a:ext cx="1651635" cy="4210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45"/>
              </a:lnSpc>
            </a:pPr>
            <a:r>
              <a:rPr dirty="0" sz="1550" spc="55" b="1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241200"/>
              </a:lnSpc>
            </a:pPr>
            <a:r>
              <a:rPr dirty="0" sz="1550" spc="85">
                <a:solidFill>
                  <a:srgbClr val="1A1A1A"/>
                </a:solidFill>
                <a:latin typeface="Times New Roman"/>
                <a:cs typeface="Times New Roman"/>
              </a:rPr>
              <a:t>Bootstrap</a:t>
            </a:r>
            <a:r>
              <a:rPr dirty="0" sz="155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1A1A1A"/>
                </a:solidFill>
                <a:latin typeface="Times New Roman"/>
                <a:cs typeface="Times New Roman"/>
              </a:rPr>
              <a:t>5.3 </a:t>
            </a:r>
            <a:r>
              <a:rPr dirty="0" sz="1550">
                <a:solidFill>
                  <a:srgbClr val="1A1A1A"/>
                </a:solidFill>
                <a:latin typeface="Times New Roman"/>
                <a:cs typeface="Times New Roman"/>
              </a:rPr>
              <a:t>CSS3,</a:t>
            </a:r>
            <a:r>
              <a:rPr dirty="0" sz="155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110">
                <a:solidFill>
                  <a:srgbClr val="1A1A1A"/>
                </a:solidFill>
                <a:latin typeface="Times New Roman"/>
                <a:cs typeface="Times New Roman"/>
              </a:rPr>
              <a:t>Custom</a:t>
            </a:r>
            <a:r>
              <a:rPr dirty="0" sz="155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-25">
                <a:solidFill>
                  <a:srgbClr val="1A1A1A"/>
                </a:solidFill>
                <a:latin typeface="Times New Roman"/>
                <a:cs typeface="Times New Roman"/>
              </a:rPr>
              <a:t>CSS </a:t>
            </a:r>
            <a:r>
              <a:rPr dirty="0" sz="1550" spc="55">
                <a:solidFill>
                  <a:srgbClr val="1A1A1A"/>
                </a:solidFill>
                <a:latin typeface="Times New Roman"/>
                <a:cs typeface="Times New Roman"/>
              </a:rPr>
              <a:t>JavaScript</a:t>
            </a:r>
            <a:r>
              <a:rPr dirty="0" sz="155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-20">
                <a:solidFill>
                  <a:srgbClr val="1A1A1A"/>
                </a:solidFill>
                <a:latin typeface="Times New Roman"/>
                <a:cs typeface="Times New Roman"/>
              </a:rPr>
              <a:t>(ES6) </a:t>
            </a:r>
            <a:r>
              <a:rPr dirty="0" sz="1550" spc="-10">
                <a:solidFill>
                  <a:srgbClr val="1A1A1A"/>
                </a:solidFill>
                <a:latin typeface="Times New Roman"/>
                <a:cs typeface="Times New Roman"/>
              </a:rPr>
              <a:t>HTML5</a:t>
            </a:r>
            <a:endParaRPr sz="1550">
              <a:latin typeface="Times New Roman"/>
              <a:cs typeface="Times New Roman"/>
            </a:endParaRPr>
          </a:p>
          <a:p>
            <a:pPr marR="81915">
              <a:lnSpc>
                <a:spcPct val="241200"/>
              </a:lnSpc>
            </a:pPr>
            <a:r>
              <a:rPr dirty="0" sz="1550" spc="105">
                <a:solidFill>
                  <a:srgbClr val="1A1A1A"/>
                </a:solidFill>
                <a:latin typeface="Times New Roman"/>
                <a:cs typeface="Times New Roman"/>
              </a:rPr>
              <a:t>FontAwesome</a:t>
            </a:r>
            <a:r>
              <a:rPr dirty="0" sz="155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25">
                <a:solidFill>
                  <a:srgbClr val="1A1A1A"/>
                </a:solidFill>
                <a:latin typeface="Times New Roman"/>
                <a:cs typeface="Times New Roman"/>
              </a:rPr>
              <a:t>6 </a:t>
            </a:r>
            <a:r>
              <a:rPr dirty="0" sz="1550">
                <a:solidFill>
                  <a:srgbClr val="1A1A1A"/>
                </a:solidFill>
                <a:latin typeface="Times New Roman"/>
                <a:cs typeface="Times New Roman"/>
              </a:rPr>
              <a:t>JSON</a:t>
            </a:r>
            <a:r>
              <a:rPr dirty="0" sz="1550" spc="-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254">
                <a:solidFill>
                  <a:srgbClr val="1A1A1A"/>
                </a:solidFill>
                <a:latin typeface="Times New Roman"/>
                <a:cs typeface="Times New Roman"/>
              </a:rPr>
              <a:t>/</a:t>
            </a:r>
            <a:r>
              <a:rPr dirty="0" sz="1550" spc="-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-30">
                <a:solidFill>
                  <a:srgbClr val="1A1A1A"/>
                </a:solidFill>
                <a:latin typeface="Times New Roman"/>
                <a:cs typeface="Times New Roman"/>
              </a:rPr>
              <a:t>JS </a:t>
            </a:r>
            <a:r>
              <a:rPr dirty="0" sz="1550" spc="70">
                <a:solidFill>
                  <a:srgbClr val="1A1A1A"/>
                </a:solidFill>
                <a:latin typeface="Times New Roman"/>
                <a:cs typeface="Times New Roman"/>
              </a:rPr>
              <a:t>Objects </a:t>
            </a:r>
            <a:r>
              <a:rPr dirty="0" sz="1550">
                <a:solidFill>
                  <a:srgbClr val="1A1A1A"/>
                </a:solidFill>
                <a:latin typeface="Times New Roman"/>
                <a:cs typeface="Times New Roman"/>
              </a:rPr>
              <a:t>Git</a:t>
            </a:r>
            <a:r>
              <a:rPr dirty="0" sz="1550" spc="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-100">
                <a:solidFill>
                  <a:srgbClr val="1A1A1A"/>
                </a:solidFill>
                <a:latin typeface="Times New Roman"/>
                <a:cs typeface="Times New Roman"/>
              </a:rPr>
              <a:t>+</a:t>
            </a:r>
            <a:r>
              <a:rPr dirty="0" sz="155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65">
                <a:solidFill>
                  <a:srgbClr val="1A1A1A"/>
                </a:solidFill>
                <a:latin typeface="Times New Roman"/>
                <a:cs typeface="Times New Roman"/>
              </a:rPr>
              <a:t>GitHub</a:t>
            </a:r>
            <a:endParaRPr sz="155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57082" y="1685595"/>
          <a:ext cx="7790180" cy="4556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86100"/>
                <a:gridCol w="4615180"/>
              </a:tblGrid>
              <a:tr h="569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69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9427911" y="2333758"/>
            <a:ext cx="314325" cy="295275"/>
          </a:xfrm>
          <a:custGeom>
            <a:avLst/>
            <a:gdLst/>
            <a:ahLst/>
            <a:cxnLst/>
            <a:rect l="l" t="t" r="r" b="b"/>
            <a:pathLst>
              <a:path w="314325" h="295275">
                <a:moveTo>
                  <a:pt x="275070" y="235811"/>
                </a:moveTo>
                <a:lnTo>
                  <a:pt x="39254" y="235811"/>
                </a:lnTo>
                <a:lnTo>
                  <a:pt x="23996" y="232719"/>
                </a:lnTo>
                <a:lnTo>
                  <a:pt x="11516" y="224294"/>
                </a:lnTo>
                <a:lnTo>
                  <a:pt x="3092" y="211814"/>
                </a:lnTo>
                <a:lnTo>
                  <a:pt x="0" y="196556"/>
                </a:lnTo>
                <a:lnTo>
                  <a:pt x="0" y="39346"/>
                </a:lnTo>
                <a:lnTo>
                  <a:pt x="3092" y="24033"/>
                </a:lnTo>
                <a:lnTo>
                  <a:pt x="11516" y="11524"/>
                </a:lnTo>
                <a:lnTo>
                  <a:pt x="23996" y="3089"/>
                </a:lnTo>
                <a:lnTo>
                  <a:pt x="39236" y="0"/>
                </a:lnTo>
                <a:lnTo>
                  <a:pt x="274618" y="0"/>
                </a:lnTo>
                <a:lnTo>
                  <a:pt x="289865" y="3089"/>
                </a:lnTo>
                <a:lnTo>
                  <a:pt x="290189" y="3089"/>
                </a:lnTo>
                <a:lnTo>
                  <a:pt x="302684" y="11524"/>
                </a:lnTo>
                <a:lnTo>
                  <a:pt x="311195" y="24033"/>
                </a:lnTo>
                <a:lnTo>
                  <a:pt x="314324" y="39346"/>
                </a:lnTo>
                <a:lnTo>
                  <a:pt x="58977" y="39346"/>
                </a:lnTo>
                <a:lnTo>
                  <a:pt x="51328" y="40885"/>
                </a:lnTo>
                <a:lnTo>
                  <a:pt x="45090" y="45086"/>
                </a:lnTo>
                <a:lnTo>
                  <a:pt x="40889" y="51324"/>
                </a:lnTo>
                <a:lnTo>
                  <a:pt x="39350" y="58973"/>
                </a:lnTo>
                <a:lnTo>
                  <a:pt x="39350" y="157206"/>
                </a:lnTo>
                <a:lnTo>
                  <a:pt x="40889" y="164855"/>
                </a:lnTo>
                <a:lnTo>
                  <a:pt x="45090" y="171093"/>
                </a:lnTo>
                <a:lnTo>
                  <a:pt x="51328" y="175294"/>
                </a:lnTo>
                <a:lnTo>
                  <a:pt x="58977" y="176833"/>
                </a:lnTo>
                <a:lnTo>
                  <a:pt x="314324" y="176833"/>
                </a:lnTo>
                <a:lnTo>
                  <a:pt x="314324" y="196556"/>
                </a:lnTo>
                <a:lnTo>
                  <a:pt x="311232" y="211814"/>
                </a:lnTo>
                <a:lnTo>
                  <a:pt x="302808" y="224294"/>
                </a:lnTo>
                <a:lnTo>
                  <a:pt x="290328" y="232719"/>
                </a:lnTo>
                <a:lnTo>
                  <a:pt x="275070" y="235811"/>
                </a:lnTo>
                <a:close/>
              </a:path>
              <a:path w="314325" h="295275">
                <a:moveTo>
                  <a:pt x="314324" y="176833"/>
                </a:moveTo>
                <a:lnTo>
                  <a:pt x="255442" y="176833"/>
                </a:lnTo>
                <a:lnTo>
                  <a:pt x="263091" y="175294"/>
                </a:lnTo>
                <a:lnTo>
                  <a:pt x="269329" y="171093"/>
                </a:lnTo>
                <a:lnTo>
                  <a:pt x="273530" y="164855"/>
                </a:lnTo>
                <a:lnTo>
                  <a:pt x="275070" y="157206"/>
                </a:lnTo>
                <a:lnTo>
                  <a:pt x="275070" y="58973"/>
                </a:lnTo>
                <a:lnTo>
                  <a:pt x="273530" y="51324"/>
                </a:lnTo>
                <a:lnTo>
                  <a:pt x="269329" y="45086"/>
                </a:lnTo>
                <a:lnTo>
                  <a:pt x="263091" y="40885"/>
                </a:lnTo>
                <a:lnTo>
                  <a:pt x="255442" y="39346"/>
                </a:lnTo>
                <a:lnTo>
                  <a:pt x="314324" y="39346"/>
                </a:lnTo>
                <a:lnTo>
                  <a:pt x="314324" y="176833"/>
                </a:lnTo>
                <a:close/>
              </a:path>
              <a:path w="314325" h="295275">
                <a:moveTo>
                  <a:pt x="196465" y="265252"/>
                </a:moveTo>
                <a:lnTo>
                  <a:pt x="117859" y="265252"/>
                </a:lnTo>
                <a:lnTo>
                  <a:pt x="127673" y="235811"/>
                </a:lnTo>
                <a:lnTo>
                  <a:pt x="186651" y="235811"/>
                </a:lnTo>
                <a:lnTo>
                  <a:pt x="196465" y="265252"/>
                </a:lnTo>
                <a:close/>
              </a:path>
              <a:path w="314325" h="295275">
                <a:moveTo>
                  <a:pt x="248868" y="294789"/>
                </a:moveTo>
                <a:lnTo>
                  <a:pt x="65456" y="294789"/>
                </a:lnTo>
                <a:lnTo>
                  <a:pt x="58882" y="288214"/>
                </a:lnTo>
                <a:lnTo>
                  <a:pt x="58882" y="271826"/>
                </a:lnTo>
                <a:lnTo>
                  <a:pt x="65456" y="265252"/>
                </a:lnTo>
                <a:lnTo>
                  <a:pt x="248868" y="265252"/>
                </a:lnTo>
                <a:lnTo>
                  <a:pt x="255442" y="271826"/>
                </a:lnTo>
                <a:lnTo>
                  <a:pt x="255442" y="288214"/>
                </a:lnTo>
                <a:lnTo>
                  <a:pt x="248868" y="294789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437820" y="3085500"/>
            <a:ext cx="295275" cy="313055"/>
          </a:xfrm>
          <a:custGeom>
            <a:avLst/>
            <a:gdLst/>
            <a:ahLst/>
            <a:cxnLst/>
            <a:rect l="l" t="t" r="r" b="b"/>
            <a:pathLst>
              <a:path w="295275" h="313054">
                <a:moveTo>
                  <a:pt x="147360" y="312705"/>
                </a:moveTo>
                <a:lnTo>
                  <a:pt x="84712" y="279095"/>
                </a:lnTo>
                <a:lnTo>
                  <a:pt x="50159" y="242163"/>
                </a:lnTo>
                <a:lnTo>
                  <a:pt x="25975" y="201288"/>
                </a:lnTo>
                <a:lnTo>
                  <a:pt x="10597" y="159563"/>
                </a:lnTo>
                <a:lnTo>
                  <a:pt x="2460" y="120083"/>
                </a:lnTo>
                <a:lnTo>
                  <a:pt x="68" y="86894"/>
                </a:lnTo>
                <a:lnTo>
                  <a:pt x="0" y="85941"/>
                </a:lnTo>
                <a:lnTo>
                  <a:pt x="23533" y="50878"/>
                </a:lnTo>
                <a:lnTo>
                  <a:pt x="139107" y="1810"/>
                </a:lnTo>
                <a:lnTo>
                  <a:pt x="141894" y="571"/>
                </a:lnTo>
                <a:lnTo>
                  <a:pt x="142074" y="571"/>
                </a:lnTo>
                <a:lnTo>
                  <a:pt x="144442" y="0"/>
                </a:lnTo>
                <a:lnTo>
                  <a:pt x="150159" y="0"/>
                </a:lnTo>
                <a:lnTo>
                  <a:pt x="152922" y="571"/>
                </a:lnTo>
                <a:lnTo>
                  <a:pt x="155495" y="1810"/>
                </a:lnTo>
                <a:lnTo>
                  <a:pt x="247805" y="40969"/>
                </a:lnTo>
                <a:lnTo>
                  <a:pt x="147301" y="40969"/>
                </a:lnTo>
                <a:lnTo>
                  <a:pt x="147301" y="273164"/>
                </a:lnTo>
                <a:lnTo>
                  <a:pt x="215591" y="273164"/>
                </a:lnTo>
                <a:lnTo>
                  <a:pt x="210044" y="279095"/>
                </a:lnTo>
                <a:lnTo>
                  <a:pt x="163593" y="308989"/>
                </a:lnTo>
                <a:lnTo>
                  <a:pt x="155624" y="311776"/>
                </a:lnTo>
                <a:lnTo>
                  <a:pt x="147360" y="312705"/>
                </a:lnTo>
                <a:close/>
              </a:path>
              <a:path w="295275" h="313054">
                <a:moveTo>
                  <a:pt x="215591" y="273164"/>
                </a:moveTo>
                <a:lnTo>
                  <a:pt x="147301" y="273164"/>
                </a:lnTo>
                <a:lnTo>
                  <a:pt x="191008" y="243282"/>
                </a:lnTo>
                <a:lnTo>
                  <a:pt x="221760" y="205566"/>
                </a:lnTo>
                <a:lnTo>
                  <a:pt x="241462" y="164164"/>
                </a:lnTo>
                <a:lnTo>
                  <a:pt x="252022" y="123224"/>
                </a:lnTo>
                <a:lnTo>
                  <a:pt x="255347" y="86894"/>
                </a:lnTo>
                <a:lnTo>
                  <a:pt x="147076" y="40969"/>
                </a:lnTo>
                <a:lnTo>
                  <a:pt x="247805" y="40969"/>
                </a:lnTo>
                <a:lnTo>
                  <a:pt x="287926" y="64479"/>
                </a:lnTo>
                <a:lnTo>
                  <a:pt x="294682" y="85941"/>
                </a:lnTo>
                <a:lnTo>
                  <a:pt x="294635" y="86894"/>
                </a:lnTo>
                <a:lnTo>
                  <a:pt x="284101" y="159563"/>
                </a:lnTo>
                <a:lnTo>
                  <a:pt x="268729" y="201288"/>
                </a:lnTo>
                <a:lnTo>
                  <a:pt x="244564" y="242163"/>
                </a:lnTo>
                <a:lnTo>
                  <a:pt x="243540" y="243282"/>
                </a:lnTo>
                <a:lnTo>
                  <a:pt x="215591" y="273164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437725" y="3886313"/>
            <a:ext cx="304800" cy="255904"/>
          </a:xfrm>
          <a:custGeom>
            <a:avLst/>
            <a:gdLst/>
            <a:ahLst/>
            <a:cxnLst/>
            <a:rect l="l" t="t" r="r" b="b"/>
            <a:pathLst>
              <a:path w="304800" h="255904">
                <a:moveTo>
                  <a:pt x="52403" y="58977"/>
                </a:moveTo>
                <a:lnTo>
                  <a:pt x="6574" y="58977"/>
                </a:lnTo>
                <a:lnTo>
                  <a:pt x="0" y="52403"/>
                </a:lnTo>
                <a:lnTo>
                  <a:pt x="0" y="6574"/>
                </a:lnTo>
                <a:lnTo>
                  <a:pt x="6574" y="0"/>
                </a:lnTo>
                <a:lnTo>
                  <a:pt x="52403" y="0"/>
                </a:lnTo>
                <a:lnTo>
                  <a:pt x="58977" y="6574"/>
                </a:lnTo>
                <a:lnTo>
                  <a:pt x="58977" y="52403"/>
                </a:lnTo>
                <a:lnTo>
                  <a:pt x="52403" y="58977"/>
                </a:lnTo>
                <a:close/>
              </a:path>
              <a:path w="304800" h="255904">
                <a:moveTo>
                  <a:pt x="284883" y="49068"/>
                </a:moveTo>
                <a:lnTo>
                  <a:pt x="108046" y="49068"/>
                </a:lnTo>
                <a:lnTo>
                  <a:pt x="100397" y="47529"/>
                </a:lnTo>
                <a:lnTo>
                  <a:pt x="94159" y="43328"/>
                </a:lnTo>
                <a:lnTo>
                  <a:pt x="89958" y="37090"/>
                </a:lnTo>
                <a:lnTo>
                  <a:pt x="88418" y="29441"/>
                </a:lnTo>
                <a:lnTo>
                  <a:pt x="89958" y="21792"/>
                </a:lnTo>
                <a:lnTo>
                  <a:pt x="94159" y="15554"/>
                </a:lnTo>
                <a:lnTo>
                  <a:pt x="100397" y="11353"/>
                </a:lnTo>
                <a:lnTo>
                  <a:pt x="108046" y="9813"/>
                </a:lnTo>
                <a:lnTo>
                  <a:pt x="284883" y="9813"/>
                </a:lnTo>
                <a:lnTo>
                  <a:pt x="292532" y="11353"/>
                </a:lnTo>
                <a:lnTo>
                  <a:pt x="298770" y="15554"/>
                </a:lnTo>
                <a:lnTo>
                  <a:pt x="302971" y="21792"/>
                </a:lnTo>
                <a:lnTo>
                  <a:pt x="304511" y="29441"/>
                </a:lnTo>
                <a:lnTo>
                  <a:pt x="302971" y="37090"/>
                </a:lnTo>
                <a:lnTo>
                  <a:pt x="298770" y="43328"/>
                </a:lnTo>
                <a:lnTo>
                  <a:pt x="292532" y="47529"/>
                </a:lnTo>
                <a:lnTo>
                  <a:pt x="284883" y="49068"/>
                </a:lnTo>
                <a:close/>
              </a:path>
              <a:path w="304800" h="255904">
                <a:moveTo>
                  <a:pt x="284883" y="147301"/>
                </a:moveTo>
                <a:lnTo>
                  <a:pt x="108046" y="147301"/>
                </a:lnTo>
                <a:lnTo>
                  <a:pt x="100397" y="145761"/>
                </a:lnTo>
                <a:lnTo>
                  <a:pt x="94159" y="141560"/>
                </a:lnTo>
                <a:lnTo>
                  <a:pt x="89958" y="135322"/>
                </a:lnTo>
                <a:lnTo>
                  <a:pt x="88418" y="127673"/>
                </a:lnTo>
                <a:lnTo>
                  <a:pt x="89958" y="120024"/>
                </a:lnTo>
                <a:lnTo>
                  <a:pt x="94159" y="113786"/>
                </a:lnTo>
                <a:lnTo>
                  <a:pt x="100397" y="109585"/>
                </a:lnTo>
                <a:lnTo>
                  <a:pt x="108046" y="108046"/>
                </a:lnTo>
                <a:lnTo>
                  <a:pt x="284883" y="108046"/>
                </a:lnTo>
                <a:lnTo>
                  <a:pt x="292532" y="109585"/>
                </a:lnTo>
                <a:lnTo>
                  <a:pt x="298770" y="113786"/>
                </a:lnTo>
                <a:lnTo>
                  <a:pt x="302971" y="120024"/>
                </a:lnTo>
                <a:lnTo>
                  <a:pt x="304511" y="127673"/>
                </a:lnTo>
                <a:lnTo>
                  <a:pt x="302971" y="135322"/>
                </a:lnTo>
                <a:lnTo>
                  <a:pt x="298770" y="141560"/>
                </a:lnTo>
                <a:lnTo>
                  <a:pt x="292532" y="145761"/>
                </a:lnTo>
                <a:lnTo>
                  <a:pt x="284883" y="147301"/>
                </a:lnTo>
                <a:close/>
              </a:path>
              <a:path w="304800" h="255904">
                <a:moveTo>
                  <a:pt x="284883" y="245533"/>
                </a:moveTo>
                <a:lnTo>
                  <a:pt x="108046" y="245533"/>
                </a:lnTo>
                <a:lnTo>
                  <a:pt x="100397" y="243994"/>
                </a:lnTo>
                <a:lnTo>
                  <a:pt x="94159" y="239793"/>
                </a:lnTo>
                <a:lnTo>
                  <a:pt x="89958" y="233555"/>
                </a:lnTo>
                <a:lnTo>
                  <a:pt x="88418" y="225906"/>
                </a:lnTo>
                <a:lnTo>
                  <a:pt x="89958" y="218257"/>
                </a:lnTo>
                <a:lnTo>
                  <a:pt x="94159" y="212019"/>
                </a:lnTo>
                <a:lnTo>
                  <a:pt x="100397" y="207818"/>
                </a:lnTo>
                <a:lnTo>
                  <a:pt x="108046" y="206278"/>
                </a:lnTo>
                <a:lnTo>
                  <a:pt x="284883" y="206278"/>
                </a:lnTo>
                <a:lnTo>
                  <a:pt x="292532" y="207818"/>
                </a:lnTo>
                <a:lnTo>
                  <a:pt x="298770" y="212019"/>
                </a:lnTo>
                <a:lnTo>
                  <a:pt x="302971" y="218257"/>
                </a:lnTo>
                <a:lnTo>
                  <a:pt x="304511" y="225906"/>
                </a:lnTo>
                <a:lnTo>
                  <a:pt x="302971" y="233555"/>
                </a:lnTo>
                <a:lnTo>
                  <a:pt x="298770" y="239793"/>
                </a:lnTo>
                <a:lnTo>
                  <a:pt x="292532" y="243994"/>
                </a:lnTo>
                <a:lnTo>
                  <a:pt x="284883" y="245533"/>
                </a:lnTo>
                <a:close/>
              </a:path>
              <a:path w="304800" h="255904">
                <a:moveTo>
                  <a:pt x="52403" y="157210"/>
                </a:moveTo>
                <a:lnTo>
                  <a:pt x="6574" y="157210"/>
                </a:lnTo>
                <a:lnTo>
                  <a:pt x="0" y="150635"/>
                </a:lnTo>
                <a:lnTo>
                  <a:pt x="0" y="104806"/>
                </a:lnTo>
                <a:lnTo>
                  <a:pt x="6574" y="98232"/>
                </a:lnTo>
                <a:lnTo>
                  <a:pt x="52403" y="98232"/>
                </a:lnTo>
                <a:lnTo>
                  <a:pt x="58977" y="104806"/>
                </a:lnTo>
                <a:lnTo>
                  <a:pt x="58977" y="150635"/>
                </a:lnTo>
                <a:lnTo>
                  <a:pt x="52403" y="157210"/>
                </a:lnTo>
                <a:close/>
              </a:path>
              <a:path w="304800" h="255904">
                <a:moveTo>
                  <a:pt x="52403" y="255442"/>
                </a:moveTo>
                <a:lnTo>
                  <a:pt x="6574" y="255442"/>
                </a:lnTo>
                <a:lnTo>
                  <a:pt x="0" y="248868"/>
                </a:lnTo>
                <a:lnTo>
                  <a:pt x="0" y="203039"/>
                </a:lnTo>
                <a:lnTo>
                  <a:pt x="6574" y="196465"/>
                </a:lnTo>
                <a:lnTo>
                  <a:pt x="52403" y="196465"/>
                </a:lnTo>
                <a:lnTo>
                  <a:pt x="58977" y="203039"/>
                </a:lnTo>
                <a:lnTo>
                  <a:pt x="58977" y="248868"/>
                </a:lnTo>
                <a:lnTo>
                  <a:pt x="52403" y="255442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427911" y="4628245"/>
            <a:ext cx="314960" cy="314960"/>
          </a:xfrm>
          <a:custGeom>
            <a:avLst/>
            <a:gdLst/>
            <a:ahLst/>
            <a:cxnLst/>
            <a:rect l="l" t="t" r="r" b="b"/>
            <a:pathLst>
              <a:path w="314959" h="314960">
                <a:moveTo>
                  <a:pt x="127673" y="255442"/>
                </a:moveTo>
                <a:lnTo>
                  <a:pt x="77979" y="245407"/>
                </a:lnTo>
                <a:lnTo>
                  <a:pt x="37396" y="218033"/>
                </a:lnTo>
                <a:lnTo>
                  <a:pt x="10034" y="177422"/>
                </a:lnTo>
                <a:lnTo>
                  <a:pt x="67" y="128010"/>
                </a:lnTo>
                <a:lnTo>
                  <a:pt x="0" y="127673"/>
                </a:lnTo>
                <a:lnTo>
                  <a:pt x="10034" y="77939"/>
                </a:lnTo>
                <a:lnTo>
                  <a:pt x="37396" y="37361"/>
                </a:lnTo>
                <a:lnTo>
                  <a:pt x="77979" y="10020"/>
                </a:lnTo>
                <a:lnTo>
                  <a:pt x="127673" y="0"/>
                </a:lnTo>
                <a:lnTo>
                  <a:pt x="177301" y="10020"/>
                </a:lnTo>
                <a:lnTo>
                  <a:pt x="217897" y="37361"/>
                </a:lnTo>
                <a:lnTo>
                  <a:pt x="219203" y="39254"/>
                </a:lnTo>
                <a:lnTo>
                  <a:pt x="127673" y="39254"/>
                </a:lnTo>
                <a:lnTo>
                  <a:pt x="93237" y="46210"/>
                </a:lnTo>
                <a:lnTo>
                  <a:pt x="65135" y="65170"/>
                </a:lnTo>
                <a:lnTo>
                  <a:pt x="46196" y="93278"/>
                </a:lnTo>
                <a:lnTo>
                  <a:pt x="39254" y="127673"/>
                </a:lnTo>
                <a:lnTo>
                  <a:pt x="46210" y="162069"/>
                </a:lnTo>
                <a:lnTo>
                  <a:pt x="65170" y="190176"/>
                </a:lnTo>
                <a:lnTo>
                  <a:pt x="93278" y="209137"/>
                </a:lnTo>
                <a:lnTo>
                  <a:pt x="127673" y="216092"/>
                </a:lnTo>
                <a:lnTo>
                  <a:pt x="243913" y="216092"/>
                </a:lnTo>
                <a:lnTo>
                  <a:pt x="258682" y="230860"/>
                </a:lnTo>
                <a:lnTo>
                  <a:pt x="203039" y="230860"/>
                </a:lnTo>
                <a:lnTo>
                  <a:pt x="186305" y="241213"/>
                </a:lnTo>
                <a:lnTo>
                  <a:pt x="168000" y="248939"/>
                </a:lnTo>
                <a:lnTo>
                  <a:pt x="148373" y="253772"/>
                </a:lnTo>
                <a:lnTo>
                  <a:pt x="127673" y="255442"/>
                </a:lnTo>
                <a:close/>
              </a:path>
              <a:path w="314959" h="314960">
                <a:moveTo>
                  <a:pt x="243913" y="216092"/>
                </a:moveTo>
                <a:lnTo>
                  <a:pt x="127673" y="216092"/>
                </a:lnTo>
                <a:lnTo>
                  <a:pt x="162069" y="209137"/>
                </a:lnTo>
                <a:lnTo>
                  <a:pt x="190176" y="190176"/>
                </a:lnTo>
                <a:lnTo>
                  <a:pt x="209137" y="162069"/>
                </a:lnTo>
                <a:lnTo>
                  <a:pt x="216024" y="128010"/>
                </a:lnTo>
                <a:lnTo>
                  <a:pt x="216092" y="127673"/>
                </a:lnTo>
                <a:lnTo>
                  <a:pt x="209150" y="93278"/>
                </a:lnTo>
                <a:lnTo>
                  <a:pt x="190212" y="65170"/>
                </a:lnTo>
                <a:lnTo>
                  <a:pt x="162109" y="46210"/>
                </a:lnTo>
                <a:lnTo>
                  <a:pt x="127673" y="39254"/>
                </a:lnTo>
                <a:lnTo>
                  <a:pt x="219203" y="39254"/>
                </a:lnTo>
                <a:lnTo>
                  <a:pt x="245286" y="77939"/>
                </a:lnTo>
                <a:lnTo>
                  <a:pt x="248402" y="93278"/>
                </a:lnTo>
                <a:lnTo>
                  <a:pt x="255347" y="127673"/>
                </a:lnTo>
                <a:lnTo>
                  <a:pt x="255415" y="128010"/>
                </a:lnTo>
                <a:lnTo>
                  <a:pt x="253772" y="148373"/>
                </a:lnTo>
                <a:lnTo>
                  <a:pt x="248939" y="168000"/>
                </a:lnTo>
                <a:lnTo>
                  <a:pt x="241213" y="186305"/>
                </a:lnTo>
                <a:lnTo>
                  <a:pt x="230860" y="203039"/>
                </a:lnTo>
                <a:lnTo>
                  <a:pt x="243913" y="216092"/>
                </a:lnTo>
                <a:close/>
              </a:path>
              <a:path w="314959" h="314960">
                <a:moveTo>
                  <a:pt x="294697" y="314396"/>
                </a:moveTo>
                <a:lnTo>
                  <a:pt x="287304" y="312949"/>
                </a:lnTo>
                <a:lnTo>
                  <a:pt x="280786" y="308608"/>
                </a:lnTo>
                <a:lnTo>
                  <a:pt x="203039" y="230860"/>
                </a:lnTo>
                <a:lnTo>
                  <a:pt x="258682" y="230860"/>
                </a:lnTo>
                <a:lnTo>
                  <a:pt x="308608" y="280786"/>
                </a:lnTo>
                <a:lnTo>
                  <a:pt x="312949" y="287304"/>
                </a:lnTo>
                <a:lnTo>
                  <a:pt x="314396" y="294697"/>
                </a:lnTo>
                <a:lnTo>
                  <a:pt x="312949" y="302090"/>
                </a:lnTo>
                <a:lnTo>
                  <a:pt x="308608" y="308608"/>
                </a:lnTo>
                <a:lnTo>
                  <a:pt x="302090" y="312949"/>
                </a:lnTo>
                <a:lnTo>
                  <a:pt x="294697" y="314396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418334" y="5399617"/>
            <a:ext cx="340995" cy="314325"/>
          </a:xfrm>
          <a:custGeom>
            <a:avLst/>
            <a:gdLst/>
            <a:ahLst/>
            <a:cxnLst/>
            <a:rect l="l" t="t" r="r" b="b"/>
            <a:pathLst>
              <a:path w="340995" h="314325">
                <a:moveTo>
                  <a:pt x="116968" y="175406"/>
                </a:moveTo>
                <a:lnTo>
                  <a:pt x="110227" y="172738"/>
                </a:lnTo>
                <a:lnTo>
                  <a:pt x="5316" y="129868"/>
                </a:lnTo>
                <a:lnTo>
                  <a:pt x="0" y="121961"/>
                </a:lnTo>
                <a:lnTo>
                  <a:pt x="0" y="104241"/>
                </a:lnTo>
                <a:lnTo>
                  <a:pt x="5601" y="96238"/>
                </a:lnTo>
                <a:lnTo>
                  <a:pt x="273409" y="0"/>
                </a:lnTo>
                <a:lnTo>
                  <a:pt x="340836" y="0"/>
                </a:lnTo>
                <a:lnTo>
                  <a:pt x="339133" y="4972"/>
                </a:lnTo>
                <a:lnTo>
                  <a:pt x="302202" y="108432"/>
                </a:lnTo>
                <a:lnTo>
                  <a:pt x="202606" y="108432"/>
                </a:lnTo>
                <a:lnTo>
                  <a:pt x="124563" y="174167"/>
                </a:lnTo>
                <a:lnTo>
                  <a:pt x="116968" y="175406"/>
                </a:lnTo>
                <a:close/>
              </a:path>
              <a:path w="340995" h="314325">
                <a:moveTo>
                  <a:pt x="228708" y="314324"/>
                </a:moveTo>
                <a:lnTo>
                  <a:pt x="191828" y="314324"/>
                </a:lnTo>
                <a:lnTo>
                  <a:pt x="190453" y="310877"/>
                </a:lnTo>
                <a:lnTo>
                  <a:pt x="148299" y="207035"/>
                </a:lnTo>
                <a:lnTo>
                  <a:pt x="149533" y="199318"/>
                </a:lnTo>
                <a:lnTo>
                  <a:pt x="154280" y="193792"/>
                </a:lnTo>
                <a:lnTo>
                  <a:pt x="215233" y="121103"/>
                </a:lnTo>
                <a:lnTo>
                  <a:pt x="214948" y="115578"/>
                </a:lnTo>
                <a:lnTo>
                  <a:pt x="208113" y="108718"/>
                </a:lnTo>
                <a:lnTo>
                  <a:pt x="202606" y="108432"/>
                </a:lnTo>
                <a:lnTo>
                  <a:pt x="302202" y="108432"/>
                </a:lnTo>
                <a:lnTo>
                  <a:pt x="228708" y="314324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477198" y="6171062"/>
            <a:ext cx="218440" cy="314325"/>
          </a:xfrm>
          <a:custGeom>
            <a:avLst/>
            <a:gdLst/>
            <a:ahLst/>
            <a:cxnLst/>
            <a:rect l="l" t="t" r="r" b="b"/>
            <a:pathLst>
              <a:path w="218440" h="314325">
                <a:moveTo>
                  <a:pt x="178473" y="314180"/>
                </a:moveTo>
                <a:lnTo>
                  <a:pt x="39639" y="314180"/>
                </a:lnTo>
                <a:lnTo>
                  <a:pt x="24231" y="311089"/>
                </a:lnTo>
                <a:lnTo>
                  <a:pt x="11629" y="302668"/>
                </a:lnTo>
                <a:lnTo>
                  <a:pt x="3122" y="290194"/>
                </a:lnTo>
                <a:lnTo>
                  <a:pt x="0" y="274943"/>
                </a:lnTo>
                <a:lnTo>
                  <a:pt x="0" y="38767"/>
                </a:lnTo>
                <a:lnTo>
                  <a:pt x="3027" y="23985"/>
                </a:lnTo>
                <a:lnTo>
                  <a:pt x="11545" y="11511"/>
                </a:lnTo>
                <a:lnTo>
                  <a:pt x="24176" y="3090"/>
                </a:lnTo>
                <a:lnTo>
                  <a:pt x="39639" y="0"/>
                </a:lnTo>
                <a:lnTo>
                  <a:pt x="178473" y="0"/>
                </a:lnTo>
                <a:lnTo>
                  <a:pt x="193880" y="3090"/>
                </a:lnTo>
                <a:lnTo>
                  <a:pt x="206483" y="11511"/>
                </a:lnTo>
                <a:lnTo>
                  <a:pt x="214990" y="23985"/>
                </a:lnTo>
                <a:lnTo>
                  <a:pt x="218016" y="38767"/>
                </a:lnTo>
                <a:lnTo>
                  <a:pt x="218108" y="39217"/>
                </a:lnTo>
                <a:lnTo>
                  <a:pt x="39543" y="39217"/>
                </a:lnTo>
                <a:lnTo>
                  <a:pt x="39543" y="225802"/>
                </a:lnTo>
                <a:lnTo>
                  <a:pt x="218112" y="225802"/>
                </a:lnTo>
                <a:lnTo>
                  <a:pt x="218112" y="250372"/>
                </a:lnTo>
                <a:lnTo>
                  <a:pt x="109008" y="250372"/>
                </a:lnTo>
                <a:lnTo>
                  <a:pt x="101284" y="251911"/>
                </a:lnTo>
                <a:lnTo>
                  <a:pt x="94985" y="256110"/>
                </a:lnTo>
                <a:lnTo>
                  <a:pt x="90743" y="262345"/>
                </a:lnTo>
                <a:lnTo>
                  <a:pt x="89188" y="269991"/>
                </a:lnTo>
                <a:lnTo>
                  <a:pt x="90743" y="277636"/>
                </a:lnTo>
                <a:lnTo>
                  <a:pt x="94985" y="283871"/>
                </a:lnTo>
                <a:lnTo>
                  <a:pt x="101284" y="288070"/>
                </a:lnTo>
                <a:lnTo>
                  <a:pt x="109008" y="289609"/>
                </a:lnTo>
                <a:lnTo>
                  <a:pt x="215110" y="289609"/>
                </a:lnTo>
                <a:lnTo>
                  <a:pt x="214990" y="290194"/>
                </a:lnTo>
                <a:lnTo>
                  <a:pt x="206483" y="302668"/>
                </a:lnTo>
                <a:lnTo>
                  <a:pt x="193880" y="311089"/>
                </a:lnTo>
                <a:lnTo>
                  <a:pt x="178473" y="314180"/>
                </a:lnTo>
                <a:close/>
              </a:path>
              <a:path w="218440" h="314325">
                <a:moveTo>
                  <a:pt x="218112" y="225802"/>
                </a:moveTo>
                <a:lnTo>
                  <a:pt x="178473" y="225802"/>
                </a:lnTo>
                <a:lnTo>
                  <a:pt x="178473" y="39217"/>
                </a:lnTo>
                <a:lnTo>
                  <a:pt x="218112" y="39217"/>
                </a:lnTo>
                <a:lnTo>
                  <a:pt x="218112" y="225802"/>
                </a:lnTo>
                <a:close/>
              </a:path>
              <a:path w="218440" h="314325">
                <a:moveTo>
                  <a:pt x="215110" y="289609"/>
                </a:moveTo>
                <a:lnTo>
                  <a:pt x="109008" y="289609"/>
                </a:lnTo>
                <a:lnTo>
                  <a:pt x="116732" y="288070"/>
                </a:lnTo>
                <a:lnTo>
                  <a:pt x="123031" y="283871"/>
                </a:lnTo>
                <a:lnTo>
                  <a:pt x="127273" y="277636"/>
                </a:lnTo>
                <a:lnTo>
                  <a:pt x="128828" y="269991"/>
                </a:lnTo>
                <a:lnTo>
                  <a:pt x="127273" y="262345"/>
                </a:lnTo>
                <a:lnTo>
                  <a:pt x="123031" y="256110"/>
                </a:lnTo>
                <a:lnTo>
                  <a:pt x="116732" y="251911"/>
                </a:lnTo>
                <a:lnTo>
                  <a:pt x="109008" y="250372"/>
                </a:lnTo>
                <a:lnTo>
                  <a:pt x="218112" y="250372"/>
                </a:lnTo>
                <a:lnTo>
                  <a:pt x="218112" y="274943"/>
                </a:lnTo>
                <a:lnTo>
                  <a:pt x="215110" y="289609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129517" y="1663461"/>
            <a:ext cx="7896225" cy="4918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b="1">
                <a:solidFill>
                  <a:srgbClr val="6A8E7B"/>
                </a:solidFill>
                <a:latin typeface="Times New Roman"/>
                <a:cs typeface="Times New Roman"/>
              </a:rPr>
              <a:t>Key</a:t>
            </a:r>
            <a:r>
              <a:rPr dirty="0" sz="2450" spc="4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55" b="1">
                <a:solidFill>
                  <a:srgbClr val="6A8E7B"/>
                </a:solidFill>
                <a:latin typeface="Times New Roman"/>
                <a:cs typeface="Times New Roman"/>
              </a:rPr>
              <a:t>Features </a:t>
            </a:r>
            <a:r>
              <a:rPr dirty="0" sz="2450" spc="145" b="1">
                <a:solidFill>
                  <a:srgbClr val="6A8E7B"/>
                </a:solidFill>
                <a:latin typeface="Times New Roman"/>
                <a:cs typeface="Times New Roman"/>
              </a:rPr>
              <a:t>Implemented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450">
              <a:latin typeface="Times New Roman"/>
              <a:cs typeface="Times New Roman"/>
            </a:endParaRPr>
          </a:p>
          <a:p>
            <a:pPr marL="783590">
              <a:lnSpc>
                <a:spcPct val="100000"/>
              </a:lnSpc>
            </a:pPr>
            <a:r>
              <a:rPr dirty="0" sz="1800" spc="70" b="1">
                <a:solidFill>
                  <a:srgbClr val="1A1A1A"/>
                </a:solidFill>
                <a:latin typeface="Times New Roman"/>
                <a:cs typeface="Times New Roman"/>
              </a:rPr>
              <a:t>Responsive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Dashboards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Times New Roman"/>
                <a:cs typeface="Times New Roman"/>
              </a:rPr>
              <a:t>Bootstrap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Times New Roman"/>
                <a:cs typeface="Times New Roman"/>
              </a:rPr>
              <a:t>5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Times New Roman"/>
                <a:cs typeface="Times New Roman"/>
              </a:rPr>
              <a:t>grid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for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 all </a:t>
            </a:r>
            <a:r>
              <a:rPr dirty="0" sz="1800" spc="130">
                <a:solidFill>
                  <a:srgbClr val="1A1A1A"/>
                </a:solidFill>
                <a:latin typeface="Times New Roman"/>
                <a:cs typeface="Times New Roman"/>
              </a:rPr>
              <a:t>screen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Times New Roman"/>
                <a:cs typeface="Times New Roman"/>
              </a:rPr>
              <a:t>sizes</a:t>
            </a:r>
            <a:endParaRPr sz="1800">
              <a:latin typeface="Times New Roman"/>
              <a:cs typeface="Times New Roman"/>
            </a:endParaRPr>
          </a:p>
          <a:p>
            <a:pPr marL="783590" marR="5080">
              <a:lnSpc>
                <a:spcPct val="281200"/>
              </a:lnSpc>
            </a:pP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Client-</a:t>
            </a: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Side</a:t>
            </a:r>
            <a:r>
              <a:rPr dirty="0" sz="1800" spc="50" b="1">
                <a:solidFill>
                  <a:srgbClr val="1A1A1A"/>
                </a:solidFill>
                <a:latin typeface="Times New Roman"/>
                <a:cs typeface="Times New Roman"/>
              </a:rPr>
              <a:t> Validation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5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Email,</a:t>
            </a:r>
            <a:r>
              <a:rPr dirty="0" sz="1800" spc="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25">
                <a:solidFill>
                  <a:srgbClr val="1A1A1A"/>
                </a:solidFill>
                <a:latin typeface="Times New Roman"/>
                <a:cs typeface="Times New Roman"/>
              </a:rPr>
              <a:t>required</a:t>
            </a:r>
            <a:r>
              <a:rPr dirty="0" sz="1800" spc="5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fields,</a:t>
            </a:r>
            <a:r>
              <a:rPr dirty="0" sz="1800" spc="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25">
                <a:solidFill>
                  <a:srgbClr val="1A1A1A"/>
                </a:solidFill>
                <a:latin typeface="Times New Roman"/>
                <a:cs typeface="Times New Roman"/>
              </a:rPr>
              <a:t>password</a:t>
            </a:r>
            <a:r>
              <a:rPr dirty="0" sz="1800" spc="5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25">
                <a:solidFill>
                  <a:srgbClr val="1A1A1A"/>
                </a:solidFill>
                <a:latin typeface="Times New Roman"/>
                <a:cs typeface="Times New Roman"/>
              </a:rPr>
              <a:t>match </a:t>
            </a:r>
            <a:r>
              <a:rPr dirty="0" sz="1800" spc="70" b="1">
                <a:solidFill>
                  <a:srgbClr val="1A1A1A"/>
                </a:solidFill>
                <a:latin typeface="Times New Roman"/>
                <a:cs typeface="Times New Roman"/>
              </a:rPr>
              <a:t>Simulated</a:t>
            </a:r>
            <a:r>
              <a:rPr dirty="0" sz="1800" spc="-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Job</a:t>
            </a:r>
            <a:r>
              <a:rPr dirty="0" sz="1800" spc="-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Listings</a:t>
            </a:r>
            <a:r>
              <a:rPr dirty="0" sz="1800" spc="-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Times New Roman"/>
                <a:cs typeface="Times New Roman"/>
              </a:rPr>
              <a:t>Dynamic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DOM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Times New Roman"/>
                <a:cs typeface="Times New Roman"/>
              </a:rPr>
              <a:t>manipulation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25">
                <a:solidFill>
                  <a:srgbClr val="1A1A1A"/>
                </a:solidFill>
                <a:latin typeface="Times New Roman"/>
                <a:cs typeface="Times New Roman"/>
              </a:rPr>
              <a:t>from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60">
                <a:solidFill>
                  <a:srgbClr val="1A1A1A"/>
                </a:solidFill>
                <a:latin typeface="Times New Roman"/>
                <a:cs typeface="Times New Roman"/>
              </a:rPr>
              <a:t>JS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75">
                <a:solidFill>
                  <a:srgbClr val="1A1A1A"/>
                </a:solidFill>
                <a:latin typeface="Times New Roman"/>
                <a:cs typeface="Times New Roman"/>
              </a:rPr>
              <a:t>arrays </a:t>
            </a: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Client-</a:t>
            </a: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Side</a:t>
            </a:r>
            <a:r>
              <a:rPr dirty="0" sz="1800" spc="4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Filtering</a:t>
            </a: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5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Filter</a:t>
            </a:r>
            <a:r>
              <a:rPr dirty="0" sz="1800" spc="6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Times New Roman"/>
                <a:cs typeface="Times New Roman"/>
              </a:rPr>
              <a:t>by</a:t>
            </a:r>
            <a:r>
              <a:rPr dirty="0" sz="1800" spc="5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Times New Roman"/>
                <a:cs typeface="Times New Roman"/>
              </a:rPr>
              <a:t>company,</a:t>
            </a:r>
            <a:r>
              <a:rPr dirty="0" sz="1800" spc="6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Times New Roman"/>
                <a:cs typeface="Times New Roman"/>
              </a:rPr>
              <a:t>branch,</a:t>
            </a:r>
            <a:r>
              <a:rPr dirty="0" sz="1800" spc="6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Times New Roman"/>
                <a:cs typeface="Times New Roman"/>
              </a:rPr>
              <a:t>deadline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45"/>
              </a:spcBef>
            </a:pPr>
            <a:endParaRPr sz="1800">
              <a:latin typeface="Times New Roman"/>
              <a:cs typeface="Times New Roman"/>
            </a:endParaRPr>
          </a:p>
          <a:p>
            <a:pPr marL="783590">
              <a:lnSpc>
                <a:spcPct val="100000"/>
              </a:lnSpc>
            </a:pP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Mock</a:t>
            </a:r>
            <a:r>
              <a:rPr dirty="0" sz="1800" spc="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5" b="1">
                <a:solidFill>
                  <a:srgbClr val="1A1A1A"/>
                </a:solidFill>
                <a:latin typeface="Times New Roman"/>
                <a:cs typeface="Times New Roman"/>
              </a:rPr>
              <a:t>Application</a:t>
            </a:r>
            <a:r>
              <a:rPr dirty="0" sz="1800" spc="1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0" b="1">
                <a:solidFill>
                  <a:srgbClr val="1A1A1A"/>
                </a:solidFill>
                <a:latin typeface="Times New Roman"/>
                <a:cs typeface="Times New Roman"/>
              </a:rPr>
              <a:t>System</a:t>
            </a:r>
            <a:r>
              <a:rPr dirty="0" sz="1800" spc="1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60">
                <a:solidFill>
                  <a:srgbClr val="1A1A1A"/>
                </a:solidFill>
                <a:latin typeface="Times New Roman"/>
                <a:cs typeface="Times New Roman"/>
              </a:rPr>
              <a:t>JS</a:t>
            </a:r>
            <a:r>
              <a:rPr dirty="0" sz="18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Times New Roman"/>
                <a:cs typeface="Times New Roman"/>
              </a:rPr>
              <a:t>alert</a:t>
            </a:r>
            <a:r>
              <a:rPr dirty="0" sz="18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130">
                <a:solidFill>
                  <a:srgbClr val="1A1A1A"/>
                </a:solidFill>
                <a:latin typeface="Times New Roman"/>
                <a:cs typeface="Times New Roman"/>
              </a:rPr>
              <a:t>+</a:t>
            </a:r>
            <a:r>
              <a:rPr dirty="0" sz="180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Times New Roman"/>
                <a:cs typeface="Times New Roman"/>
              </a:rPr>
              <a:t>local</a:t>
            </a:r>
            <a:r>
              <a:rPr dirty="0" sz="18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array</a:t>
            </a:r>
            <a:r>
              <a:rPr dirty="0" sz="18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14">
                <a:solidFill>
                  <a:srgbClr val="1A1A1A"/>
                </a:solidFill>
                <a:latin typeface="Times New Roman"/>
                <a:cs typeface="Times New Roman"/>
              </a:rPr>
              <a:t>updates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1800">
              <a:latin typeface="Times New Roman"/>
              <a:cs typeface="Times New Roman"/>
            </a:endParaRPr>
          </a:p>
          <a:p>
            <a:pPr marL="783590">
              <a:lnSpc>
                <a:spcPct val="100000"/>
              </a:lnSpc>
              <a:spcBef>
                <a:spcPts val="5"/>
              </a:spcBef>
            </a:pPr>
            <a:r>
              <a:rPr dirty="0" sz="1800" spc="85" b="1">
                <a:solidFill>
                  <a:srgbClr val="1A1A1A"/>
                </a:solidFill>
                <a:latin typeface="Times New Roman"/>
                <a:cs typeface="Times New Roman"/>
              </a:rPr>
              <a:t>Mobile-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First</a:t>
            </a:r>
            <a:r>
              <a:rPr dirty="0" sz="1800" spc="-1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Design</a:t>
            </a:r>
            <a:r>
              <a:rPr dirty="0" sz="1800" spc="-1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Times New Roman"/>
                <a:cs typeface="Times New Roman"/>
              </a:rPr>
              <a:t>Tested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60">
                <a:solidFill>
                  <a:srgbClr val="1A1A1A"/>
                </a:solidFill>
                <a:latin typeface="Times New Roman"/>
                <a:cs typeface="Times New Roman"/>
              </a:rPr>
              <a:t>on</a:t>
            </a:r>
            <a:r>
              <a:rPr dirty="0" sz="1800" spc="-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Times New Roman"/>
                <a:cs typeface="Times New Roman"/>
              </a:rPr>
              <a:t>mobile,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Times New Roman"/>
                <a:cs typeface="Times New Roman"/>
              </a:rPr>
              <a:t>tablet,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45">
                <a:solidFill>
                  <a:srgbClr val="1A1A1A"/>
                </a:solidFill>
                <a:latin typeface="Times New Roman"/>
                <a:cs typeface="Times New Roman"/>
              </a:rPr>
              <a:t>and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Times New Roman"/>
                <a:cs typeface="Times New Roman"/>
              </a:rPr>
              <a:t>desktop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7078" y="7142358"/>
            <a:ext cx="16569690" cy="714375"/>
          </a:xfrm>
          <a:prstGeom prst="rect">
            <a:avLst/>
          </a:prstGeom>
          <a:solidFill>
            <a:srgbClr val="1B4D4D"/>
          </a:solidFill>
        </p:spPr>
        <p:txBody>
          <a:bodyPr wrap="square" lIns="0" tIns="180975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1425"/>
              </a:spcBef>
            </a:pPr>
            <a:r>
              <a:rPr dirty="0" sz="1800" spc="75" b="1">
                <a:solidFill>
                  <a:srgbClr val="FFFFFF"/>
                </a:solidFill>
                <a:latin typeface="Times New Roman"/>
                <a:cs typeface="Times New Roman"/>
              </a:rPr>
              <a:t>Deployment:</a:t>
            </a:r>
            <a:r>
              <a:rPr dirty="0" sz="1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imes New Roman"/>
                <a:cs typeface="Times New Roman"/>
              </a:rPr>
              <a:t>Static</a:t>
            </a:r>
            <a:r>
              <a:rPr dirty="0" sz="18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70">
                <a:solidFill>
                  <a:srgbClr val="FFFFFF"/>
                </a:solidFill>
                <a:latin typeface="Times New Roman"/>
                <a:cs typeface="Times New Roman"/>
              </a:rPr>
              <a:t>site</a:t>
            </a:r>
            <a:r>
              <a:rPr dirty="0" sz="18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95">
                <a:solidFill>
                  <a:srgbClr val="FFFFFF"/>
                </a:solidFill>
                <a:latin typeface="Times New Roman"/>
                <a:cs typeface="Times New Roman"/>
              </a:rPr>
              <a:t>deployable</a:t>
            </a:r>
            <a:r>
              <a:rPr dirty="0" sz="18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6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18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70">
                <a:solidFill>
                  <a:srgbClr val="FFFFFF"/>
                </a:solidFill>
                <a:latin typeface="Times New Roman"/>
                <a:cs typeface="Times New Roman"/>
              </a:rPr>
              <a:t>GitHub</a:t>
            </a:r>
            <a:r>
              <a:rPr dirty="0" sz="18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Pages,</a:t>
            </a:r>
            <a:r>
              <a:rPr dirty="0" sz="18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Netlify,</a:t>
            </a:r>
            <a:r>
              <a:rPr dirty="0" sz="18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35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dirty="0" sz="18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imes New Roman"/>
                <a:cs typeface="Times New Roman"/>
              </a:rPr>
              <a:t>Vercel</a:t>
            </a:r>
            <a:r>
              <a:rPr dirty="0" sz="18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0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dirty="0" sz="18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14">
                <a:solidFill>
                  <a:srgbClr val="FFFFFF"/>
                </a:solidFill>
                <a:latin typeface="Times New Roman"/>
                <a:cs typeface="Times New Roman"/>
              </a:rPr>
              <a:t>zero</a:t>
            </a:r>
            <a:r>
              <a:rPr dirty="0" sz="18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25">
                <a:solidFill>
                  <a:srgbClr val="FFFFFF"/>
                </a:solidFill>
                <a:latin typeface="Times New Roman"/>
                <a:cs typeface="Times New Roman"/>
              </a:rPr>
              <a:t>backend</a:t>
            </a:r>
            <a:r>
              <a:rPr dirty="0" sz="18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30">
                <a:solidFill>
                  <a:srgbClr val="FFFFFF"/>
                </a:solidFill>
                <a:latin typeface="Times New Roman"/>
                <a:cs typeface="Times New Roman"/>
              </a:rPr>
              <a:t>dependency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57078" y="9713603"/>
            <a:ext cx="16570325" cy="14604"/>
          </a:xfrm>
          <a:custGeom>
            <a:avLst/>
            <a:gdLst/>
            <a:ahLst/>
            <a:cxnLst/>
            <a:rect l="l" t="t" r="r" b="b"/>
            <a:pathLst>
              <a:path w="16570325" h="14604">
                <a:moveTo>
                  <a:pt x="16570262" y="14287"/>
                </a:moveTo>
                <a:lnTo>
                  <a:pt x="0" y="14287"/>
                </a:lnTo>
                <a:lnTo>
                  <a:pt x="0" y="0"/>
                </a:lnTo>
                <a:lnTo>
                  <a:pt x="16570262" y="0"/>
                </a:lnTo>
                <a:lnTo>
                  <a:pt x="16570262" y="14287"/>
                </a:lnTo>
                <a:close/>
              </a:path>
            </a:pathLst>
          </a:custGeom>
          <a:solidFill>
            <a:srgbClr val="E9E9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498663" y="9879416"/>
            <a:ext cx="227329" cy="215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z="1350" spc="90">
                <a:solidFill>
                  <a:srgbClr val="6A8E7B"/>
                </a:solidFill>
                <a:latin typeface="Times New Roman"/>
                <a:cs typeface="Times New Roman"/>
              </a:rPr>
              <a:t>05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378" y="168370"/>
            <a:ext cx="743330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8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65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Times New Roman"/>
                <a:cs typeface="Times New Roman"/>
              </a:rPr>
              <a:t>Design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85">
                <a:solidFill>
                  <a:srgbClr val="FFFFFF"/>
                </a:solidFill>
                <a:latin typeface="Times New Roman"/>
                <a:cs typeface="Times New Roman"/>
              </a:rPr>
              <a:t>Implementation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-40" b="1">
                <a:solidFill>
                  <a:srgbClr val="C7913A"/>
                </a:solidFill>
                <a:latin typeface="Times New Roman"/>
                <a:cs typeface="Times New Roman"/>
              </a:rPr>
              <a:t>WORKFLOW</a:t>
            </a:r>
            <a:r>
              <a:rPr dirty="0" sz="1350" spc="15" b="1">
                <a:solidFill>
                  <a:srgbClr val="C7913A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45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5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4"/>
              <a:t>Representative</a:t>
            </a:r>
            <a:r>
              <a:rPr dirty="0" spc="-20"/>
              <a:t> </a:t>
            </a:r>
            <a:r>
              <a:rPr dirty="0" spc="170"/>
              <a:t>Workflow</a:t>
            </a:r>
            <a:r>
              <a:rPr dirty="0" spc="-15"/>
              <a:t> </a:t>
            </a:r>
            <a:r>
              <a:rPr dirty="0" spc="-330"/>
              <a:t>&amp;</a:t>
            </a:r>
            <a:r>
              <a:rPr dirty="0" spc="-15"/>
              <a:t> </a:t>
            </a:r>
            <a:r>
              <a:rPr dirty="0" spc="50"/>
              <a:t>Data</a:t>
            </a:r>
            <a:r>
              <a:rPr dirty="0" spc="-15"/>
              <a:t> </a:t>
            </a:r>
            <a:r>
              <a:rPr dirty="0" spc="135"/>
              <a:t>Model</a:t>
            </a:r>
          </a:p>
        </p:txBody>
      </p:sp>
      <p:sp>
        <p:nvSpPr>
          <p:cNvPr id="4" name="object 4"/>
          <p:cNvSpPr/>
          <p:nvPr/>
        </p:nvSpPr>
        <p:spPr>
          <a:xfrm>
            <a:off x="857078" y="1399898"/>
            <a:ext cx="857250" cy="43180"/>
          </a:xfrm>
          <a:custGeom>
            <a:avLst/>
            <a:gdLst/>
            <a:ahLst/>
            <a:cxnLst/>
            <a:rect l="l" t="t" r="r" b="b"/>
            <a:pathLst>
              <a:path w="857250" h="43180">
                <a:moveTo>
                  <a:pt x="857059" y="42852"/>
                </a:moveTo>
                <a:lnTo>
                  <a:pt x="0" y="42852"/>
                </a:lnTo>
                <a:lnTo>
                  <a:pt x="0" y="0"/>
                </a:lnTo>
                <a:lnTo>
                  <a:pt x="857059" y="0"/>
                </a:lnTo>
                <a:lnTo>
                  <a:pt x="857059" y="42852"/>
                </a:lnTo>
                <a:close/>
              </a:path>
            </a:pathLst>
          </a:custGeom>
          <a:solidFill>
            <a:srgbClr val="C791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57078" y="1714166"/>
            <a:ext cx="2571750" cy="1285875"/>
          </a:xfrm>
          <a:prstGeom prst="rect">
            <a:avLst/>
          </a:prstGeom>
          <a:solidFill>
            <a:srgbClr val="1B4D4D"/>
          </a:solidFill>
        </p:spPr>
        <p:txBody>
          <a:bodyPr wrap="square" lIns="0" tIns="1098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65"/>
              </a:spcBef>
            </a:pP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550" spc="-85" b="1">
                <a:solidFill>
                  <a:srgbClr val="FFFFFF"/>
                </a:solidFill>
                <a:latin typeface="Times New Roman"/>
                <a:cs typeface="Times New Roman"/>
              </a:rPr>
              <a:t>1.</a:t>
            </a:r>
            <a:r>
              <a:rPr dirty="0" sz="155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70" b="1">
                <a:solidFill>
                  <a:srgbClr val="FFFFFF"/>
                </a:solidFill>
                <a:latin typeface="Times New Roman"/>
                <a:cs typeface="Times New Roman"/>
              </a:rPr>
              <a:t>Company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sz="1550" spc="65">
                <a:solidFill>
                  <a:srgbClr val="FFFFFF"/>
                </a:solidFill>
                <a:latin typeface="Times New Roman"/>
                <a:cs typeface="Times New Roman"/>
              </a:rPr>
              <a:t>Registers</a:t>
            </a:r>
            <a:r>
              <a:rPr dirty="0" sz="155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via</a:t>
            </a:r>
            <a:r>
              <a:rPr dirty="0" sz="155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FFFFFF"/>
                </a:solidFill>
                <a:latin typeface="Times New Roman"/>
                <a:cs typeface="Times New Roman"/>
              </a:rPr>
              <a:t>form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14039" y="2199846"/>
            <a:ext cx="400050" cy="28575"/>
          </a:xfrm>
          <a:custGeom>
            <a:avLst/>
            <a:gdLst/>
            <a:ahLst/>
            <a:cxnLst/>
            <a:rect l="l" t="t" r="r" b="b"/>
            <a:pathLst>
              <a:path w="400050" h="28575">
                <a:moveTo>
                  <a:pt x="399954" y="28574"/>
                </a:moveTo>
                <a:lnTo>
                  <a:pt x="0" y="28574"/>
                </a:lnTo>
                <a:lnTo>
                  <a:pt x="0" y="0"/>
                </a:lnTo>
                <a:lnTo>
                  <a:pt x="399954" y="0"/>
                </a:lnTo>
                <a:lnTo>
                  <a:pt x="399954" y="28574"/>
                </a:lnTo>
                <a:close/>
              </a:path>
            </a:pathLst>
          </a:custGeom>
          <a:solidFill>
            <a:srgbClr val="6A8E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99719" y="1714166"/>
            <a:ext cx="2571750" cy="1285875"/>
          </a:xfrm>
          <a:prstGeom prst="rect">
            <a:avLst/>
          </a:prstGeom>
          <a:solidFill>
            <a:srgbClr val="1B4D4D"/>
          </a:solidFill>
        </p:spPr>
        <p:txBody>
          <a:bodyPr wrap="square" lIns="0" tIns="1098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65"/>
              </a:spcBef>
            </a:pP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550" b="1">
                <a:solidFill>
                  <a:srgbClr val="FFFFFF"/>
                </a:solidFill>
                <a:latin typeface="Times New Roman"/>
                <a:cs typeface="Times New Roman"/>
              </a:rPr>
              <a:t>2.</a:t>
            </a:r>
            <a:r>
              <a:rPr dirty="0" sz="1550" spc="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80" b="1">
                <a:solidFill>
                  <a:srgbClr val="FFFFFF"/>
                </a:solidFill>
                <a:latin typeface="Times New Roman"/>
                <a:cs typeface="Times New Roman"/>
              </a:rPr>
              <a:t>Admin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sz="1550" spc="80">
                <a:solidFill>
                  <a:srgbClr val="FFFFFF"/>
                </a:solidFill>
                <a:latin typeface="Times New Roman"/>
                <a:cs typeface="Times New Roman"/>
              </a:rPr>
              <a:t>Approves/Rejects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56679" y="2199846"/>
            <a:ext cx="400050" cy="28575"/>
          </a:xfrm>
          <a:custGeom>
            <a:avLst/>
            <a:gdLst/>
            <a:ahLst/>
            <a:cxnLst/>
            <a:rect l="l" t="t" r="r" b="b"/>
            <a:pathLst>
              <a:path w="400050" h="28575">
                <a:moveTo>
                  <a:pt x="399954" y="28574"/>
                </a:moveTo>
                <a:lnTo>
                  <a:pt x="0" y="28574"/>
                </a:lnTo>
                <a:lnTo>
                  <a:pt x="0" y="0"/>
                </a:lnTo>
                <a:lnTo>
                  <a:pt x="399954" y="0"/>
                </a:lnTo>
                <a:lnTo>
                  <a:pt x="399954" y="28574"/>
                </a:lnTo>
                <a:close/>
              </a:path>
            </a:pathLst>
          </a:custGeom>
          <a:solidFill>
            <a:srgbClr val="6A8E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142358" y="1714166"/>
            <a:ext cx="2571750" cy="1285875"/>
          </a:xfrm>
          <a:prstGeom prst="rect">
            <a:avLst/>
          </a:prstGeom>
          <a:solidFill>
            <a:srgbClr val="1B4D4D"/>
          </a:solidFill>
        </p:spPr>
        <p:txBody>
          <a:bodyPr wrap="square" lIns="0" tIns="1098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65"/>
              </a:spcBef>
            </a:pP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550" b="1">
                <a:solidFill>
                  <a:srgbClr val="FFFFFF"/>
                </a:solidFill>
                <a:latin typeface="Times New Roman"/>
                <a:cs typeface="Times New Roman"/>
              </a:rPr>
              <a:t>3.</a:t>
            </a:r>
            <a:r>
              <a:rPr dirty="0" sz="1550" spc="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70" b="1">
                <a:solidFill>
                  <a:srgbClr val="FFFFFF"/>
                </a:solidFill>
                <a:latin typeface="Times New Roman"/>
                <a:cs typeface="Times New Roman"/>
              </a:rPr>
              <a:t>Company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sz="1550" spc="75">
                <a:solidFill>
                  <a:srgbClr val="FFFFFF"/>
                </a:solidFill>
                <a:latin typeface="Times New Roman"/>
                <a:cs typeface="Times New Roman"/>
              </a:rPr>
              <a:t>Posts</a:t>
            </a:r>
            <a:r>
              <a:rPr dirty="0" sz="155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40">
                <a:solidFill>
                  <a:srgbClr val="FFFFFF"/>
                </a:solidFill>
                <a:latin typeface="Times New Roman"/>
                <a:cs typeface="Times New Roman"/>
              </a:rPr>
              <a:t>listing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10" y="2199846"/>
            <a:ext cx="400050" cy="28575"/>
          </a:xfrm>
          <a:custGeom>
            <a:avLst/>
            <a:gdLst/>
            <a:ahLst/>
            <a:cxnLst/>
            <a:rect l="l" t="t" r="r" b="b"/>
            <a:pathLst>
              <a:path w="400050" h="28575">
                <a:moveTo>
                  <a:pt x="399954" y="28574"/>
                </a:moveTo>
                <a:lnTo>
                  <a:pt x="0" y="28574"/>
                </a:lnTo>
                <a:lnTo>
                  <a:pt x="0" y="0"/>
                </a:lnTo>
                <a:lnTo>
                  <a:pt x="399954" y="0"/>
                </a:lnTo>
                <a:lnTo>
                  <a:pt x="399954" y="28574"/>
                </a:lnTo>
                <a:close/>
              </a:path>
            </a:pathLst>
          </a:custGeom>
          <a:solidFill>
            <a:srgbClr val="6A8E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284989" y="1714166"/>
            <a:ext cx="2571750" cy="1285875"/>
          </a:xfrm>
          <a:prstGeom prst="rect">
            <a:avLst/>
          </a:prstGeom>
          <a:solidFill>
            <a:srgbClr val="6A8E7B"/>
          </a:solidFill>
        </p:spPr>
        <p:txBody>
          <a:bodyPr wrap="square" lIns="0" tIns="1098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65"/>
              </a:spcBef>
            </a:pP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550" b="1">
                <a:solidFill>
                  <a:srgbClr val="FFFFFF"/>
                </a:solidFill>
                <a:latin typeface="Times New Roman"/>
                <a:cs typeface="Times New Roman"/>
              </a:rPr>
              <a:t>4.</a:t>
            </a:r>
            <a:r>
              <a:rPr dirty="0" sz="1550" spc="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60" b="1">
                <a:solidFill>
                  <a:srgbClr val="FFFFFF"/>
                </a:solidFill>
                <a:latin typeface="Times New Roman"/>
                <a:cs typeface="Times New Roman"/>
              </a:rPr>
              <a:t>Student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sz="1550" spc="85">
                <a:solidFill>
                  <a:srgbClr val="FFFFFF"/>
                </a:solidFill>
                <a:latin typeface="Times New Roman"/>
                <a:cs typeface="Times New Roman"/>
              </a:rPr>
              <a:t>Browses</a:t>
            </a:r>
            <a:r>
              <a:rPr dirty="0" sz="155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155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FFFFFF"/>
                </a:solidFill>
                <a:latin typeface="Times New Roman"/>
                <a:cs typeface="Times New Roman"/>
              </a:rPr>
              <a:t>Applies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941950" y="2199846"/>
            <a:ext cx="400050" cy="28575"/>
          </a:xfrm>
          <a:custGeom>
            <a:avLst/>
            <a:gdLst/>
            <a:ahLst/>
            <a:cxnLst/>
            <a:rect l="l" t="t" r="r" b="b"/>
            <a:pathLst>
              <a:path w="400050" h="28575">
                <a:moveTo>
                  <a:pt x="399954" y="28574"/>
                </a:moveTo>
                <a:lnTo>
                  <a:pt x="0" y="28574"/>
                </a:lnTo>
                <a:lnTo>
                  <a:pt x="0" y="0"/>
                </a:lnTo>
                <a:lnTo>
                  <a:pt x="399954" y="0"/>
                </a:lnTo>
                <a:lnTo>
                  <a:pt x="399954" y="28574"/>
                </a:lnTo>
                <a:close/>
              </a:path>
            </a:pathLst>
          </a:custGeom>
          <a:solidFill>
            <a:srgbClr val="6A8E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427630" y="1714166"/>
            <a:ext cx="2571750" cy="1285875"/>
          </a:xfrm>
          <a:prstGeom prst="rect">
            <a:avLst/>
          </a:prstGeom>
          <a:solidFill>
            <a:srgbClr val="6A8E7B"/>
          </a:solidFill>
        </p:spPr>
        <p:txBody>
          <a:bodyPr wrap="square" lIns="0" tIns="1098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65"/>
              </a:spcBef>
            </a:pP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550" b="1">
                <a:solidFill>
                  <a:srgbClr val="FFFFFF"/>
                </a:solidFill>
                <a:latin typeface="Times New Roman"/>
                <a:cs typeface="Times New Roman"/>
              </a:rPr>
              <a:t>5.</a:t>
            </a:r>
            <a:r>
              <a:rPr dirty="0" sz="1550" spc="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60" b="1">
                <a:solidFill>
                  <a:srgbClr val="FFFFFF"/>
                </a:solidFill>
                <a:latin typeface="Times New Roman"/>
                <a:cs typeface="Times New Roman"/>
              </a:rPr>
              <a:t>Student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sz="1550" spc="85">
                <a:solidFill>
                  <a:srgbClr val="FFFFFF"/>
                </a:solidFill>
                <a:latin typeface="Times New Roman"/>
                <a:cs typeface="Times New Roman"/>
              </a:rPr>
              <a:t>Sees</a:t>
            </a:r>
            <a:r>
              <a:rPr dirty="0" sz="15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Times New Roman"/>
                <a:cs typeface="Times New Roman"/>
              </a:rPr>
              <a:t>"Pending"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084582" y="2199846"/>
            <a:ext cx="400050" cy="28575"/>
          </a:xfrm>
          <a:custGeom>
            <a:avLst/>
            <a:gdLst/>
            <a:ahLst/>
            <a:cxnLst/>
            <a:rect l="l" t="t" r="r" b="b"/>
            <a:pathLst>
              <a:path w="400050" h="28575">
                <a:moveTo>
                  <a:pt x="399954" y="28574"/>
                </a:moveTo>
                <a:lnTo>
                  <a:pt x="0" y="28574"/>
                </a:lnTo>
                <a:lnTo>
                  <a:pt x="0" y="0"/>
                </a:lnTo>
                <a:lnTo>
                  <a:pt x="399954" y="0"/>
                </a:lnTo>
                <a:lnTo>
                  <a:pt x="399954" y="28574"/>
                </a:lnTo>
                <a:close/>
              </a:path>
            </a:pathLst>
          </a:custGeom>
          <a:solidFill>
            <a:srgbClr val="6A8E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6570261" y="1714166"/>
            <a:ext cx="857250" cy="1285875"/>
          </a:xfrm>
          <a:prstGeom prst="rect">
            <a:avLst/>
          </a:prstGeom>
          <a:solidFill>
            <a:srgbClr val="C7913A"/>
          </a:solidFill>
        </p:spPr>
        <p:txBody>
          <a:bodyPr wrap="square" lIns="0" tIns="1841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50"/>
              </a:spcBef>
            </a:pPr>
            <a:r>
              <a:rPr dirty="0" sz="1550" spc="35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1550">
              <a:latin typeface="Times New Roman"/>
              <a:cs typeface="Times New Roman"/>
            </a:endParaRPr>
          </a:p>
          <a:p>
            <a:pPr algn="ctr" marL="50800" marR="43180">
              <a:lnSpc>
                <a:spcPct val="129000"/>
              </a:lnSpc>
            </a:pPr>
            <a:r>
              <a:rPr dirty="0" sz="1550" spc="60">
                <a:solidFill>
                  <a:srgbClr val="FFFFFF"/>
                </a:solidFill>
                <a:latin typeface="Times New Roman"/>
                <a:cs typeface="Times New Roman"/>
              </a:rPr>
              <a:t>Shortlist </a:t>
            </a:r>
            <a:r>
              <a:rPr dirty="0" sz="1550" spc="120">
                <a:solidFill>
                  <a:srgbClr val="FFFFFF"/>
                </a:solidFill>
                <a:latin typeface="Times New Roman"/>
                <a:cs typeface="Times New Roman"/>
              </a:rPr>
              <a:t>ed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49944" y="4849663"/>
            <a:ext cx="8009890" cy="4300220"/>
            <a:chOff x="849944" y="4849663"/>
            <a:chExt cx="8009890" cy="4300220"/>
          </a:xfrm>
        </p:grpSpPr>
        <p:sp>
          <p:nvSpPr>
            <p:cNvPr id="17" name="object 17"/>
            <p:cNvSpPr/>
            <p:nvPr/>
          </p:nvSpPr>
          <p:spPr>
            <a:xfrm>
              <a:off x="857088" y="4856806"/>
              <a:ext cx="7999730" cy="4285615"/>
            </a:xfrm>
            <a:custGeom>
              <a:avLst/>
              <a:gdLst/>
              <a:ahLst/>
              <a:cxnLst/>
              <a:rect l="l" t="t" r="r" b="b"/>
              <a:pathLst>
                <a:path w="7999730" h="4285615">
                  <a:moveTo>
                    <a:pt x="7999476" y="4285392"/>
                  </a:moveTo>
                  <a:lnTo>
                    <a:pt x="0" y="4285392"/>
                  </a:lnTo>
                  <a:lnTo>
                    <a:pt x="0" y="0"/>
                  </a:lnTo>
                  <a:lnTo>
                    <a:pt x="7999476" y="0"/>
                  </a:lnTo>
                  <a:lnTo>
                    <a:pt x="7999476" y="42853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49934" y="4849672"/>
              <a:ext cx="8009890" cy="4300220"/>
            </a:xfrm>
            <a:custGeom>
              <a:avLst/>
              <a:gdLst/>
              <a:ahLst/>
              <a:cxnLst/>
              <a:rect l="l" t="t" r="r" b="b"/>
              <a:pathLst>
                <a:path w="8009890" h="4300220">
                  <a:moveTo>
                    <a:pt x="8009623" y="0"/>
                  </a:moveTo>
                  <a:lnTo>
                    <a:pt x="7999476" y="0"/>
                  </a:lnTo>
                  <a:lnTo>
                    <a:pt x="7999476" y="14287"/>
                  </a:lnTo>
                  <a:lnTo>
                    <a:pt x="7999476" y="4284980"/>
                  </a:lnTo>
                  <a:lnTo>
                    <a:pt x="7999476" y="4285386"/>
                  </a:lnTo>
                  <a:lnTo>
                    <a:pt x="7999476" y="4292536"/>
                  </a:lnTo>
                  <a:lnTo>
                    <a:pt x="7150" y="4292600"/>
                  </a:lnTo>
                  <a:lnTo>
                    <a:pt x="14287" y="4292536"/>
                  </a:lnTo>
                  <a:lnTo>
                    <a:pt x="7999476" y="4292536"/>
                  </a:lnTo>
                  <a:lnTo>
                    <a:pt x="7999476" y="4285386"/>
                  </a:lnTo>
                  <a:lnTo>
                    <a:pt x="14287" y="4285386"/>
                  </a:lnTo>
                  <a:lnTo>
                    <a:pt x="7150" y="4285386"/>
                  </a:lnTo>
                  <a:lnTo>
                    <a:pt x="7150" y="4284980"/>
                  </a:lnTo>
                  <a:lnTo>
                    <a:pt x="14287" y="4284980"/>
                  </a:lnTo>
                  <a:lnTo>
                    <a:pt x="14287" y="14287"/>
                  </a:lnTo>
                  <a:lnTo>
                    <a:pt x="7999476" y="14287"/>
                  </a:lnTo>
                  <a:lnTo>
                    <a:pt x="7999476" y="0"/>
                  </a:lnTo>
                  <a:lnTo>
                    <a:pt x="1333" y="0"/>
                  </a:lnTo>
                  <a:lnTo>
                    <a:pt x="1333" y="3810"/>
                  </a:lnTo>
                  <a:lnTo>
                    <a:pt x="0" y="3810"/>
                  </a:lnTo>
                  <a:lnTo>
                    <a:pt x="0" y="4296410"/>
                  </a:lnTo>
                  <a:lnTo>
                    <a:pt x="1866" y="4296410"/>
                  </a:lnTo>
                  <a:lnTo>
                    <a:pt x="1866" y="4300220"/>
                  </a:lnTo>
                  <a:lnTo>
                    <a:pt x="8009623" y="4300220"/>
                  </a:lnTo>
                  <a:lnTo>
                    <a:pt x="8009623" y="4296410"/>
                  </a:lnTo>
                  <a:lnTo>
                    <a:pt x="8009623" y="4292600"/>
                  </a:lnTo>
                  <a:lnTo>
                    <a:pt x="8006626" y="4292600"/>
                  </a:lnTo>
                  <a:lnTo>
                    <a:pt x="8009623" y="4292536"/>
                  </a:lnTo>
                  <a:lnTo>
                    <a:pt x="8009623" y="4285386"/>
                  </a:lnTo>
                  <a:lnTo>
                    <a:pt x="8006626" y="4285386"/>
                  </a:lnTo>
                  <a:lnTo>
                    <a:pt x="8006626" y="4284980"/>
                  </a:lnTo>
                  <a:lnTo>
                    <a:pt x="8009623" y="4284980"/>
                  </a:lnTo>
                  <a:lnTo>
                    <a:pt x="8009623" y="14287"/>
                  </a:lnTo>
                  <a:lnTo>
                    <a:pt x="8009623" y="13970"/>
                  </a:lnTo>
                  <a:lnTo>
                    <a:pt x="8009623" y="7620"/>
                  </a:lnTo>
                  <a:lnTo>
                    <a:pt x="8009623" y="7137"/>
                  </a:lnTo>
                  <a:lnTo>
                    <a:pt x="8009623" y="3810"/>
                  </a:lnTo>
                  <a:lnTo>
                    <a:pt x="8009623" y="0"/>
                  </a:lnTo>
                  <a:close/>
                </a:path>
              </a:pathLst>
            </a:custGeom>
            <a:solidFill>
              <a:srgbClr val="E9E9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1760" rIns="0" bIns="0" rtlCol="0" vert="horz">
            <a:spAutoFit/>
          </a:bodyPr>
          <a:lstStyle/>
          <a:p>
            <a:pPr marL="278130">
              <a:lnSpc>
                <a:spcPct val="100000"/>
              </a:lnSpc>
              <a:spcBef>
                <a:spcPts val="880"/>
              </a:spcBef>
            </a:pPr>
            <a:r>
              <a:rPr dirty="0" spc="55" b="1">
                <a:solidFill>
                  <a:srgbClr val="1B4D4D"/>
                </a:solidFill>
                <a:latin typeface="Times New Roman"/>
                <a:cs typeface="Times New Roman"/>
              </a:rPr>
              <a:t>const</a:t>
            </a:r>
            <a:r>
              <a:rPr dirty="0" spc="105" b="1">
                <a:solidFill>
                  <a:srgbClr val="1B4D4D"/>
                </a:solidFill>
                <a:latin typeface="Times New Roman"/>
                <a:cs typeface="Times New Roman"/>
              </a:rPr>
              <a:t> </a:t>
            </a:r>
            <a:r>
              <a:rPr dirty="0"/>
              <a:t>jobListings</a:t>
            </a:r>
            <a:r>
              <a:rPr dirty="0" spc="110"/>
              <a:t> </a:t>
            </a:r>
            <a:r>
              <a:rPr dirty="0" spc="-114"/>
              <a:t>=</a:t>
            </a:r>
            <a:r>
              <a:rPr dirty="0" spc="110"/>
              <a:t> </a:t>
            </a:r>
            <a:r>
              <a:rPr dirty="0" spc="-50"/>
              <a:t>[</a:t>
            </a:r>
          </a:p>
          <a:p>
            <a:pPr marL="278130">
              <a:lnSpc>
                <a:spcPct val="100000"/>
              </a:lnSpc>
              <a:spcBef>
                <a:spcPts val="780"/>
              </a:spcBef>
            </a:pPr>
            <a:r>
              <a:rPr dirty="0" spc="-315"/>
              <a:t>{</a:t>
            </a:r>
            <a:r>
              <a:rPr dirty="0" spc="5"/>
              <a:t> </a:t>
            </a:r>
            <a:r>
              <a:rPr dirty="0"/>
              <a:t>id:</a:t>
            </a:r>
            <a:r>
              <a:rPr dirty="0" spc="10"/>
              <a:t> </a:t>
            </a:r>
            <a:r>
              <a:rPr dirty="0" spc="-25"/>
              <a:t>1,</a:t>
            </a:r>
          </a:p>
          <a:p>
            <a:pPr marL="278130" marR="5758815">
              <a:lnSpc>
                <a:spcPct val="148100"/>
              </a:lnSpc>
            </a:pPr>
            <a:r>
              <a:rPr dirty="0" spc="10"/>
              <a:t>title:</a:t>
            </a:r>
            <a:r>
              <a:rPr dirty="0" spc="160"/>
              <a:t> </a:t>
            </a:r>
            <a:r>
              <a:rPr dirty="0" spc="10">
                <a:solidFill>
                  <a:srgbClr val="C7913A"/>
                </a:solidFill>
              </a:rPr>
              <a:t>"Software</a:t>
            </a:r>
            <a:r>
              <a:rPr dirty="0" spc="165">
                <a:solidFill>
                  <a:srgbClr val="C7913A"/>
                </a:solidFill>
              </a:rPr>
              <a:t> </a:t>
            </a:r>
            <a:r>
              <a:rPr dirty="0" spc="-10">
                <a:solidFill>
                  <a:srgbClr val="C7913A"/>
                </a:solidFill>
              </a:rPr>
              <a:t>Engineer"</a:t>
            </a:r>
            <a:r>
              <a:rPr dirty="0" spc="-10"/>
              <a:t>, </a:t>
            </a:r>
            <a:r>
              <a:rPr dirty="0" spc="75"/>
              <a:t>company:</a:t>
            </a:r>
            <a:r>
              <a:rPr dirty="0" spc="60"/>
              <a:t> </a:t>
            </a:r>
            <a:r>
              <a:rPr dirty="0">
                <a:solidFill>
                  <a:srgbClr val="C7913A"/>
                </a:solidFill>
              </a:rPr>
              <a:t>"Tech</a:t>
            </a:r>
            <a:r>
              <a:rPr dirty="0" spc="60">
                <a:solidFill>
                  <a:srgbClr val="C7913A"/>
                </a:solidFill>
              </a:rPr>
              <a:t> </a:t>
            </a:r>
            <a:r>
              <a:rPr dirty="0" spc="-10">
                <a:solidFill>
                  <a:srgbClr val="C7913A"/>
                </a:solidFill>
              </a:rPr>
              <a:t>Corp"</a:t>
            </a:r>
            <a:r>
              <a:rPr dirty="0" spc="-10"/>
              <a:t>, </a:t>
            </a:r>
            <a:r>
              <a:rPr dirty="0"/>
              <a:t>eligibility:</a:t>
            </a:r>
            <a:r>
              <a:rPr dirty="0" spc="140"/>
              <a:t> </a:t>
            </a:r>
            <a:r>
              <a:rPr dirty="0" spc="-10">
                <a:solidFill>
                  <a:srgbClr val="C7913A"/>
                </a:solidFill>
              </a:rPr>
              <a:t>"CSE"</a:t>
            </a:r>
            <a:r>
              <a:rPr dirty="0" spc="-10"/>
              <a:t>, </a:t>
            </a:r>
            <a:r>
              <a:rPr dirty="0" spc="60"/>
              <a:t>deadline:</a:t>
            </a:r>
            <a:r>
              <a:rPr dirty="0" spc="55"/>
              <a:t> </a:t>
            </a:r>
            <a:r>
              <a:rPr dirty="0" spc="55">
                <a:solidFill>
                  <a:srgbClr val="C7913A"/>
                </a:solidFill>
              </a:rPr>
              <a:t>"2025-</a:t>
            </a:r>
            <a:r>
              <a:rPr dirty="0" spc="135">
                <a:solidFill>
                  <a:srgbClr val="C7913A"/>
                </a:solidFill>
              </a:rPr>
              <a:t>06-</a:t>
            </a:r>
            <a:r>
              <a:rPr dirty="0">
                <a:solidFill>
                  <a:srgbClr val="C7913A"/>
                </a:solidFill>
              </a:rPr>
              <a:t>30"</a:t>
            </a:r>
            <a:r>
              <a:rPr dirty="0" spc="60">
                <a:solidFill>
                  <a:srgbClr val="C7913A"/>
                </a:solidFill>
              </a:rPr>
              <a:t> </a:t>
            </a:r>
            <a:r>
              <a:rPr dirty="0" spc="-90"/>
              <a:t>},</a:t>
            </a:r>
          </a:p>
          <a:p>
            <a:pPr marL="278130">
              <a:lnSpc>
                <a:spcPct val="100000"/>
              </a:lnSpc>
              <a:spcBef>
                <a:spcPts val="780"/>
              </a:spcBef>
            </a:pPr>
            <a:r>
              <a:rPr dirty="0" spc="-315"/>
              <a:t>{</a:t>
            </a:r>
            <a:r>
              <a:rPr dirty="0" spc="5"/>
              <a:t> </a:t>
            </a:r>
            <a:r>
              <a:rPr dirty="0"/>
              <a:t>id:</a:t>
            </a:r>
            <a:r>
              <a:rPr dirty="0" spc="10"/>
              <a:t> </a:t>
            </a:r>
            <a:r>
              <a:rPr dirty="0" spc="-25"/>
              <a:t>2,</a:t>
            </a:r>
          </a:p>
          <a:p>
            <a:pPr marL="278130" marR="5871845">
              <a:lnSpc>
                <a:spcPct val="148100"/>
              </a:lnSpc>
            </a:pPr>
            <a:r>
              <a:rPr dirty="0"/>
              <a:t>title:</a:t>
            </a:r>
            <a:r>
              <a:rPr dirty="0" spc="70"/>
              <a:t> </a:t>
            </a:r>
            <a:r>
              <a:rPr dirty="0">
                <a:solidFill>
                  <a:srgbClr val="C7913A"/>
                </a:solidFill>
              </a:rPr>
              <a:t>"Data</a:t>
            </a:r>
            <a:r>
              <a:rPr dirty="0" spc="70">
                <a:solidFill>
                  <a:srgbClr val="C7913A"/>
                </a:solidFill>
              </a:rPr>
              <a:t> </a:t>
            </a:r>
            <a:r>
              <a:rPr dirty="0" spc="-10">
                <a:solidFill>
                  <a:srgbClr val="C7913A"/>
                </a:solidFill>
              </a:rPr>
              <a:t>Analyst"</a:t>
            </a:r>
            <a:r>
              <a:rPr dirty="0" spc="-10"/>
              <a:t>, </a:t>
            </a:r>
            <a:r>
              <a:rPr dirty="0" spc="75"/>
              <a:t>company:</a:t>
            </a:r>
            <a:r>
              <a:rPr dirty="0" spc="5"/>
              <a:t> </a:t>
            </a:r>
            <a:r>
              <a:rPr dirty="0" spc="-10">
                <a:solidFill>
                  <a:srgbClr val="C7913A"/>
                </a:solidFill>
              </a:rPr>
              <a:t>"DataInsight"</a:t>
            </a:r>
            <a:r>
              <a:rPr dirty="0" spc="-10"/>
              <a:t>, </a:t>
            </a:r>
            <a:r>
              <a:rPr dirty="0"/>
              <a:t>eligibility:</a:t>
            </a:r>
            <a:r>
              <a:rPr dirty="0" spc="140"/>
              <a:t> </a:t>
            </a:r>
            <a:r>
              <a:rPr dirty="0" spc="-20">
                <a:solidFill>
                  <a:srgbClr val="C7913A"/>
                </a:solidFill>
              </a:rPr>
              <a:t>"IT"</a:t>
            </a:r>
            <a:r>
              <a:rPr dirty="0" spc="-20"/>
              <a:t>,</a:t>
            </a:r>
          </a:p>
          <a:p>
            <a:pPr marL="278130">
              <a:lnSpc>
                <a:spcPct val="100000"/>
              </a:lnSpc>
              <a:spcBef>
                <a:spcPts val="780"/>
              </a:spcBef>
            </a:pPr>
            <a:r>
              <a:rPr dirty="0" spc="60"/>
              <a:t>deadline:</a:t>
            </a:r>
            <a:r>
              <a:rPr dirty="0" spc="10"/>
              <a:t> </a:t>
            </a:r>
            <a:r>
              <a:rPr dirty="0" spc="55">
                <a:solidFill>
                  <a:srgbClr val="C7913A"/>
                </a:solidFill>
              </a:rPr>
              <a:t>"2025-</a:t>
            </a:r>
            <a:r>
              <a:rPr dirty="0" spc="125">
                <a:solidFill>
                  <a:srgbClr val="C7913A"/>
                </a:solidFill>
              </a:rPr>
              <a:t>07-</a:t>
            </a:r>
            <a:r>
              <a:rPr dirty="0" spc="-110">
                <a:solidFill>
                  <a:srgbClr val="C7913A"/>
                </a:solidFill>
              </a:rPr>
              <a:t>15"</a:t>
            </a:r>
            <a:r>
              <a:rPr dirty="0" spc="15">
                <a:solidFill>
                  <a:srgbClr val="C7913A"/>
                </a:solidFill>
              </a:rPr>
              <a:t> </a:t>
            </a:r>
            <a:r>
              <a:rPr dirty="0" spc="-365"/>
              <a:t>}</a:t>
            </a:r>
          </a:p>
          <a:p>
            <a:pPr marL="278130">
              <a:lnSpc>
                <a:spcPct val="100000"/>
              </a:lnSpc>
              <a:spcBef>
                <a:spcPts val="780"/>
              </a:spcBef>
            </a:pPr>
            <a:r>
              <a:rPr dirty="0" spc="-25"/>
              <a:t>];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44378" y="3093335"/>
            <a:ext cx="16316960" cy="1572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100"/>
              </a:lnSpc>
              <a:spcBef>
                <a:spcPts val="95"/>
              </a:spcBef>
            </a:pPr>
            <a:r>
              <a:rPr dirty="0" sz="1550" spc="120">
                <a:solidFill>
                  <a:srgbClr val="6A8E7B"/>
                </a:solidFill>
                <a:latin typeface="Times New Roman"/>
                <a:cs typeface="Times New Roman"/>
              </a:rPr>
              <a:t>End-</a:t>
            </a:r>
            <a:r>
              <a:rPr dirty="0" sz="1550" spc="145">
                <a:solidFill>
                  <a:srgbClr val="6A8E7B"/>
                </a:solidFill>
                <a:latin typeface="Times New Roman"/>
                <a:cs typeface="Times New Roman"/>
              </a:rPr>
              <a:t>to-</a:t>
            </a:r>
            <a:r>
              <a:rPr dirty="0" sz="1550" spc="155">
                <a:solidFill>
                  <a:srgbClr val="6A8E7B"/>
                </a:solidFill>
                <a:latin typeface="Times New Roman"/>
                <a:cs typeface="Times New Roman"/>
              </a:rPr>
              <a:t>end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6A8E7B"/>
                </a:solidFill>
                <a:latin typeface="Times New Roman"/>
                <a:cs typeface="Times New Roman"/>
              </a:rPr>
              <a:t>simulated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0">
                <a:solidFill>
                  <a:srgbClr val="6A8E7B"/>
                </a:solidFill>
                <a:latin typeface="Times New Roman"/>
                <a:cs typeface="Times New Roman"/>
              </a:rPr>
              <a:t>workflow: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10">
                <a:solidFill>
                  <a:srgbClr val="6A8E7B"/>
                </a:solidFill>
                <a:latin typeface="Times New Roman"/>
                <a:cs typeface="Times New Roman"/>
              </a:rPr>
              <a:t>Company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registration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700" spc="1019">
                <a:solidFill>
                  <a:srgbClr val="6A8E7B"/>
                </a:solidFill>
                <a:latin typeface="Lucida Sans Unicode"/>
                <a:cs typeface="Lucida Sans Unicode"/>
              </a:rPr>
              <a:t>→</a:t>
            </a:r>
            <a:r>
              <a:rPr dirty="0" sz="700" spc="75">
                <a:solidFill>
                  <a:srgbClr val="6A8E7B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100">
                <a:solidFill>
                  <a:srgbClr val="6A8E7B"/>
                </a:solidFill>
                <a:latin typeface="Times New Roman"/>
                <a:cs typeface="Times New Roman"/>
              </a:rPr>
              <a:t>Admin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approval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700" spc="1019">
                <a:solidFill>
                  <a:srgbClr val="6A8E7B"/>
                </a:solidFill>
                <a:latin typeface="Lucida Sans Unicode"/>
                <a:cs typeface="Lucida Sans Unicode"/>
              </a:rPr>
              <a:t>→</a:t>
            </a:r>
            <a:r>
              <a:rPr dirty="0" sz="700" spc="75">
                <a:solidFill>
                  <a:srgbClr val="6A8E7B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60">
                <a:solidFill>
                  <a:srgbClr val="6A8E7B"/>
                </a:solidFill>
                <a:latin typeface="Times New Roman"/>
                <a:cs typeface="Times New Roman"/>
              </a:rPr>
              <a:t>Job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6A8E7B"/>
                </a:solidFill>
                <a:latin typeface="Times New Roman"/>
                <a:cs typeface="Times New Roman"/>
              </a:rPr>
              <a:t>posting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700" spc="1019">
                <a:solidFill>
                  <a:srgbClr val="6A8E7B"/>
                </a:solidFill>
                <a:latin typeface="Lucida Sans Unicode"/>
                <a:cs typeface="Lucida Sans Unicode"/>
              </a:rPr>
              <a:t>→</a:t>
            </a:r>
            <a:r>
              <a:rPr dirty="0" sz="700" spc="70">
                <a:solidFill>
                  <a:srgbClr val="6A8E7B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110">
                <a:solidFill>
                  <a:srgbClr val="6A8E7B"/>
                </a:solidFill>
                <a:latin typeface="Times New Roman"/>
                <a:cs typeface="Times New Roman"/>
              </a:rPr>
              <a:t>Student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application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700" spc="1019">
                <a:solidFill>
                  <a:srgbClr val="6A8E7B"/>
                </a:solidFill>
                <a:latin typeface="Lucida Sans Unicode"/>
                <a:cs typeface="Lucida Sans Unicode"/>
              </a:rPr>
              <a:t>→</a:t>
            </a:r>
            <a:r>
              <a:rPr dirty="0" sz="700" spc="70">
                <a:solidFill>
                  <a:srgbClr val="6A8E7B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80">
                <a:solidFill>
                  <a:srgbClr val="6A8E7B"/>
                </a:solidFill>
                <a:latin typeface="Times New Roman"/>
                <a:cs typeface="Times New Roman"/>
              </a:rPr>
              <a:t>Status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tracking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700" spc="1019">
                <a:solidFill>
                  <a:srgbClr val="6A8E7B"/>
                </a:solidFill>
                <a:latin typeface="Lucida Sans Unicode"/>
                <a:cs typeface="Lucida Sans Unicode"/>
              </a:rPr>
              <a:t>→</a:t>
            </a:r>
            <a:r>
              <a:rPr dirty="0" sz="700" spc="70">
                <a:solidFill>
                  <a:srgbClr val="6A8E7B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70">
                <a:solidFill>
                  <a:srgbClr val="6A8E7B"/>
                </a:solidFill>
                <a:latin typeface="Times New Roman"/>
                <a:cs typeface="Times New Roman"/>
              </a:rPr>
              <a:t>Shortlisting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0">
                <a:solidFill>
                  <a:srgbClr val="6A8E7B"/>
                </a:solidFill>
                <a:latin typeface="Times New Roman"/>
                <a:cs typeface="Times New Roman"/>
              </a:rPr>
              <a:t>update.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All</a:t>
            </a:r>
            <a:r>
              <a:rPr dirty="0" sz="1550" spc="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status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6A8E7B"/>
                </a:solidFill>
                <a:latin typeface="Times New Roman"/>
                <a:cs typeface="Times New Roman"/>
              </a:rPr>
              <a:t>changes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14">
                <a:solidFill>
                  <a:srgbClr val="6A8E7B"/>
                </a:solidFill>
                <a:latin typeface="Times New Roman"/>
                <a:cs typeface="Times New Roman"/>
              </a:rPr>
              <a:t>managed 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via</a:t>
            </a:r>
            <a:r>
              <a:rPr dirty="0" sz="1550" spc="3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0">
                <a:solidFill>
                  <a:srgbClr val="6A8E7B"/>
                </a:solidFill>
                <a:latin typeface="Times New Roman"/>
                <a:cs typeface="Times New Roman"/>
              </a:rPr>
              <a:t>client-</a:t>
            </a: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side</a:t>
            </a:r>
            <a:r>
              <a:rPr dirty="0" sz="1550" spc="3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6A8E7B"/>
                </a:solidFill>
                <a:latin typeface="Times New Roman"/>
                <a:cs typeface="Times New Roman"/>
              </a:rPr>
              <a:t>JavaScript</a:t>
            </a:r>
            <a:r>
              <a:rPr dirty="0" sz="1550" spc="3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65">
                <a:solidFill>
                  <a:srgbClr val="6A8E7B"/>
                </a:solidFill>
                <a:latin typeface="Times New Roman"/>
                <a:cs typeface="Times New Roman"/>
              </a:rPr>
              <a:t>objects.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8583295" algn="l"/>
              </a:tabLst>
            </a:pPr>
            <a:r>
              <a:rPr dirty="0" sz="2450" spc="130" b="1">
                <a:solidFill>
                  <a:srgbClr val="6A8E7B"/>
                </a:solidFill>
                <a:latin typeface="Times New Roman"/>
                <a:cs typeface="Times New Roman"/>
              </a:rPr>
              <a:t>Sample</a:t>
            </a:r>
            <a:r>
              <a:rPr dirty="0" sz="2450" spc="4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b="1">
                <a:solidFill>
                  <a:srgbClr val="6A8E7B"/>
                </a:solidFill>
                <a:latin typeface="Times New Roman"/>
                <a:cs typeface="Times New Roman"/>
              </a:rPr>
              <a:t>Data</a:t>
            </a:r>
            <a:r>
              <a:rPr dirty="0" sz="2450" spc="4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70" b="1">
                <a:solidFill>
                  <a:srgbClr val="6A8E7B"/>
                </a:solidFill>
                <a:latin typeface="Times New Roman"/>
                <a:cs typeface="Times New Roman"/>
              </a:rPr>
              <a:t>Structure</a:t>
            </a:r>
            <a:r>
              <a:rPr dirty="0" sz="2450" spc="4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-10" b="1">
                <a:solidFill>
                  <a:srgbClr val="6A8E7B"/>
                </a:solidFill>
                <a:latin typeface="Times New Roman"/>
                <a:cs typeface="Times New Roman"/>
              </a:rPr>
              <a:t>(JSON)</a:t>
            </a:r>
            <a:r>
              <a:rPr dirty="0" sz="2450" b="1">
                <a:solidFill>
                  <a:srgbClr val="6A8E7B"/>
                </a:solidFill>
                <a:latin typeface="Times New Roman"/>
                <a:cs typeface="Times New Roman"/>
              </a:rPr>
              <a:t>	</a:t>
            </a:r>
            <a:r>
              <a:rPr dirty="0" sz="2450" spc="95" b="1">
                <a:solidFill>
                  <a:srgbClr val="6A8E7B"/>
                </a:solidFill>
                <a:latin typeface="Times New Roman"/>
                <a:cs typeface="Times New Roman"/>
              </a:rPr>
              <a:t>Application</a:t>
            </a:r>
            <a:r>
              <a:rPr dirty="0" sz="2450" spc="-10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55" b="1">
                <a:solidFill>
                  <a:srgbClr val="6A8E7B"/>
                </a:solidFill>
                <a:latin typeface="Times New Roman"/>
                <a:cs typeface="Times New Roman"/>
              </a:rPr>
              <a:t>Status</a:t>
            </a:r>
            <a:r>
              <a:rPr dirty="0" sz="2450" spc="-10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50" b="1">
                <a:solidFill>
                  <a:srgbClr val="6A8E7B"/>
                </a:solidFill>
                <a:latin typeface="Times New Roman"/>
                <a:cs typeface="Times New Roman"/>
              </a:rPr>
              <a:t>Lifecycle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99297" y="5142499"/>
            <a:ext cx="2000885" cy="714375"/>
          </a:xfrm>
          <a:prstGeom prst="rect">
            <a:avLst/>
          </a:prstGeom>
          <a:solidFill>
            <a:srgbClr val="6A8E7B"/>
          </a:solidFill>
        </p:spPr>
        <p:txBody>
          <a:bodyPr wrap="square" lIns="0" tIns="180975" rIns="0" bIns="0" rtlCol="0" vert="horz">
            <a:spAutoFit/>
          </a:bodyPr>
          <a:lstStyle/>
          <a:p>
            <a:pPr marL="480695">
              <a:lnSpc>
                <a:spcPct val="100000"/>
              </a:lnSpc>
              <a:spcBef>
                <a:spcPts val="1425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PENDING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084863" y="5456758"/>
            <a:ext cx="685800" cy="28575"/>
          </a:xfrm>
          <a:custGeom>
            <a:avLst/>
            <a:gdLst/>
            <a:ahLst/>
            <a:cxnLst/>
            <a:rect l="l" t="t" r="r" b="b"/>
            <a:pathLst>
              <a:path w="685800" h="28575">
                <a:moveTo>
                  <a:pt x="685704" y="28574"/>
                </a:moveTo>
                <a:lnTo>
                  <a:pt x="0" y="28574"/>
                </a:lnTo>
                <a:lnTo>
                  <a:pt x="0" y="0"/>
                </a:lnTo>
                <a:lnTo>
                  <a:pt x="685704" y="0"/>
                </a:lnTo>
                <a:lnTo>
                  <a:pt x="685704" y="28574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2856234" y="5142499"/>
            <a:ext cx="2000885" cy="714375"/>
          </a:xfrm>
          <a:prstGeom prst="rect">
            <a:avLst/>
          </a:prstGeom>
          <a:solidFill>
            <a:srgbClr val="1B4D4D"/>
          </a:solidFill>
        </p:spPr>
        <p:txBody>
          <a:bodyPr wrap="square" lIns="0" tIns="180975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1425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SHORTLISTED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941808" y="5456758"/>
            <a:ext cx="685800" cy="28575"/>
          </a:xfrm>
          <a:custGeom>
            <a:avLst/>
            <a:gdLst/>
            <a:ahLst/>
            <a:cxnLst/>
            <a:rect l="l" t="t" r="r" b="b"/>
            <a:pathLst>
              <a:path w="685800" h="28575">
                <a:moveTo>
                  <a:pt x="685704" y="28574"/>
                </a:moveTo>
                <a:lnTo>
                  <a:pt x="0" y="28574"/>
                </a:lnTo>
                <a:lnTo>
                  <a:pt x="0" y="0"/>
                </a:lnTo>
                <a:lnTo>
                  <a:pt x="685704" y="0"/>
                </a:lnTo>
                <a:lnTo>
                  <a:pt x="685704" y="28574"/>
                </a:lnTo>
                <a:close/>
              </a:path>
            </a:pathLst>
          </a:custGeom>
          <a:solidFill>
            <a:srgbClr val="1B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5713181" y="5142499"/>
            <a:ext cx="1428750" cy="714375"/>
          </a:xfrm>
          <a:prstGeom prst="rect">
            <a:avLst/>
          </a:prstGeom>
          <a:solidFill>
            <a:srgbClr val="C7913A"/>
          </a:solidFill>
        </p:spPr>
        <p:txBody>
          <a:bodyPr wrap="square" lIns="0" tIns="180975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1425"/>
              </a:spcBef>
            </a:pPr>
            <a:r>
              <a:rPr dirty="0" sz="1800" spc="-30" b="1">
                <a:solidFill>
                  <a:srgbClr val="FFFFFF"/>
                </a:solidFill>
                <a:latin typeface="Times New Roman"/>
                <a:cs typeface="Times New Roman"/>
              </a:rPr>
              <a:t>REJECTED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415211" y="5954459"/>
            <a:ext cx="7731125" cy="1254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9300"/>
              </a:lnSpc>
              <a:spcBef>
                <a:spcPts val="100"/>
              </a:spcBef>
            </a:pPr>
            <a:r>
              <a:rPr dirty="0" sz="1800" spc="110">
                <a:solidFill>
                  <a:srgbClr val="1A1A1A"/>
                </a:solidFill>
                <a:latin typeface="Times New Roman"/>
                <a:cs typeface="Times New Roman"/>
              </a:rPr>
              <a:t>Students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track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application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Times New Roman"/>
                <a:cs typeface="Times New Roman"/>
              </a:rPr>
              <a:t>status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60">
                <a:solidFill>
                  <a:srgbClr val="1A1A1A"/>
                </a:solidFill>
                <a:latin typeface="Times New Roman"/>
                <a:cs typeface="Times New Roman"/>
              </a:rPr>
              <a:t>on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Times New Roman"/>
                <a:cs typeface="Times New Roman"/>
              </a:rPr>
              <a:t>their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10">
                <a:solidFill>
                  <a:srgbClr val="1A1A1A"/>
                </a:solidFill>
                <a:latin typeface="Times New Roman"/>
                <a:cs typeface="Times New Roman"/>
              </a:rPr>
              <a:t>dashboard.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10">
                <a:solidFill>
                  <a:srgbClr val="1A1A1A"/>
                </a:solidFill>
                <a:latin typeface="Times New Roman"/>
                <a:cs typeface="Times New Roman"/>
              </a:rPr>
              <a:t>Companies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20">
                <a:solidFill>
                  <a:srgbClr val="1A1A1A"/>
                </a:solidFill>
                <a:latin typeface="Times New Roman"/>
                <a:cs typeface="Times New Roman"/>
              </a:rPr>
              <a:t>update </a:t>
            </a:r>
            <a:r>
              <a:rPr dirty="0" sz="1800" spc="95">
                <a:solidFill>
                  <a:srgbClr val="1A1A1A"/>
                </a:solidFill>
                <a:latin typeface="Times New Roman"/>
                <a:cs typeface="Times New Roman"/>
              </a:rPr>
              <a:t>status</a:t>
            </a:r>
            <a:r>
              <a:rPr dirty="0" sz="1800" spc="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via</a:t>
            </a:r>
            <a:r>
              <a:rPr dirty="0" sz="180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Times New Roman"/>
                <a:cs typeface="Times New Roman"/>
              </a:rPr>
              <a:t>controls</a:t>
            </a:r>
            <a:r>
              <a:rPr dirty="0" sz="180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in</a:t>
            </a:r>
            <a:r>
              <a:rPr dirty="0" sz="180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30">
                <a:solidFill>
                  <a:srgbClr val="1A1A1A"/>
                </a:solidFill>
                <a:latin typeface="Times New Roman"/>
                <a:cs typeface="Times New Roman"/>
              </a:rPr>
              <a:t>the</a:t>
            </a:r>
            <a:r>
              <a:rPr dirty="0" sz="1800" spc="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Times New Roman"/>
                <a:cs typeface="Times New Roman"/>
              </a:rPr>
              <a:t>applicant</a:t>
            </a:r>
            <a:r>
              <a:rPr dirty="0" sz="180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listing</a:t>
            </a:r>
            <a:r>
              <a:rPr dirty="0" sz="180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Times New Roman"/>
                <a:cs typeface="Times New Roman"/>
              </a:rPr>
              <a:t>view.</a:t>
            </a:r>
            <a:r>
              <a:rPr dirty="0" sz="180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Times New Roman"/>
                <a:cs typeface="Times New Roman"/>
              </a:rPr>
              <a:t>All</a:t>
            </a:r>
            <a:r>
              <a:rPr dirty="0" sz="1800" spc="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Times New Roman"/>
                <a:cs typeface="Times New Roman"/>
              </a:rPr>
              <a:t>transitions</a:t>
            </a:r>
            <a:r>
              <a:rPr dirty="0" sz="180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14">
                <a:solidFill>
                  <a:srgbClr val="1A1A1A"/>
                </a:solidFill>
                <a:latin typeface="Times New Roman"/>
                <a:cs typeface="Times New Roman"/>
              </a:rPr>
              <a:t>are</a:t>
            </a:r>
            <a:r>
              <a:rPr dirty="0" sz="180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Times New Roman"/>
                <a:cs typeface="Times New Roman"/>
              </a:rPr>
              <a:t>simulated </a:t>
            </a:r>
            <a:r>
              <a:rPr dirty="0" sz="1800" spc="120">
                <a:solidFill>
                  <a:srgbClr val="1A1A1A"/>
                </a:solidFill>
                <a:latin typeface="Times New Roman"/>
                <a:cs typeface="Times New Roman"/>
              </a:rPr>
              <a:t>through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Times New Roman"/>
                <a:cs typeface="Times New Roman"/>
              </a:rPr>
              <a:t>JavaScript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array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Times New Roman"/>
                <a:cs typeface="Times New Roman"/>
              </a:rPr>
              <a:t>manipulations.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57078" y="9713603"/>
            <a:ext cx="16570325" cy="14604"/>
          </a:xfrm>
          <a:custGeom>
            <a:avLst/>
            <a:gdLst/>
            <a:ahLst/>
            <a:cxnLst/>
            <a:rect l="l" t="t" r="r" b="b"/>
            <a:pathLst>
              <a:path w="16570325" h="14604">
                <a:moveTo>
                  <a:pt x="16570262" y="14287"/>
                </a:moveTo>
                <a:lnTo>
                  <a:pt x="0" y="14287"/>
                </a:lnTo>
                <a:lnTo>
                  <a:pt x="0" y="0"/>
                </a:lnTo>
                <a:lnTo>
                  <a:pt x="16570262" y="0"/>
                </a:lnTo>
                <a:lnTo>
                  <a:pt x="16570262" y="14287"/>
                </a:lnTo>
                <a:close/>
              </a:path>
            </a:pathLst>
          </a:custGeom>
          <a:solidFill>
            <a:srgbClr val="E9E9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7496431" y="9879416"/>
            <a:ext cx="229870" cy="215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z="1350" spc="95">
                <a:solidFill>
                  <a:srgbClr val="6A8E7B"/>
                </a:solidFill>
                <a:latin typeface="Times New Roman"/>
                <a:cs typeface="Times New Roman"/>
              </a:rPr>
              <a:t>06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378" y="168370"/>
            <a:ext cx="733615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8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r>
              <a:rPr dirty="0" sz="135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65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dirty="0" sz="135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Times New Roman"/>
                <a:cs typeface="Times New Roman"/>
              </a:rPr>
              <a:t>Design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85">
                <a:solidFill>
                  <a:srgbClr val="FFFFFF"/>
                </a:solidFill>
                <a:latin typeface="Times New Roman"/>
                <a:cs typeface="Times New Roman"/>
              </a:rPr>
              <a:t>Implementation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75">
                <a:solidFill>
                  <a:srgbClr val="FFFFFF"/>
                </a:solidFill>
                <a:latin typeface="Times New Roman"/>
                <a:cs typeface="Times New Roman"/>
              </a:rPr>
              <a:t>Workflow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-85" b="1">
                <a:solidFill>
                  <a:srgbClr val="C7913A"/>
                </a:solidFill>
                <a:latin typeface="Times New Roman"/>
                <a:cs typeface="Times New Roman"/>
              </a:rPr>
              <a:t>RESULTS</a:t>
            </a:r>
            <a:r>
              <a:rPr dirty="0" sz="1350" spc="20" b="1">
                <a:solidFill>
                  <a:srgbClr val="C7913A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5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/>
              <a:t>Results</a:t>
            </a:r>
            <a:r>
              <a:rPr dirty="0" spc="-35"/>
              <a:t> </a:t>
            </a:r>
            <a:r>
              <a:rPr dirty="0" spc="-330"/>
              <a:t>&amp;</a:t>
            </a:r>
            <a:r>
              <a:rPr dirty="0" spc="-30"/>
              <a:t> </a:t>
            </a:r>
            <a:r>
              <a:rPr dirty="0" spc="100"/>
              <a:t>Usability</a:t>
            </a:r>
            <a:r>
              <a:rPr dirty="0" spc="-30"/>
              <a:t> </a:t>
            </a:r>
            <a:r>
              <a:rPr dirty="0" spc="45"/>
              <a:t>Testing</a:t>
            </a:r>
          </a:p>
        </p:txBody>
      </p:sp>
      <p:sp>
        <p:nvSpPr>
          <p:cNvPr id="4" name="object 4"/>
          <p:cNvSpPr/>
          <p:nvPr/>
        </p:nvSpPr>
        <p:spPr>
          <a:xfrm>
            <a:off x="857078" y="1399898"/>
            <a:ext cx="857250" cy="43180"/>
          </a:xfrm>
          <a:custGeom>
            <a:avLst/>
            <a:gdLst/>
            <a:ahLst/>
            <a:cxnLst/>
            <a:rect l="l" t="t" r="r" b="b"/>
            <a:pathLst>
              <a:path w="857250" h="43180">
                <a:moveTo>
                  <a:pt x="857059" y="42852"/>
                </a:moveTo>
                <a:lnTo>
                  <a:pt x="0" y="42852"/>
                </a:lnTo>
                <a:lnTo>
                  <a:pt x="0" y="0"/>
                </a:lnTo>
                <a:lnTo>
                  <a:pt x="857059" y="0"/>
                </a:lnTo>
                <a:lnTo>
                  <a:pt x="857059" y="42852"/>
                </a:lnTo>
                <a:close/>
              </a:path>
            </a:pathLst>
          </a:custGeom>
          <a:solidFill>
            <a:srgbClr val="C791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44378" y="1663461"/>
            <a:ext cx="2578100" cy="4025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45" b="1">
                <a:solidFill>
                  <a:srgbClr val="6A8E7B"/>
                </a:solidFill>
                <a:latin typeface="Times New Roman"/>
                <a:cs typeface="Times New Roman"/>
              </a:rPr>
              <a:t>Testing</a:t>
            </a:r>
            <a:r>
              <a:rPr dirty="0" sz="2450" spc="-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85" b="1">
                <a:solidFill>
                  <a:srgbClr val="6A8E7B"/>
                </a:solidFill>
                <a:latin typeface="Times New Roman"/>
                <a:cs typeface="Times New Roman"/>
              </a:rPr>
              <a:t>Approach</a:t>
            </a:r>
            <a:endParaRPr sz="24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57078" y="2256986"/>
            <a:ext cx="7714615" cy="1000125"/>
            <a:chOff x="857078" y="2256986"/>
            <a:chExt cx="7714615" cy="1000125"/>
          </a:xfrm>
        </p:grpSpPr>
        <p:sp>
          <p:nvSpPr>
            <p:cNvPr id="7" name="object 7"/>
            <p:cNvSpPr/>
            <p:nvPr/>
          </p:nvSpPr>
          <p:spPr>
            <a:xfrm>
              <a:off x="857078" y="2256986"/>
              <a:ext cx="7714615" cy="1000125"/>
            </a:xfrm>
            <a:custGeom>
              <a:avLst/>
              <a:gdLst/>
              <a:ahLst/>
              <a:cxnLst/>
              <a:rect l="l" t="t" r="r" b="b"/>
              <a:pathLst>
                <a:path w="7714615" h="1000125">
                  <a:moveTo>
                    <a:pt x="7714264" y="999924"/>
                  </a:moveTo>
                  <a:lnTo>
                    <a:pt x="0" y="999924"/>
                  </a:lnTo>
                  <a:lnTo>
                    <a:pt x="0" y="0"/>
                  </a:lnTo>
                  <a:lnTo>
                    <a:pt x="7714264" y="0"/>
                  </a:lnTo>
                  <a:lnTo>
                    <a:pt x="7714264" y="999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42780" y="2521263"/>
              <a:ext cx="342900" cy="321945"/>
            </a:xfrm>
            <a:custGeom>
              <a:avLst/>
              <a:gdLst/>
              <a:ahLst/>
              <a:cxnLst/>
              <a:rect l="l" t="t" r="r" b="b"/>
              <a:pathLst>
                <a:path w="342900" h="321944">
                  <a:moveTo>
                    <a:pt x="300025" y="257246"/>
                  </a:moveTo>
                  <a:lnTo>
                    <a:pt x="42874" y="257246"/>
                  </a:lnTo>
                  <a:lnTo>
                    <a:pt x="26206" y="253870"/>
                  </a:lnTo>
                  <a:lnTo>
                    <a:pt x="12576" y="244669"/>
                  </a:lnTo>
                  <a:lnTo>
                    <a:pt x="3376" y="231039"/>
                  </a:lnTo>
                  <a:lnTo>
                    <a:pt x="0" y="214372"/>
                  </a:lnTo>
                  <a:lnTo>
                    <a:pt x="0" y="42874"/>
                  </a:lnTo>
                  <a:lnTo>
                    <a:pt x="3376" y="26206"/>
                  </a:lnTo>
                  <a:lnTo>
                    <a:pt x="12576" y="12576"/>
                  </a:lnTo>
                  <a:lnTo>
                    <a:pt x="26206" y="3376"/>
                  </a:lnTo>
                  <a:lnTo>
                    <a:pt x="42874" y="0"/>
                  </a:lnTo>
                  <a:lnTo>
                    <a:pt x="300025" y="0"/>
                  </a:lnTo>
                  <a:lnTo>
                    <a:pt x="316693" y="3376"/>
                  </a:lnTo>
                  <a:lnTo>
                    <a:pt x="330323" y="12576"/>
                  </a:lnTo>
                  <a:lnTo>
                    <a:pt x="339523" y="26206"/>
                  </a:lnTo>
                  <a:lnTo>
                    <a:pt x="342899" y="42874"/>
                  </a:lnTo>
                  <a:lnTo>
                    <a:pt x="64311" y="42874"/>
                  </a:lnTo>
                  <a:lnTo>
                    <a:pt x="55977" y="44562"/>
                  </a:lnTo>
                  <a:lnTo>
                    <a:pt x="49162" y="49162"/>
                  </a:lnTo>
                  <a:lnTo>
                    <a:pt x="44562" y="55977"/>
                  </a:lnTo>
                  <a:lnTo>
                    <a:pt x="42874" y="64311"/>
                  </a:lnTo>
                  <a:lnTo>
                    <a:pt x="42874" y="171497"/>
                  </a:lnTo>
                  <a:lnTo>
                    <a:pt x="44562" y="179831"/>
                  </a:lnTo>
                  <a:lnTo>
                    <a:pt x="49162" y="186646"/>
                  </a:lnTo>
                  <a:lnTo>
                    <a:pt x="55977" y="191246"/>
                  </a:lnTo>
                  <a:lnTo>
                    <a:pt x="64311" y="192934"/>
                  </a:lnTo>
                  <a:lnTo>
                    <a:pt x="342899" y="192934"/>
                  </a:lnTo>
                  <a:lnTo>
                    <a:pt x="342899" y="214372"/>
                  </a:lnTo>
                  <a:lnTo>
                    <a:pt x="339523" y="231039"/>
                  </a:lnTo>
                  <a:lnTo>
                    <a:pt x="330323" y="244669"/>
                  </a:lnTo>
                  <a:lnTo>
                    <a:pt x="316693" y="253870"/>
                  </a:lnTo>
                  <a:lnTo>
                    <a:pt x="300025" y="257246"/>
                  </a:lnTo>
                  <a:close/>
                </a:path>
                <a:path w="342900" h="321944">
                  <a:moveTo>
                    <a:pt x="342899" y="192934"/>
                  </a:moveTo>
                  <a:lnTo>
                    <a:pt x="278683" y="192934"/>
                  </a:lnTo>
                  <a:lnTo>
                    <a:pt x="287017" y="191246"/>
                  </a:lnTo>
                  <a:lnTo>
                    <a:pt x="293832" y="186646"/>
                  </a:lnTo>
                  <a:lnTo>
                    <a:pt x="298432" y="179831"/>
                  </a:lnTo>
                  <a:lnTo>
                    <a:pt x="300120" y="171497"/>
                  </a:lnTo>
                  <a:lnTo>
                    <a:pt x="300120" y="64311"/>
                  </a:lnTo>
                  <a:lnTo>
                    <a:pt x="298432" y="55977"/>
                  </a:lnTo>
                  <a:lnTo>
                    <a:pt x="293832" y="49162"/>
                  </a:lnTo>
                  <a:lnTo>
                    <a:pt x="287017" y="44562"/>
                  </a:lnTo>
                  <a:lnTo>
                    <a:pt x="278683" y="42874"/>
                  </a:lnTo>
                  <a:lnTo>
                    <a:pt x="342899" y="42874"/>
                  </a:lnTo>
                  <a:lnTo>
                    <a:pt x="342899" y="192934"/>
                  </a:lnTo>
                  <a:close/>
                </a:path>
                <a:path w="342900" h="321944">
                  <a:moveTo>
                    <a:pt x="214372" y="289354"/>
                  </a:moveTo>
                  <a:lnTo>
                    <a:pt x="128623" y="289354"/>
                  </a:lnTo>
                  <a:lnTo>
                    <a:pt x="139294" y="257246"/>
                  </a:lnTo>
                  <a:lnTo>
                    <a:pt x="203701" y="257246"/>
                  </a:lnTo>
                  <a:lnTo>
                    <a:pt x="214372" y="289354"/>
                  </a:lnTo>
                  <a:close/>
                </a:path>
                <a:path w="342900" h="321944">
                  <a:moveTo>
                    <a:pt x="271442" y="321558"/>
                  </a:moveTo>
                  <a:lnTo>
                    <a:pt x="71457" y="321558"/>
                  </a:lnTo>
                  <a:lnTo>
                    <a:pt x="64311" y="314412"/>
                  </a:lnTo>
                  <a:lnTo>
                    <a:pt x="64311" y="296500"/>
                  </a:lnTo>
                  <a:lnTo>
                    <a:pt x="71457" y="289354"/>
                  </a:lnTo>
                  <a:lnTo>
                    <a:pt x="271537" y="289354"/>
                  </a:lnTo>
                  <a:lnTo>
                    <a:pt x="278683" y="296500"/>
                  </a:lnTo>
                  <a:lnTo>
                    <a:pt x="278683" y="314412"/>
                  </a:lnTo>
                  <a:lnTo>
                    <a:pt x="271442" y="321558"/>
                  </a:lnTo>
                  <a:close/>
                </a:path>
              </a:pathLst>
            </a:custGeom>
            <a:solidFill>
              <a:srgbClr val="1B4D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57078" y="2256986"/>
            <a:ext cx="7714615" cy="100012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799465">
              <a:lnSpc>
                <a:spcPct val="100000"/>
              </a:lnSpc>
              <a:spcBef>
                <a:spcPts val="1255"/>
              </a:spcBef>
            </a:pPr>
            <a:r>
              <a:rPr dirty="0" sz="1800" spc="50" b="1">
                <a:solidFill>
                  <a:srgbClr val="1A1A1A"/>
                </a:solidFill>
                <a:latin typeface="Times New Roman"/>
                <a:cs typeface="Times New Roman"/>
              </a:rPr>
              <a:t>UI/UX</a:t>
            </a:r>
            <a:r>
              <a:rPr dirty="0" sz="1800" spc="-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Times New Roman"/>
                <a:cs typeface="Times New Roman"/>
              </a:rPr>
              <a:t>Testing</a:t>
            </a:r>
            <a:endParaRPr sz="1800">
              <a:latin typeface="Times New Roman"/>
              <a:cs typeface="Times New Roman"/>
            </a:endParaRPr>
          </a:p>
          <a:p>
            <a:pPr marL="799465">
              <a:lnSpc>
                <a:spcPct val="100000"/>
              </a:lnSpc>
              <a:spcBef>
                <a:spcPts val="865"/>
              </a:spcBef>
            </a:pPr>
            <a:r>
              <a:rPr dirty="0" sz="1550" spc="100">
                <a:solidFill>
                  <a:srgbClr val="6A8E7B"/>
                </a:solidFill>
                <a:latin typeface="Times New Roman"/>
                <a:cs typeface="Times New Roman"/>
              </a:rPr>
              <a:t>Cross-</a:t>
            </a:r>
            <a:r>
              <a:rPr dirty="0" sz="1550" spc="130">
                <a:solidFill>
                  <a:srgbClr val="6A8E7B"/>
                </a:solidFill>
                <a:latin typeface="Times New Roman"/>
                <a:cs typeface="Times New Roman"/>
              </a:rPr>
              <a:t>browser</a:t>
            </a:r>
            <a:r>
              <a:rPr dirty="0" sz="1550" spc="80">
                <a:solidFill>
                  <a:srgbClr val="6A8E7B"/>
                </a:solidFill>
                <a:latin typeface="Times New Roman"/>
                <a:cs typeface="Times New Roman"/>
              </a:rPr>
              <a:t> testing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(Chrome,</a:t>
            </a:r>
            <a:r>
              <a:rPr dirty="0" sz="1550" spc="8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Firefox,</a:t>
            </a:r>
            <a:r>
              <a:rPr dirty="0" sz="1550" spc="8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Safari)</a:t>
            </a:r>
            <a:r>
              <a:rPr dirty="0" sz="1550" spc="8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-100">
                <a:solidFill>
                  <a:srgbClr val="6A8E7B"/>
                </a:solidFill>
                <a:latin typeface="Times New Roman"/>
                <a:cs typeface="Times New Roman"/>
              </a:rPr>
              <a:t>+</a:t>
            </a:r>
            <a:r>
              <a:rPr dirty="0" sz="1550" spc="8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10">
                <a:solidFill>
                  <a:srgbClr val="6A8E7B"/>
                </a:solidFill>
                <a:latin typeface="Times New Roman"/>
                <a:cs typeface="Times New Roman"/>
              </a:rPr>
              <a:t>mobile</a:t>
            </a:r>
            <a:r>
              <a:rPr dirty="0" sz="1550" spc="8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6A8E7B"/>
                </a:solidFill>
                <a:latin typeface="Times New Roman"/>
                <a:cs typeface="Times New Roman"/>
              </a:rPr>
              <a:t>emulators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57078" y="3371192"/>
            <a:ext cx="7714615" cy="1000125"/>
            <a:chOff x="857078" y="3371192"/>
            <a:chExt cx="7714615" cy="1000125"/>
          </a:xfrm>
        </p:grpSpPr>
        <p:sp>
          <p:nvSpPr>
            <p:cNvPr id="11" name="object 11"/>
            <p:cNvSpPr/>
            <p:nvPr/>
          </p:nvSpPr>
          <p:spPr>
            <a:xfrm>
              <a:off x="857078" y="3371192"/>
              <a:ext cx="7714615" cy="1000125"/>
            </a:xfrm>
            <a:custGeom>
              <a:avLst/>
              <a:gdLst/>
              <a:ahLst/>
              <a:cxnLst/>
              <a:rect l="l" t="t" r="r" b="b"/>
              <a:pathLst>
                <a:path w="7714615" h="1000125">
                  <a:moveTo>
                    <a:pt x="7714264" y="999924"/>
                  </a:moveTo>
                  <a:lnTo>
                    <a:pt x="0" y="999924"/>
                  </a:lnTo>
                  <a:lnTo>
                    <a:pt x="0" y="0"/>
                  </a:lnTo>
                  <a:lnTo>
                    <a:pt x="7714264" y="0"/>
                  </a:lnTo>
                  <a:lnTo>
                    <a:pt x="7714264" y="999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85669" y="3625068"/>
              <a:ext cx="257175" cy="311150"/>
            </a:xfrm>
            <a:custGeom>
              <a:avLst/>
              <a:gdLst/>
              <a:ahLst/>
              <a:cxnLst/>
              <a:rect l="l" t="t" r="r" b="b"/>
              <a:pathLst>
                <a:path w="257175" h="311150">
                  <a:moveTo>
                    <a:pt x="114597" y="106156"/>
                  </a:moveTo>
                  <a:lnTo>
                    <a:pt x="61613" y="106156"/>
                  </a:lnTo>
                  <a:lnTo>
                    <a:pt x="132696" y="8598"/>
                  </a:lnTo>
                  <a:lnTo>
                    <a:pt x="138952" y="2816"/>
                  </a:lnTo>
                  <a:lnTo>
                    <a:pt x="146655" y="0"/>
                  </a:lnTo>
                  <a:lnTo>
                    <a:pt x="154859" y="291"/>
                  </a:lnTo>
                  <a:lnTo>
                    <a:pt x="162616" y="3834"/>
                  </a:lnTo>
                  <a:lnTo>
                    <a:pt x="168398" y="10089"/>
                  </a:lnTo>
                  <a:lnTo>
                    <a:pt x="171215" y="17791"/>
                  </a:lnTo>
                  <a:lnTo>
                    <a:pt x="170923" y="25994"/>
                  </a:lnTo>
                  <a:lnTo>
                    <a:pt x="167541" y="33398"/>
                  </a:lnTo>
                  <a:lnTo>
                    <a:pt x="114597" y="106156"/>
                  </a:lnTo>
                  <a:close/>
                </a:path>
                <a:path w="257175" h="311150">
                  <a:moveTo>
                    <a:pt x="59708" y="160842"/>
                  </a:moveTo>
                  <a:lnTo>
                    <a:pt x="53514" y="158555"/>
                  </a:lnTo>
                  <a:lnTo>
                    <a:pt x="6253" y="111300"/>
                  </a:lnTo>
                  <a:lnTo>
                    <a:pt x="1549" y="104249"/>
                  </a:lnTo>
                  <a:lnTo>
                    <a:pt x="0" y="96188"/>
                  </a:lnTo>
                  <a:lnTo>
                    <a:pt x="1576" y="88109"/>
                  </a:lnTo>
                  <a:lnTo>
                    <a:pt x="6253" y="81004"/>
                  </a:lnTo>
                  <a:lnTo>
                    <a:pt x="13305" y="76288"/>
                  </a:lnTo>
                  <a:lnTo>
                    <a:pt x="21367" y="74716"/>
                  </a:lnTo>
                  <a:lnTo>
                    <a:pt x="29447" y="76288"/>
                  </a:lnTo>
                  <a:lnTo>
                    <a:pt x="36553" y="81004"/>
                  </a:lnTo>
                  <a:lnTo>
                    <a:pt x="61613" y="106156"/>
                  </a:lnTo>
                  <a:lnTo>
                    <a:pt x="114597" y="106156"/>
                  </a:lnTo>
                  <a:lnTo>
                    <a:pt x="81528" y="151600"/>
                  </a:lnTo>
                  <a:lnTo>
                    <a:pt x="77907" y="156650"/>
                  </a:lnTo>
                  <a:lnTo>
                    <a:pt x="72095" y="159889"/>
                  </a:lnTo>
                  <a:lnTo>
                    <a:pt x="59708" y="160842"/>
                  </a:lnTo>
                  <a:close/>
                </a:path>
                <a:path w="257175" h="311150">
                  <a:moveTo>
                    <a:pt x="157535" y="256113"/>
                  </a:moveTo>
                  <a:lnTo>
                    <a:pt x="104492" y="256113"/>
                  </a:lnTo>
                  <a:lnTo>
                    <a:pt x="218453" y="99677"/>
                  </a:lnTo>
                  <a:lnTo>
                    <a:pt x="224709" y="93896"/>
                  </a:lnTo>
                  <a:lnTo>
                    <a:pt x="232412" y="91079"/>
                  </a:lnTo>
                  <a:lnTo>
                    <a:pt x="240616" y="91371"/>
                  </a:lnTo>
                  <a:lnTo>
                    <a:pt x="248373" y="94914"/>
                  </a:lnTo>
                  <a:lnTo>
                    <a:pt x="254155" y="101169"/>
                  </a:lnTo>
                  <a:lnTo>
                    <a:pt x="256972" y="108871"/>
                  </a:lnTo>
                  <a:lnTo>
                    <a:pt x="256680" y="117073"/>
                  </a:lnTo>
                  <a:lnTo>
                    <a:pt x="253157" y="124784"/>
                  </a:lnTo>
                  <a:lnTo>
                    <a:pt x="157535" y="256113"/>
                  </a:lnTo>
                  <a:close/>
                </a:path>
                <a:path w="257175" h="311150">
                  <a:moveTo>
                    <a:pt x="102586" y="310894"/>
                  </a:moveTo>
                  <a:lnTo>
                    <a:pt x="96392" y="308608"/>
                  </a:lnTo>
                  <a:lnTo>
                    <a:pt x="27692" y="239917"/>
                  </a:lnTo>
                  <a:lnTo>
                    <a:pt x="22989" y="232865"/>
                  </a:lnTo>
                  <a:lnTo>
                    <a:pt x="21439" y="224805"/>
                  </a:lnTo>
                  <a:lnTo>
                    <a:pt x="23015" y="216726"/>
                  </a:lnTo>
                  <a:lnTo>
                    <a:pt x="27692" y="209621"/>
                  </a:lnTo>
                  <a:lnTo>
                    <a:pt x="34744" y="204905"/>
                  </a:lnTo>
                  <a:lnTo>
                    <a:pt x="42806" y="203333"/>
                  </a:lnTo>
                  <a:lnTo>
                    <a:pt x="50886" y="204905"/>
                  </a:lnTo>
                  <a:lnTo>
                    <a:pt x="57993" y="209621"/>
                  </a:lnTo>
                  <a:lnTo>
                    <a:pt x="104492" y="256113"/>
                  </a:lnTo>
                  <a:lnTo>
                    <a:pt x="157535" y="256113"/>
                  </a:lnTo>
                  <a:lnTo>
                    <a:pt x="124406" y="301653"/>
                  </a:lnTo>
                  <a:lnTo>
                    <a:pt x="120786" y="306702"/>
                  </a:lnTo>
                  <a:lnTo>
                    <a:pt x="114973" y="309942"/>
                  </a:lnTo>
                  <a:lnTo>
                    <a:pt x="102586" y="310894"/>
                  </a:lnTo>
                  <a:close/>
                </a:path>
              </a:pathLst>
            </a:custGeom>
            <a:solidFill>
              <a:srgbClr val="1B4D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857078" y="3371192"/>
            <a:ext cx="7714615" cy="100012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799465">
              <a:lnSpc>
                <a:spcPct val="100000"/>
              </a:lnSpc>
              <a:spcBef>
                <a:spcPts val="1255"/>
              </a:spcBef>
            </a:pP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Form</a:t>
            </a:r>
            <a:r>
              <a:rPr dirty="0" sz="1800" spc="7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0" b="1">
                <a:solidFill>
                  <a:srgbClr val="1A1A1A"/>
                </a:solidFill>
                <a:latin typeface="Times New Roman"/>
                <a:cs typeface="Times New Roman"/>
              </a:rPr>
              <a:t>Validation</a:t>
            </a:r>
            <a:r>
              <a:rPr dirty="0" sz="1800" spc="8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Times New Roman"/>
                <a:cs typeface="Times New Roman"/>
              </a:rPr>
              <a:t>Testing</a:t>
            </a:r>
            <a:endParaRPr sz="1800">
              <a:latin typeface="Times New Roman"/>
              <a:cs typeface="Times New Roman"/>
            </a:endParaRPr>
          </a:p>
          <a:p>
            <a:pPr marL="799465">
              <a:lnSpc>
                <a:spcPct val="100000"/>
              </a:lnSpc>
              <a:spcBef>
                <a:spcPts val="865"/>
              </a:spcBef>
            </a:pP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Valid</a:t>
            </a:r>
            <a:r>
              <a:rPr dirty="0" sz="1550" spc="3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40">
                <a:solidFill>
                  <a:srgbClr val="6A8E7B"/>
                </a:solidFill>
                <a:latin typeface="Times New Roman"/>
                <a:cs typeface="Times New Roman"/>
              </a:rPr>
              <a:t>and</a:t>
            </a:r>
            <a:r>
              <a:rPr dirty="0" sz="1550" spc="4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60">
                <a:solidFill>
                  <a:srgbClr val="6A8E7B"/>
                </a:solidFill>
                <a:latin typeface="Times New Roman"/>
                <a:cs typeface="Times New Roman"/>
              </a:rPr>
              <a:t>invalid</a:t>
            </a:r>
            <a:r>
              <a:rPr dirty="0" sz="1550" spc="4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6A8E7B"/>
                </a:solidFill>
                <a:latin typeface="Times New Roman"/>
                <a:cs typeface="Times New Roman"/>
              </a:rPr>
              <a:t>entries</a:t>
            </a:r>
            <a:r>
              <a:rPr dirty="0" sz="1550" spc="4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10">
                <a:solidFill>
                  <a:srgbClr val="6A8E7B"/>
                </a:solidFill>
                <a:latin typeface="Times New Roman"/>
                <a:cs typeface="Times New Roman"/>
              </a:rPr>
              <a:t>tested</a:t>
            </a:r>
            <a:r>
              <a:rPr dirty="0" sz="1550" spc="4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55">
                <a:solidFill>
                  <a:srgbClr val="6A8E7B"/>
                </a:solidFill>
                <a:latin typeface="Times New Roman"/>
                <a:cs typeface="Times New Roman"/>
              </a:rPr>
              <a:t>on</a:t>
            </a:r>
            <a:r>
              <a:rPr dirty="0" sz="1550" spc="4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login,</a:t>
            </a:r>
            <a:r>
              <a:rPr dirty="0" sz="1550" spc="3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5">
                <a:solidFill>
                  <a:srgbClr val="6A8E7B"/>
                </a:solidFill>
                <a:latin typeface="Times New Roman"/>
                <a:cs typeface="Times New Roman"/>
              </a:rPr>
              <a:t>registration,</a:t>
            </a:r>
            <a:r>
              <a:rPr dirty="0" sz="1550" spc="4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40">
                <a:solidFill>
                  <a:srgbClr val="6A8E7B"/>
                </a:solidFill>
                <a:latin typeface="Times New Roman"/>
                <a:cs typeface="Times New Roman"/>
              </a:rPr>
              <a:t>and</a:t>
            </a:r>
            <a:r>
              <a:rPr dirty="0" sz="1550" spc="4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6A8E7B"/>
                </a:solidFill>
                <a:latin typeface="Times New Roman"/>
                <a:cs typeface="Times New Roman"/>
              </a:rPr>
              <a:t>job</a:t>
            </a:r>
            <a:r>
              <a:rPr dirty="0" sz="1550" spc="4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0">
                <a:solidFill>
                  <a:srgbClr val="6A8E7B"/>
                </a:solidFill>
                <a:latin typeface="Times New Roman"/>
                <a:cs typeface="Times New Roman"/>
              </a:rPr>
              <a:t>forms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57078" y="4485398"/>
            <a:ext cx="7714615" cy="1000125"/>
            <a:chOff x="857078" y="4485398"/>
            <a:chExt cx="7714615" cy="1000125"/>
          </a:xfrm>
        </p:grpSpPr>
        <p:sp>
          <p:nvSpPr>
            <p:cNvPr id="15" name="object 15"/>
            <p:cNvSpPr/>
            <p:nvPr/>
          </p:nvSpPr>
          <p:spPr>
            <a:xfrm>
              <a:off x="857078" y="4485398"/>
              <a:ext cx="7714615" cy="1000125"/>
            </a:xfrm>
            <a:custGeom>
              <a:avLst/>
              <a:gdLst/>
              <a:ahLst/>
              <a:cxnLst/>
              <a:rect l="l" t="t" r="r" b="b"/>
              <a:pathLst>
                <a:path w="7714615" h="1000125">
                  <a:moveTo>
                    <a:pt x="7714264" y="999924"/>
                  </a:moveTo>
                  <a:lnTo>
                    <a:pt x="0" y="999924"/>
                  </a:lnTo>
                  <a:lnTo>
                    <a:pt x="0" y="0"/>
                  </a:lnTo>
                  <a:lnTo>
                    <a:pt x="7714264" y="0"/>
                  </a:lnTo>
                  <a:lnTo>
                    <a:pt x="7714264" y="999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42780" y="4728238"/>
              <a:ext cx="343535" cy="343535"/>
            </a:xfrm>
            <a:custGeom>
              <a:avLst/>
              <a:gdLst/>
              <a:ahLst/>
              <a:cxnLst/>
              <a:rect l="l" t="t" r="r" b="b"/>
              <a:pathLst>
                <a:path w="343534" h="343535">
                  <a:moveTo>
                    <a:pt x="278683" y="342995"/>
                  </a:moveTo>
                  <a:lnTo>
                    <a:pt x="93466" y="342995"/>
                  </a:lnTo>
                  <a:lnTo>
                    <a:pt x="98054" y="337665"/>
                  </a:lnTo>
                  <a:lnTo>
                    <a:pt x="103017" y="331728"/>
                  </a:lnTo>
                  <a:lnTo>
                    <a:pt x="126336" y="300120"/>
                  </a:lnTo>
                  <a:lnTo>
                    <a:pt x="278588" y="300120"/>
                  </a:lnTo>
                  <a:lnTo>
                    <a:pt x="286922" y="298432"/>
                  </a:lnTo>
                  <a:lnTo>
                    <a:pt x="293737" y="293832"/>
                  </a:lnTo>
                  <a:lnTo>
                    <a:pt x="298337" y="287017"/>
                  </a:lnTo>
                  <a:lnTo>
                    <a:pt x="300025" y="278683"/>
                  </a:lnTo>
                  <a:lnTo>
                    <a:pt x="298337" y="270349"/>
                  </a:lnTo>
                  <a:lnTo>
                    <a:pt x="293737" y="263534"/>
                  </a:lnTo>
                  <a:lnTo>
                    <a:pt x="286922" y="258934"/>
                  </a:lnTo>
                  <a:lnTo>
                    <a:pt x="278588" y="257246"/>
                  </a:lnTo>
                  <a:lnTo>
                    <a:pt x="214372" y="257246"/>
                  </a:lnTo>
                  <a:lnTo>
                    <a:pt x="189330" y="252195"/>
                  </a:lnTo>
                  <a:lnTo>
                    <a:pt x="168889" y="238417"/>
                  </a:lnTo>
                  <a:lnTo>
                    <a:pt x="155111" y="217976"/>
                  </a:lnTo>
                  <a:lnTo>
                    <a:pt x="150060" y="192934"/>
                  </a:lnTo>
                  <a:lnTo>
                    <a:pt x="155057" y="168162"/>
                  </a:lnTo>
                  <a:lnTo>
                    <a:pt x="155111" y="167893"/>
                  </a:lnTo>
                  <a:lnTo>
                    <a:pt x="168889" y="147452"/>
                  </a:lnTo>
                  <a:lnTo>
                    <a:pt x="189330" y="133674"/>
                  </a:lnTo>
                  <a:lnTo>
                    <a:pt x="214372" y="128623"/>
                  </a:lnTo>
                  <a:lnTo>
                    <a:pt x="241049" y="128623"/>
                  </a:lnTo>
                  <a:lnTo>
                    <a:pt x="230932" y="112357"/>
                  </a:lnTo>
                  <a:lnTo>
                    <a:pt x="222422" y="95681"/>
                  </a:lnTo>
                  <a:lnTo>
                    <a:pt x="216557" y="79398"/>
                  </a:lnTo>
                  <a:lnTo>
                    <a:pt x="214372" y="64311"/>
                  </a:lnTo>
                  <a:lnTo>
                    <a:pt x="219421" y="39270"/>
                  </a:lnTo>
                  <a:lnTo>
                    <a:pt x="233189" y="18829"/>
                  </a:lnTo>
                  <a:lnTo>
                    <a:pt x="253602" y="5051"/>
                  </a:lnTo>
                  <a:lnTo>
                    <a:pt x="278588" y="0"/>
                  </a:lnTo>
                  <a:lnTo>
                    <a:pt x="303589" y="5051"/>
                  </a:lnTo>
                  <a:lnTo>
                    <a:pt x="324035" y="18829"/>
                  </a:lnTo>
                  <a:lnTo>
                    <a:pt x="337835" y="39270"/>
                  </a:lnTo>
                  <a:lnTo>
                    <a:pt x="338564" y="42874"/>
                  </a:lnTo>
                  <a:lnTo>
                    <a:pt x="278588" y="42874"/>
                  </a:lnTo>
                  <a:lnTo>
                    <a:pt x="270214" y="44562"/>
                  </a:lnTo>
                  <a:lnTo>
                    <a:pt x="263403" y="49162"/>
                  </a:lnTo>
                  <a:lnTo>
                    <a:pt x="258825" y="55977"/>
                  </a:lnTo>
                  <a:lnTo>
                    <a:pt x="257151" y="64311"/>
                  </a:lnTo>
                  <a:lnTo>
                    <a:pt x="258839" y="72645"/>
                  </a:lnTo>
                  <a:lnTo>
                    <a:pt x="263397" y="79398"/>
                  </a:lnTo>
                  <a:lnTo>
                    <a:pt x="270254" y="84060"/>
                  </a:lnTo>
                  <a:lnTo>
                    <a:pt x="278588" y="85748"/>
                  </a:lnTo>
                  <a:lnTo>
                    <a:pt x="337891" y="85748"/>
                  </a:lnTo>
                  <a:lnTo>
                    <a:pt x="336453" y="91900"/>
                  </a:lnTo>
                  <a:lnTo>
                    <a:pt x="302303" y="148184"/>
                  </a:lnTo>
                  <a:lnTo>
                    <a:pt x="282399" y="171497"/>
                  </a:lnTo>
                  <a:lnTo>
                    <a:pt x="214372" y="171497"/>
                  </a:lnTo>
                  <a:lnTo>
                    <a:pt x="206038" y="173185"/>
                  </a:lnTo>
                  <a:lnTo>
                    <a:pt x="199223" y="177785"/>
                  </a:lnTo>
                  <a:lnTo>
                    <a:pt x="194623" y="184601"/>
                  </a:lnTo>
                  <a:lnTo>
                    <a:pt x="192934" y="192934"/>
                  </a:lnTo>
                  <a:lnTo>
                    <a:pt x="194623" y="201268"/>
                  </a:lnTo>
                  <a:lnTo>
                    <a:pt x="199223" y="208083"/>
                  </a:lnTo>
                  <a:lnTo>
                    <a:pt x="206038" y="212683"/>
                  </a:lnTo>
                  <a:lnTo>
                    <a:pt x="214372" y="214372"/>
                  </a:lnTo>
                  <a:lnTo>
                    <a:pt x="278683" y="214372"/>
                  </a:lnTo>
                  <a:lnTo>
                    <a:pt x="303725" y="219423"/>
                  </a:lnTo>
                  <a:lnTo>
                    <a:pt x="324166" y="233201"/>
                  </a:lnTo>
                  <a:lnTo>
                    <a:pt x="337944" y="253642"/>
                  </a:lnTo>
                  <a:lnTo>
                    <a:pt x="342995" y="278683"/>
                  </a:lnTo>
                  <a:lnTo>
                    <a:pt x="337944" y="303725"/>
                  </a:lnTo>
                  <a:lnTo>
                    <a:pt x="324166" y="324166"/>
                  </a:lnTo>
                  <a:lnTo>
                    <a:pt x="303725" y="337944"/>
                  </a:lnTo>
                  <a:lnTo>
                    <a:pt x="278683" y="342995"/>
                  </a:lnTo>
                  <a:close/>
                </a:path>
                <a:path w="343534" h="343535">
                  <a:moveTo>
                    <a:pt x="337891" y="85748"/>
                  </a:moveTo>
                  <a:lnTo>
                    <a:pt x="278588" y="85748"/>
                  </a:lnTo>
                  <a:lnTo>
                    <a:pt x="286922" y="84060"/>
                  </a:lnTo>
                  <a:lnTo>
                    <a:pt x="293779" y="79398"/>
                  </a:lnTo>
                  <a:lnTo>
                    <a:pt x="298337" y="72645"/>
                  </a:lnTo>
                  <a:lnTo>
                    <a:pt x="300025" y="64311"/>
                  </a:lnTo>
                  <a:lnTo>
                    <a:pt x="298350" y="55977"/>
                  </a:lnTo>
                  <a:lnTo>
                    <a:pt x="293773" y="49162"/>
                  </a:lnTo>
                  <a:lnTo>
                    <a:pt x="286962" y="44562"/>
                  </a:lnTo>
                  <a:lnTo>
                    <a:pt x="278588" y="42874"/>
                  </a:lnTo>
                  <a:lnTo>
                    <a:pt x="338564" y="42874"/>
                  </a:lnTo>
                  <a:lnTo>
                    <a:pt x="342899" y="64311"/>
                  </a:lnTo>
                  <a:lnTo>
                    <a:pt x="337891" y="85748"/>
                  </a:lnTo>
                  <a:close/>
                </a:path>
                <a:path w="343534" h="343535">
                  <a:moveTo>
                    <a:pt x="66312" y="339374"/>
                  </a:moveTo>
                  <a:lnTo>
                    <a:pt x="22116" y="291272"/>
                  </a:lnTo>
                  <a:lnTo>
                    <a:pt x="0" y="235809"/>
                  </a:lnTo>
                  <a:lnTo>
                    <a:pt x="5051" y="210767"/>
                  </a:lnTo>
                  <a:lnTo>
                    <a:pt x="18829" y="190326"/>
                  </a:lnTo>
                  <a:lnTo>
                    <a:pt x="39270" y="176548"/>
                  </a:lnTo>
                  <a:lnTo>
                    <a:pt x="64311" y="171497"/>
                  </a:lnTo>
                  <a:lnTo>
                    <a:pt x="89352" y="176548"/>
                  </a:lnTo>
                  <a:lnTo>
                    <a:pt x="109794" y="190326"/>
                  </a:lnTo>
                  <a:lnTo>
                    <a:pt x="123572" y="210767"/>
                  </a:lnTo>
                  <a:lnTo>
                    <a:pt x="124299" y="214372"/>
                  </a:lnTo>
                  <a:lnTo>
                    <a:pt x="64311" y="214372"/>
                  </a:lnTo>
                  <a:lnTo>
                    <a:pt x="55977" y="216046"/>
                  </a:lnTo>
                  <a:lnTo>
                    <a:pt x="49162" y="220624"/>
                  </a:lnTo>
                  <a:lnTo>
                    <a:pt x="44562" y="227435"/>
                  </a:lnTo>
                  <a:lnTo>
                    <a:pt x="42874" y="235809"/>
                  </a:lnTo>
                  <a:lnTo>
                    <a:pt x="44554" y="244142"/>
                  </a:lnTo>
                  <a:lnTo>
                    <a:pt x="49138" y="250958"/>
                  </a:lnTo>
                  <a:lnTo>
                    <a:pt x="50102" y="251625"/>
                  </a:lnTo>
                  <a:lnTo>
                    <a:pt x="55957" y="255558"/>
                  </a:lnTo>
                  <a:lnTo>
                    <a:pt x="64311" y="257246"/>
                  </a:lnTo>
                  <a:lnTo>
                    <a:pt x="124004" y="257246"/>
                  </a:lnTo>
                  <a:lnTo>
                    <a:pt x="119691" y="268370"/>
                  </a:lnTo>
                  <a:lnTo>
                    <a:pt x="99468" y="301359"/>
                  </a:lnTo>
                  <a:lnTo>
                    <a:pt x="78793" y="327179"/>
                  </a:lnTo>
                  <a:lnTo>
                    <a:pt x="78488" y="327560"/>
                  </a:lnTo>
                  <a:lnTo>
                    <a:pt x="74682" y="331728"/>
                  </a:lnTo>
                  <a:lnTo>
                    <a:pt x="73553" y="332991"/>
                  </a:lnTo>
                  <a:lnTo>
                    <a:pt x="70409" y="336421"/>
                  </a:lnTo>
                  <a:lnTo>
                    <a:pt x="66312" y="339374"/>
                  </a:lnTo>
                  <a:close/>
                </a:path>
                <a:path w="343534" h="343535">
                  <a:moveTo>
                    <a:pt x="279922" y="172259"/>
                  </a:moveTo>
                  <a:lnTo>
                    <a:pt x="276492" y="171497"/>
                  </a:lnTo>
                  <a:lnTo>
                    <a:pt x="282399" y="171497"/>
                  </a:lnTo>
                  <a:lnTo>
                    <a:pt x="279922" y="172259"/>
                  </a:lnTo>
                  <a:close/>
                </a:path>
                <a:path w="343534" h="343535">
                  <a:moveTo>
                    <a:pt x="124004" y="257246"/>
                  </a:moveTo>
                  <a:lnTo>
                    <a:pt x="64311" y="257246"/>
                  </a:lnTo>
                  <a:lnTo>
                    <a:pt x="72645" y="255558"/>
                  </a:lnTo>
                  <a:lnTo>
                    <a:pt x="79460" y="250958"/>
                  </a:lnTo>
                  <a:lnTo>
                    <a:pt x="84060" y="244142"/>
                  </a:lnTo>
                  <a:lnTo>
                    <a:pt x="85748" y="235809"/>
                  </a:lnTo>
                  <a:lnTo>
                    <a:pt x="84060" y="227435"/>
                  </a:lnTo>
                  <a:lnTo>
                    <a:pt x="79460" y="220624"/>
                  </a:lnTo>
                  <a:lnTo>
                    <a:pt x="72645" y="216046"/>
                  </a:lnTo>
                  <a:lnTo>
                    <a:pt x="64311" y="214372"/>
                  </a:lnTo>
                  <a:lnTo>
                    <a:pt x="124299" y="214372"/>
                  </a:lnTo>
                  <a:lnTo>
                    <a:pt x="128623" y="235809"/>
                  </a:lnTo>
                  <a:lnTo>
                    <a:pt x="126287" y="250958"/>
                  </a:lnTo>
                  <a:lnTo>
                    <a:pt x="126184" y="251625"/>
                  </a:lnTo>
                  <a:lnTo>
                    <a:pt x="124004" y="257246"/>
                  </a:lnTo>
                  <a:close/>
                </a:path>
              </a:pathLst>
            </a:custGeom>
            <a:solidFill>
              <a:srgbClr val="1B4D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57078" y="4485398"/>
            <a:ext cx="7714615" cy="100012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799465">
              <a:lnSpc>
                <a:spcPct val="100000"/>
              </a:lnSpc>
              <a:spcBef>
                <a:spcPts val="1255"/>
              </a:spcBef>
            </a:pPr>
            <a:r>
              <a:rPr dirty="0" sz="1800" spc="55" b="1">
                <a:solidFill>
                  <a:srgbClr val="1A1A1A"/>
                </a:solidFill>
                <a:latin typeface="Times New Roman"/>
                <a:cs typeface="Times New Roman"/>
              </a:rPr>
              <a:t>Navigation</a:t>
            </a:r>
            <a:r>
              <a:rPr dirty="0" sz="1800" spc="1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1A1A1A"/>
                </a:solidFill>
                <a:latin typeface="Times New Roman"/>
                <a:cs typeface="Times New Roman"/>
              </a:rPr>
              <a:t>Testing</a:t>
            </a:r>
            <a:endParaRPr sz="1800">
              <a:latin typeface="Times New Roman"/>
              <a:cs typeface="Times New Roman"/>
            </a:endParaRPr>
          </a:p>
          <a:p>
            <a:pPr marL="799465">
              <a:lnSpc>
                <a:spcPct val="100000"/>
              </a:lnSpc>
              <a:spcBef>
                <a:spcPts val="865"/>
              </a:spcBef>
            </a:pP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All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6A8E7B"/>
                </a:solidFill>
                <a:latin typeface="Times New Roman"/>
                <a:cs typeface="Times New Roman"/>
              </a:rPr>
              <a:t>internal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6A8E7B"/>
                </a:solidFill>
                <a:latin typeface="Times New Roman"/>
                <a:cs typeface="Times New Roman"/>
              </a:rPr>
              <a:t>links,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00">
                <a:solidFill>
                  <a:srgbClr val="6A8E7B"/>
                </a:solidFill>
                <a:latin typeface="Times New Roman"/>
                <a:cs typeface="Times New Roman"/>
              </a:rPr>
              <a:t>buttons,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40">
                <a:solidFill>
                  <a:srgbClr val="6A8E7B"/>
                </a:solidFill>
                <a:latin typeface="Times New Roman"/>
                <a:cs typeface="Times New Roman"/>
              </a:rPr>
              <a:t>and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75">
                <a:solidFill>
                  <a:srgbClr val="6A8E7B"/>
                </a:solidFill>
                <a:latin typeface="Times New Roman"/>
                <a:cs typeface="Times New Roman"/>
              </a:rPr>
              <a:t>menu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10">
                <a:solidFill>
                  <a:srgbClr val="6A8E7B"/>
                </a:solidFill>
                <a:latin typeface="Times New Roman"/>
                <a:cs typeface="Times New Roman"/>
              </a:rPr>
              <a:t>items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70">
                <a:solidFill>
                  <a:srgbClr val="6A8E7B"/>
                </a:solidFill>
                <a:latin typeface="Times New Roman"/>
                <a:cs typeface="Times New Roman"/>
              </a:rPr>
              <a:t>verified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-330">
                <a:solidFill>
                  <a:srgbClr val="6A8E7B"/>
                </a:solidFill>
                <a:latin typeface="Times New Roman"/>
                <a:cs typeface="Times New Roman"/>
              </a:rPr>
              <a:t>—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55">
                <a:solidFill>
                  <a:srgbClr val="6A8E7B"/>
                </a:solidFill>
                <a:latin typeface="Times New Roman"/>
                <a:cs typeface="Times New Roman"/>
              </a:rPr>
              <a:t>no</a:t>
            </a:r>
            <a:r>
              <a:rPr dirty="0" sz="1550" spc="10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130">
                <a:solidFill>
                  <a:srgbClr val="6A8E7B"/>
                </a:solidFill>
                <a:latin typeface="Times New Roman"/>
                <a:cs typeface="Times New Roman"/>
              </a:rPr>
              <a:t>dead</a:t>
            </a:r>
            <a:r>
              <a:rPr dirty="0" sz="1550" spc="15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1550" spc="50">
                <a:solidFill>
                  <a:srgbClr val="6A8E7B"/>
                </a:solidFill>
                <a:latin typeface="Times New Roman"/>
                <a:cs typeface="Times New Roman"/>
              </a:rPr>
              <a:t>links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29517" y="1663461"/>
            <a:ext cx="5792470" cy="4025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65" b="1">
                <a:solidFill>
                  <a:srgbClr val="6A8E7B"/>
                </a:solidFill>
                <a:latin typeface="Times New Roman"/>
                <a:cs typeface="Times New Roman"/>
              </a:rPr>
              <a:t>User</a:t>
            </a:r>
            <a:r>
              <a:rPr dirty="0" sz="2450" spc="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105" b="1">
                <a:solidFill>
                  <a:srgbClr val="6A8E7B"/>
                </a:solidFill>
                <a:latin typeface="Times New Roman"/>
                <a:cs typeface="Times New Roman"/>
              </a:rPr>
              <a:t>Acceptance</a:t>
            </a:r>
            <a:r>
              <a:rPr dirty="0" sz="2450" spc="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45" b="1">
                <a:solidFill>
                  <a:srgbClr val="6A8E7B"/>
                </a:solidFill>
                <a:latin typeface="Times New Roman"/>
                <a:cs typeface="Times New Roman"/>
              </a:rPr>
              <a:t>Testing</a:t>
            </a:r>
            <a:r>
              <a:rPr dirty="0" sz="2450" spc="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b="1">
                <a:solidFill>
                  <a:srgbClr val="6A8E7B"/>
                </a:solidFill>
                <a:latin typeface="Times New Roman"/>
                <a:cs typeface="Times New Roman"/>
              </a:rPr>
              <a:t>(5</a:t>
            </a:r>
            <a:r>
              <a:rPr dirty="0" sz="2450" spc="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45" b="1">
                <a:solidFill>
                  <a:srgbClr val="6A8E7B"/>
                </a:solidFill>
                <a:latin typeface="Times New Roman"/>
                <a:cs typeface="Times New Roman"/>
              </a:rPr>
              <a:t>Participants)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246294" y="2376368"/>
            <a:ext cx="2853055" cy="2953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45"/>
              </a:lnSpc>
            </a:pPr>
            <a:r>
              <a:rPr dirty="0" sz="1550" spc="-20" b="1">
                <a:solidFill>
                  <a:srgbClr val="FFFFFF"/>
                </a:solidFill>
                <a:latin typeface="Times New Roman"/>
                <a:cs typeface="Times New Roman"/>
              </a:rPr>
              <a:t>Task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92700"/>
              </a:lnSpc>
            </a:pPr>
            <a:r>
              <a:rPr dirty="0" sz="1550" spc="55">
                <a:solidFill>
                  <a:srgbClr val="1A1A1A"/>
                </a:solidFill>
                <a:latin typeface="Times New Roman"/>
                <a:cs typeface="Times New Roman"/>
              </a:rPr>
              <a:t>Navigate</a:t>
            </a:r>
            <a:r>
              <a:rPr dirty="0" sz="155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1A1A1A"/>
                </a:solidFill>
                <a:latin typeface="Times New Roman"/>
                <a:cs typeface="Times New Roman"/>
              </a:rPr>
              <a:t>to</a:t>
            </a:r>
            <a:r>
              <a:rPr dirty="0" sz="155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110">
                <a:solidFill>
                  <a:srgbClr val="1A1A1A"/>
                </a:solidFill>
                <a:latin typeface="Times New Roman"/>
                <a:cs typeface="Times New Roman"/>
              </a:rPr>
              <a:t>Student</a:t>
            </a:r>
            <a:r>
              <a:rPr dirty="0" sz="155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100">
                <a:solidFill>
                  <a:srgbClr val="1A1A1A"/>
                </a:solidFill>
                <a:latin typeface="Times New Roman"/>
                <a:cs typeface="Times New Roman"/>
              </a:rPr>
              <a:t>Dashboard </a:t>
            </a:r>
            <a:r>
              <a:rPr dirty="0" sz="1550" spc="55">
                <a:solidFill>
                  <a:srgbClr val="1A1A1A"/>
                </a:solidFill>
                <a:latin typeface="Times New Roman"/>
                <a:cs typeface="Times New Roman"/>
              </a:rPr>
              <a:t>View</a:t>
            </a:r>
            <a:r>
              <a:rPr dirty="0" sz="155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140">
                <a:solidFill>
                  <a:srgbClr val="1A1A1A"/>
                </a:solidFill>
                <a:latin typeface="Times New Roman"/>
                <a:cs typeface="Times New Roman"/>
              </a:rPr>
              <a:t>and</a:t>
            </a:r>
            <a:r>
              <a:rPr dirty="0" sz="155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1A1A1A"/>
                </a:solidFill>
                <a:latin typeface="Times New Roman"/>
                <a:cs typeface="Times New Roman"/>
              </a:rPr>
              <a:t>filter</a:t>
            </a:r>
            <a:r>
              <a:rPr dirty="0" sz="155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1A1A1A"/>
                </a:solidFill>
                <a:latin typeface="Times New Roman"/>
                <a:cs typeface="Times New Roman"/>
              </a:rPr>
              <a:t>job</a:t>
            </a:r>
            <a:r>
              <a:rPr dirty="0" sz="155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45">
                <a:solidFill>
                  <a:srgbClr val="1A1A1A"/>
                </a:solidFill>
                <a:latin typeface="Times New Roman"/>
                <a:cs typeface="Times New Roman"/>
              </a:rPr>
              <a:t>listings </a:t>
            </a:r>
            <a:r>
              <a:rPr dirty="0" sz="1550" spc="50">
                <a:solidFill>
                  <a:srgbClr val="1A1A1A"/>
                </a:solidFill>
                <a:latin typeface="Times New Roman"/>
                <a:cs typeface="Times New Roman"/>
              </a:rPr>
              <a:t>Apply</a:t>
            </a:r>
            <a:r>
              <a:rPr dirty="0" sz="15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1A1A1A"/>
                </a:solidFill>
                <a:latin typeface="Times New Roman"/>
                <a:cs typeface="Times New Roman"/>
              </a:rPr>
              <a:t>for</a:t>
            </a:r>
            <a:r>
              <a:rPr dirty="0" sz="15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1A1A1A"/>
                </a:solidFill>
                <a:latin typeface="Times New Roman"/>
                <a:cs typeface="Times New Roman"/>
              </a:rPr>
              <a:t>a</a:t>
            </a:r>
            <a:r>
              <a:rPr dirty="0" sz="15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1A1A1A"/>
                </a:solidFill>
                <a:latin typeface="Times New Roman"/>
                <a:cs typeface="Times New Roman"/>
              </a:rPr>
              <a:t>job</a:t>
            </a:r>
            <a:r>
              <a:rPr dirty="0" sz="15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1A1A1A"/>
                </a:solidFill>
                <a:latin typeface="Times New Roman"/>
                <a:cs typeface="Times New Roman"/>
              </a:rPr>
              <a:t>(simulated) </a:t>
            </a:r>
            <a:r>
              <a:rPr dirty="0" sz="1550" spc="80">
                <a:solidFill>
                  <a:srgbClr val="1A1A1A"/>
                </a:solidFill>
                <a:latin typeface="Times New Roman"/>
                <a:cs typeface="Times New Roman"/>
              </a:rPr>
              <a:t>Check</a:t>
            </a:r>
            <a:r>
              <a:rPr dirty="0" sz="155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1A1A1A"/>
                </a:solidFill>
                <a:latin typeface="Times New Roman"/>
                <a:cs typeface="Times New Roman"/>
              </a:rPr>
              <a:t>application</a:t>
            </a:r>
            <a:r>
              <a:rPr dirty="0" sz="1550" spc="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1A1A1A"/>
                </a:solidFill>
                <a:latin typeface="Times New Roman"/>
                <a:cs typeface="Times New Roman"/>
              </a:rPr>
              <a:t>status</a:t>
            </a:r>
            <a:r>
              <a:rPr dirty="0" sz="1550" spc="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45">
                <a:solidFill>
                  <a:srgbClr val="1A1A1A"/>
                </a:solidFill>
                <a:latin typeface="Times New Roman"/>
                <a:cs typeface="Times New Roman"/>
              </a:rPr>
              <a:t>(mock) </a:t>
            </a:r>
            <a:r>
              <a:rPr dirty="0" sz="1550" spc="80">
                <a:solidFill>
                  <a:srgbClr val="1A1A1A"/>
                </a:solidFill>
                <a:latin typeface="Times New Roman"/>
                <a:cs typeface="Times New Roman"/>
              </a:rPr>
              <a:t>Switch</a:t>
            </a:r>
            <a:r>
              <a:rPr dirty="0" sz="15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1A1A1A"/>
                </a:solidFill>
                <a:latin typeface="Times New Roman"/>
                <a:cs typeface="Times New Roman"/>
              </a:rPr>
              <a:t>to</a:t>
            </a:r>
            <a:r>
              <a:rPr dirty="0" sz="155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100">
                <a:solidFill>
                  <a:srgbClr val="1A1A1A"/>
                </a:solidFill>
                <a:latin typeface="Times New Roman"/>
                <a:cs typeface="Times New Roman"/>
              </a:rPr>
              <a:t>Admin</a:t>
            </a:r>
            <a:r>
              <a:rPr dirty="0" sz="155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1A1A1A"/>
                </a:solidFill>
                <a:latin typeface="Times New Roman"/>
                <a:cs typeface="Times New Roman"/>
              </a:rPr>
              <a:t>view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5"/>
              </a:spcBef>
            </a:pPr>
            <a:r>
              <a:rPr dirty="0" sz="1550">
                <a:solidFill>
                  <a:srgbClr val="1A1A1A"/>
                </a:solidFill>
                <a:latin typeface="Times New Roman"/>
                <a:cs typeface="Times New Roman"/>
              </a:rPr>
              <a:t>Avg.</a:t>
            </a:r>
            <a:r>
              <a:rPr dirty="0" sz="1550" spc="-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65">
                <a:solidFill>
                  <a:srgbClr val="1A1A1A"/>
                </a:solidFill>
                <a:latin typeface="Times New Roman"/>
                <a:cs typeface="Times New Roman"/>
              </a:rPr>
              <a:t>Satisfaction</a:t>
            </a:r>
            <a:r>
              <a:rPr dirty="0" sz="1550" spc="-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40">
                <a:solidFill>
                  <a:srgbClr val="1A1A1A"/>
                </a:solidFill>
                <a:latin typeface="Times New Roman"/>
                <a:cs typeface="Times New Roman"/>
              </a:rPr>
              <a:t>Rating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793297" y="2376368"/>
            <a:ext cx="2995930" cy="2953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45"/>
              </a:lnSpc>
            </a:pPr>
            <a:r>
              <a:rPr dirty="0" sz="1550" spc="-10" b="1">
                <a:solidFill>
                  <a:srgbClr val="FFFFFF"/>
                </a:solidFill>
                <a:latin typeface="Times New Roman"/>
                <a:cs typeface="Times New Roman"/>
              </a:rPr>
              <a:t>Result</a:t>
            </a:r>
            <a:endParaRPr sz="1550">
              <a:latin typeface="Times New Roman"/>
              <a:cs typeface="Times New Roman"/>
            </a:endParaRPr>
          </a:p>
          <a:p>
            <a:pPr marR="778510">
              <a:lnSpc>
                <a:spcPct val="192700"/>
              </a:lnSpc>
            </a:pPr>
            <a:r>
              <a:rPr dirty="0" sz="1550" spc="110">
                <a:solidFill>
                  <a:srgbClr val="1A1A1A"/>
                </a:solidFill>
                <a:latin typeface="Times New Roman"/>
                <a:cs typeface="Times New Roman"/>
              </a:rPr>
              <a:t>Completed</a:t>
            </a:r>
            <a:r>
              <a:rPr dirty="0" sz="1550" spc="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90">
                <a:solidFill>
                  <a:srgbClr val="1A1A1A"/>
                </a:solidFill>
                <a:latin typeface="Times New Roman"/>
                <a:cs typeface="Times New Roman"/>
              </a:rPr>
              <a:t>by</a:t>
            </a:r>
            <a:r>
              <a:rPr dirty="0" sz="155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1A1A1A"/>
                </a:solidFill>
                <a:latin typeface="Times New Roman"/>
                <a:cs typeface="Times New Roman"/>
              </a:rPr>
              <a:t>all</a:t>
            </a:r>
            <a:r>
              <a:rPr dirty="0" sz="155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50">
                <a:solidFill>
                  <a:srgbClr val="1A1A1A"/>
                </a:solidFill>
                <a:latin typeface="Times New Roman"/>
                <a:cs typeface="Times New Roman"/>
              </a:rPr>
              <a:t>5</a:t>
            </a:r>
            <a:r>
              <a:rPr dirty="0" sz="155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95">
                <a:solidFill>
                  <a:srgbClr val="1A1A1A"/>
                </a:solidFill>
                <a:latin typeface="Times New Roman"/>
                <a:cs typeface="Times New Roman"/>
              </a:rPr>
              <a:t>users </a:t>
            </a:r>
            <a:r>
              <a:rPr dirty="0" sz="1550" spc="50">
                <a:solidFill>
                  <a:srgbClr val="1A1A1A"/>
                </a:solidFill>
                <a:latin typeface="Times New Roman"/>
                <a:cs typeface="Times New Roman"/>
              </a:rPr>
              <a:t>Filters</a:t>
            </a:r>
            <a:r>
              <a:rPr dirty="0" sz="155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120">
                <a:solidFill>
                  <a:srgbClr val="1A1A1A"/>
                </a:solidFill>
                <a:latin typeface="Times New Roman"/>
                <a:cs typeface="Times New Roman"/>
              </a:rPr>
              <a:t>worked</a:t>
            </a:r>
            <a:r>
              <a:rPr dirty="0" sz="155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80">
                <a:solidFill>
                  <a:srgbClr val="1A1A1A"/>
                </a:solidFill>
                <a:latin typeface="Times New Roman"/>
                <a:cs typeface="Times New Roman"/>
              </a:rPr>
              <a:t>correctly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92700"/>
              </a:lnSpc>
            </a:pPr>
            <a:r>
              <a:rPr dirty="0" sz="1550" spc="-30">
                <a:solidFill>
                  <a:srgbClr val="1A1A1A"/>
                </a:solidFill>
                <a:latin typeface="Times New Roman"/>
                <a:cs typeface="Times New Roman"/>
              </a:rPr>
              <a:t>JS</a:t>
            </a:r>
            <a:r>
              <a:rPr dirty="0" sz="1550" spc="-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80">
                <a:solidFill>
                  <a:srgbClr val="1A1A1A"/>
                </a:solidFill>
                <a:latin typeface="Times New Roman"/>
                <a:cs typeface="Times New Roman"/>
              </a:rPr>
              <a:t>alert</a:t>
            </a:r>
            <a:r>
              <a:rPr dirty="0" sz="155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1A1A1A"/>
                </a:solidFill>
                <a:latin typeface="Times New Roman"/>
                <a:cs typeface="Times New Roman"/>
              </a:rPr>
              <a:t>triggered</a:t>
            </a:r>
            <a:r>
              <a:rPr dirty="0" sz="1550" spc="-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1A1A1A"/>
                </a:solidFill>
                <a:latin typeface="Times New Roman"/>
                <a:cs typeface="Times New Roman"/>
              </a:rPr>
              <a:t>as</a:t>
            </a:r>
            <a:r>
              <a:rPr dirty="0" sz="155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105">
                <a:solidFill>
                  <a:srgbClr val="1A1A1A"/>
                </a:solidFill>
                <a:latin typeface="Times New Roman"/>
                <a:cs typeface="Times New Roman"/>
              </a:rPr>
              <a:t>expected </a:t>
            </a:r>
            <a:r>
              <a:rPr dirty="0" sz="1550" spc="80">
                <a:solidFill>
                  <a:srgbClr val="1A1A1A"/>
                </a:solidFill>
                <a:latin typeface="Times New Roman"/>
                <a:cs typeface="Times New Roman"/>
              </a:rPr>
              <a:t>Mock</a:t>
            </a:r>
            <a:r>
              <a:rPr dirty="0" sz="155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100">
                <a:solidFill>
                  <a:srgbClr val="1A1A1A"/>
                </a:solidFill>
                <a:latin typeface="Times New Roman"/>
                <a:cs typeface="Times New Roman"/>
              </a:rPr>
              <a:t>data</a:t>
            </a:r>
            <a:r>
              <a:rPr dirty="0" sz="155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85">
                <a:solidFill>
                  <a:srgbClr val="1A1A1A"/>
                </a:solidFill>
                <a:latin typeface="Times New Roman"/>
                <a:cs typeface="Times New Roman"/>
              </a:rPr>
              <a:t>displayed</a:t>
            </a:r>
            <a:r>
              <a:rPr dirty="0" sz="155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80">
                <a:solidFill>
                  <a:srgbClr val="1A1A1A"/>
                </a:solidFill>
                <a:latin typeface="Times New Roman"/>
                <a:cs typeface="Times New Roman"/>
              </a:rPr>
              <a:t>correctly </a:t>
            </a:r>
            <a:r>
              <a:rPr dirty="0" sz="1550" spc="110">
                <a:solidFill>
                  <a:srgbClr val="1A1A1A"/>
                </a:solidFill>
                <a:latin typeface="Times New Roman"/>
                <a:cs typeface="Times New Roman"/>
              </a:rPr>
              <a:t>Dashboard</a:t>
            </a:r>
            <a:r>
              <a:rPr dirty="0" sz="155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110">
                <a:solidFill>
                  <a:srgbClr val="1A1A1A"/>
                </a:solidFill>
                <a:latin typeface="Times New Roman"/>
                <a:cs typeface="Times New Roman"/>
              </a:rPr>
              <a:t>loaded</a:t>
            </a:r>
            <a:r>
              <a:rPr dirty="0" sz="15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110">
                <a:solidFill>
                  <a:srgbClr val="1A1A1A"/>
                </a:solidFill>
                <a:latin typeface="Times New Roman"/>
                <a:cs typeface="Times New Roman"/>
              </a:rPr>
              <a:t>without</a:t>
            </a:r>
            <a:r>
              <a:rPr dirty="0" sz="155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550" spc="80">
                <a:solidFill>
                  <a:srgbClr val="1A1A1A"/>
                </a:solidFill>
                <a:latin typeface="Times New Roman"/>
                <a:cs typeface="Times New Roman"/>
              </a:rPr>
              <a:t>issues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5"/>
              </a:spcBef>
            </a:pPr>
            <a:r>
              <a:rPr dirty="0" sz="1550">
                <a:solidFill>
                  <a:srgbClr val="C7913A"/>
                </a:solidFill>
                <a:latin typeface="Times New Roman"/>
                <a:cs typeface="Times New Roman"/>
              </a:rPr>
              <a:t>4.2 </a:t>
            </a:r>
            <a:r>
              <a:rPr dirty="0" sz="1550" spc="254">
                <a:solidFill>
                  <a:srgbClr val="C7913A"/>
                </a:solidFill>
                <a:latin typeface="Times New Roman"/>
                <a:cs typeface="Times New Roman"/>
              </a:rPr>
              <a:t>/</a:t>
            </a:r>
            <a:r>
              <a:rPr dirty="0" sz="1550" spc="5">
                <a:solidFill>
                  <a:srgbClr val="C7913A"/>
                </a:solidFill>
                <a:latin typeface="Times New Roman"/>
                <a:cs typeface="Times New Roman"/>
              </a:rPr>
              <a:t> </a:t>
            </a:r>
            <a:r>
              <a:rPr dirty="0" sz="1550" spc="50">
                <a:solidFill>
                  <a:srgbClr val="C7913A"/>
                </a:solidFill>
                <a:latin typeface="Times New Roman"/>
                <a:cs typeface="Times New Roman"/>
              </a:rPr>
              <a:t>5.0</a:t>
            </a:r>
            <a:endParaRPr sz="1550">
              <a:latin typeface="Times New Roman"/>
              <a:cs typeface="Times New Roman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9142214" y="2256983"/>
          <a:ext cx="8361680" cy="3187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47235"/>
                <a:gridCol w="3725545"/>
              </a:tblGrid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E9E9E6"/>
                      </a:solidFill>
                      <a:prstDash val="solid"/>
                    </a:lnL>
                    <a:lnR w="12700">
                      <a:solidFill>
                        <a:srgbClr val="E9E9E6"/>
                      </a:solidFill>
                      <a:prstDash val="solid"/>
                    </a:lnR>
                    <a:lnT w="12700">
                      <a:solidFill>
                        <a:srgbClr val="E9E9E6"/>
                      </a:solidFill>
                      <a:prstDash val="solid"/>
                    </a:lnT>
                    <a:lnB w="12700">
                      <a:solidFill>
                        <a:srgbClr val="E9E9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9142217" y="5713885"/>
            <a:ext cx="8286750" cy="1543050"/>
          </a:xfrm>
          <a:prstGeom prst="rect">
            <a:avLst/>
          </a:prstGeom>
          <a:solidFill>
            <a:srgbClr val="1B4D4D"/>
          </a:solidFill>
        </p:spPr>
        <p:txBody>
          <a:bodyPr wrap="square" lIns="0" tIns="112395" rIns="0" bIns="0" rtlCol="0" vert="horz">
            <a:spAutoFit/>
          </a:bodyPr>
          <a:lstStyle/>
          <a:p>
            <a:pPr marL="285115" marR="1546225">
              <a:lnSpc>
                <a:spcPct val="138900"/>
              </a:lnSpc>
              <a:spcBef>
                <a:spcPts val="885"/>
              </a:spcBef>
            </a:pPr>
            <a:r>
              <a:rPr dirty="0" sz="1800" spc="50" b="1">
                <a:solidFill>
                  <a:srgbClr val="FFFFFF"/>
                </a:solidFill>
                <a:latin typeface="Times New Roman"/>
                <a:cs typeface="Times New Roman"/>
              </a:rPr>
              <a:t>Positive</a:t>
            </a:r>
            <a:r>
              <a:rPr dirty="0" sz="1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Feedback:</a:t>
            </a:r>
            <a:r>
              <a:rPr dirty="0" sz="180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70">
                <a:solidFill>
                  <a:srgbClr val="FFFFFF"/>
                </a:solidFill>
                <a:latin typeface="Times New Roman"/>
                <a:cs typeface="Times New Roman"/>
              </a:rPr>
              <a:t>Clean</a:t>
            </a:r>
            <a:r>
              <a:rPr dirty="0" sz="18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imes New Roman"/>
                <a:cs typeface="Times New Roman"/>
              </a:rPr>
              <a:t>interface,</a:t>
            </a:r>
            <a:r>
              <a:rPr dirty="0" sz="18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70">
                <a:solidFill>
                  <a:srgbClr val="FFFFFF"/>
                </a:solidFill>
                <a:latin typeface="Times New Roman"/>
                <a:cs typeface="Times New Roman"/>
              </a:rPr>
              <a:t>intuitive</a:t>
            </a:r>
            <a:r>
              <a:rPr dirty="0" sz="18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Times New Roman"/>
                <a:cs typeface="Times New Roman"/>
              </a:rPr>
              <a:t>navigation,</a:t>
            </a:r>
            <a:r>
              <a:rPr dirty="0" sz="18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00">
                <a:solidFill>
                  <a:srgbClr val="FFFFFF"/>
                </a:solidFill>
                <a:latin typeface="Times New Roman"/>
                <a:cs typeface="Times New Roman"/>
              </a:rPr>
              <a:t>mobile responsiveness</a:t>
            </a:r>
            <a:endParaRPr sz="18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840"/>
              </a:spcBef>
            </a:pPr>
            <a:r>
              <a:rPr dirty="0" sz="1800" spc="10" b="1">
                <a:solidFill>
                  <a:srgbClr val="FFFFFF"/>
                </a:solidFill>
                <a:latin typeface="Times New Roman"/>
                <a:cs typeface="Times New Roman"/>
              </a:rPr>
              <a:t>Suggestions:</a:t>
            </a:r>
            <a:r>
              <a:rPr dirty="0" sz="180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80">
                <a:solidFill>
                  <a:srgbClr val="FFFFFF"/>
                </a:solidFill>
                <a:latin typeface="Times New Roman"/>
                <a:cs typeface="Times New Roman"/>
              </a:rPr>
              <a:t>Add</a:t>
            </a:r>
            <a:r>
              <a:rPr dirty="0" sz="18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80">
                <a:solidFill>
                  <a:srgbClr val="FFFFFF"/>
                </a:solidFill>
                <a:latin typeface="Times New Roman"/>
                <a:cs typeface="Times New Roman"/>
              </a:rPr>
              <a:t>real</a:t>
            </a:r>
            <a:r>
              <a:rPr dirty="0" sz="18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00">
                <a:solidFill>
                  <a:srgbClr val="FFFFFF"/>
                </a:solidFill>
                <a:latin typeface="Times New Roman"/>
                <a:cs typeface="Times New Roman"/>
              </a:rPr>
              <a:t>backend,</a:t>
            </a:r>
            <a:r>
              <a:rPr dirty="0" sz="18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150">
                <a:solidFill>
                  <a:srgbClr val="FFFFFF"/>
                </a:solidFill>
                <a:latin typeface="Times New Roman"/>
                <a:cs typeface="Times New Roman"/>
              </a:rPr>
              <a:t>resume</a:t>
            </a:r>
            <a:r>
              <a:rPr dirty="0" sz="18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90">
                <a:solidFill>
                  <a:srgbClr val="FFFFFF"/>
                </a:solidFill>
                <a:latin typeface="Times New Roman"/>
                <a:cs typeface="Times New Roman"/>
              </a:rPr>
              <a:t>upload,</a:t>
            </a:r>
            <a:r>
              <a:rPr dirty="0" sz="18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imes New Roman"/>
                <a:cs typeface="Times New Roman"/>
              </a:rPr>
              <a:t>email</a:t>
            </a:r>
            <a:r>
              <a:rPr dirty="0" sz="18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Times New Roman"/>
                <a:cs typeface="Times New Roman"/>
              </a:rPr>
              <a:t>notifications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4378" y="5505727"/>
            <a:ext cx="4952365" cy="222694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450" spc="100" b="1">
                <a:solidFill>
                  <a:srgbClr val="6A8E7B"/>
                </a:solidFill>
                <a:latin typeface="Times New Roman"/>
                <a:cs typeface="Times New Roman"/>
              </a:rPr>
              <a:t>Observed</a:t>
            </a:r>
            <a:r>
              <a:rPr dirty="0" sz="2450" spc="5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55" b="1">
                <a:solidFill>
                  <a:srgbClr val="6A8E7B"/>
                </a:solidFill>
                <a:latin typeface="Times New Roman"/>
                <a:cs typeface="Times New Roman"/>
              </a:rPr>
              <a:t>Limitations</a:t>
            </a:r>
            <a:endParaRPr sz="245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141605" algn="l"/>
              </a:tabLst>
            </a:pP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No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Times New Roman"/>
                <a:cs typeface="Times New Roman"/>
              </a:rPr>
              <a:t>persistent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Times New Roman"/>
                <a:cs typeface="Times New Roman"/>
              </a:rPr>
              <a:t>storage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Times New Roman"/>
                <a:cs typeface="Times New Roman"/>
              </a:rPr>
              <a:t>data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clears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60">
                <a:solidFill>
                  <a:srgbClr val="1A1A1A"/>
                </a:solidFill>
                <a:latin typeface="Times New Roman"/>
                <a:cs typeface="Times New Roman"/>
              </a:rPr>
              <a:t>on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Times New Roman"/>
                <a:cs typeface="Times New Roman"/>
              </a:rPr>
              <a:t>refresh</a:t>
            </a:r>
            <a:endParaRPr sz="180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141605" algn="l"/>
              </a:tabLst>
            </a:pP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No</a:t>
            </a:r>
            <a:r>
              <a:rPr dirty="0" sz="1800" spc="-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25">
                <a:solidFill>
                  <a:srgbClr val="1A1A1A"/>
                </a:solidFill>
                <a:latin typeface="Times New Roman"/>
                <a:cs typeface="Times New Roman"/>
              </a:rPr>
              <a:t>true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Times New Roman"/>
                <a:cs typeface="Times New Roman"/>
              </a:rPr>
              <a:t>authentication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Times New Roman"/>
                <a:cs typeface="Times New Roman"/>
              </a:rPr>
              <a:t>direct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85">
                <a:solidFill>
                  <a:srgbClr val="1A1A1A"/>
                </a:solidFill>
                <a:latin typeface="Times New Roman"/>
                <a:cs typeface="Times New Roman"/>
              </a:rPr>
              <a:t>URL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access</a:t>
            </a:r>
            <a:endParaRPr sz="180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141605" algn="l"/>
              </a:tabLst>
            </a:pP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No</a:t>
            </a:r>
            <a:r>
              <a:rPr dirty="0" sz="180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file</a:t>
            </a:r>
            <a:r>
              <a:rPr dirty="0" sz="18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14">
                <a:solidFill>
                  <a:srgbClr val="1A1A1A"/>
                </a:solidFill>
                <a:latin typeface="Times New Roman"/>
                <a:cs typeface="Times New Roman"/>
              </a:rPr>
              <a:t>upload</a:t>
            </a:r>
            <a:r>
              <a:rPr dirty="0" sz="18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65">
                <a:solidFill>
                  <a:srgbClr val="1A1A1A"/>
                </a:solidFill>
                <a:latin typeface="Times New Roman"/>
                <a:cs typeface="Times New Roman"/>
              </a:rPr>
              <a:t>capability</a:t>
            </a:r>
            <a:r>
              <a:rPr dirty="0" sz="1800" spc="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for</a:t>
            </a:r>
            <a:r>
              <a:rPr dirty="0" sz="1800" spc="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30">
                <a:solidFill>
                  <a:srgbClr val="1A1A1A"/>
                </a:solidFill>
                <a:latin typeface="Times New Roman"/>
                <a:cs typeface="Times New Roman"/>
              </a:rPr>
              <a:t>resumes</a:t>
            </a:r>
            <a:endParaRPr sz="1800">
              <a:latin typeface="Times New Roman"/>
              <a:cs typeface="Times New Roman"/>
            </a:endParaRPr>
          </a:p>
          <a:p>
            <a:pPr marL="141605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141605" algn="l"/>
              </a:tabLst>
            </a:pP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No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Times New Roman"/>
                <a:cs typeface="Times New Roman"/>
              </a:rPr>
              <a:t>session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Times New Roman"/>
                <a:cs typeface="Times New Roman"/>
              </a:rPr>
              <a:t>separation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Times New Roman"/>
                <a:cs typeface="Times New Roman"/>
              </a:rPr>
              <a:t>across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35">
                <a:solidFill>
                  <a:srgbClr val="1A1A1A"/>
                </a:solidFill>
                <a:latin typeface="Times New Roman"/>
                <a:cs typeface="Times New Roman"/>
              </a:rPr>
              <a:t>browser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sessions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57078" y="9713603"/>
            <a:ext cx="16570325" cy="14604"/>
          </a:xfrm>
          <a:custGeom>
            <a:avLst/>
            <a:gdLst/>
            <a:ahLst/>
            <a:cxnLst/>
            <a:rect l="l" t="t" r="r" b="b"/>
            <a:pathLst>
              <a:path w="16570325" h="14604">
                <a:moveTo>
                  <a:pt x="16570262" y="14287"/>
                </a:moveTo>
                <a:lnTo>
                  <a:pt x="0" y="14287"/>
                </a:lnTo>
                <a:lnTo>
                  <a:pt x="0" y="0"/>
                </a:lnTo>
                <a:lnTo>
                  <a:pt x="16570262" y="0"/>
                </a:lnTo>
                <a:lnTo>
                  <a:pt x="16570262" y="14287"/>
                </a:lnTo>
                <a:close/>
              </a:path>
            </a:pathLst>
          </a:custGeom>
          <a:solidFill>
            <a:srgbClr val="E9E9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7501937" y="9879416"/>
            <a:ext cx="224154" cy="215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z="1350" spc="75">
                <a:solidFill>
                  <a:srgbClr val="6A8E7B"/>
                </a:solidFill>
                <a:latin typeface="Times New Roman"/>
                <a:cs typeface="Times New Roman"/>
              </a:rPr>
              <a:t>07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378" y="168370"/>
            <a:ext cx="740854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8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65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50">
                <a:solidFill>
                  <a:srgbClr val="FFFFFF"/>
                </a:solidFill>
                <a:latin typeface="Times New Roman"/>
                <a:cs typeface="Times New Roman"/>
              </a:rPr>
              <a:t>Design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85">
                <a:solidFill>
                  <a:srgbClr val="FFFFFF"/>
                </a:solidFill>
                <a:latin typeface="Times New Roman"/>
                <a:cs typeface="Times New Roman"/>
              </a:rPr>
              <a:t>Implementation</a:t>
            </a:r>
            <a:r>
              <a:rPr dirty="0" sz="135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75">
                <a:solidFill>
                  <a:srgbClr val="FFFFFF"/>
                </a:solidFill>
                <a:latin typeface="Times New Roman"/>
                <a:cs typeface="Times New Roman"/>
              </a:rPr>
              <a:t>Workflow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45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135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spc="-10" b="1">
                <a:solidFill>
                  <a:srgbClr val="C7913A"/>
                </a:solidFill>
                <a:latin typeface="Times New Roman"/>
                <a:cs typeface="Times New Roman"/>
              </a:rPr>
              <a:t>CONCLUSION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0"/>
              <a:t>Conclusion</a:t>
            </a:r>
            <a:r>
              <a:rPr dirty="0" spc="-20"/>
              <a:t> </a:t>
            </a:r>
            <a:r>
              <a:rPr dirty="0" spc="-330"/>
              <a:t>&amp;</a:t>
            </a:r>
            <a:r>
              <a:rPr dirty="0" spc="-15"/>
              <a:t> </a:t>
            </a:r>
            <a:r>
              <a:rPr dirty="0" spc="60"/>
              <a:t>Future</a:t>
            </a:r>
            <a:r>
              <a:rPr dirty="0" spc="-20"/>
              <a:t> </a:t>
            </a:r>
            <a:r>
              <a:rPr dirty="0" spc="125"/>
              <a:t>Work</a:t>
            </a:r>
          </a:p>
        </p:txBody>
      </p:sp>
      <p:sp>
        <p:nvSpPr>
          <p:cNvPr id="4" name="object 4"/>
          <p:cNvSpPr/>
          <p:nvPr/>
        </p:nvSpPr>
        <p:spPr>
          <a:xfrm>
            <a:off x="857078" y="1399898"/>
            <a:ext cx="857250" cy="43180"/>
          </a:xfrm>
          <a:custGeom>
            <a:avLst/>
            <a:gdLst/>
            <a:ahLst/>
            <a:cxnLst/>
            <a:rect l="l" t="t" r="r" b="b"/>
            <a:pathLst>
              <a:path w="857250" h="43180">
                <a:moveTo>
                  <a:pt x="857059" y="42852"/>
                </a:moveTo>
                <a:lnTo>
                  <a:pt x="0" y="42852"/>
                </a:lnTo>
                <a:lnTo>
                  <a:pt x="0" y="0"/>
                </a:lnTo>
                <a:lnTo>
                  <a:pt x="857059" y="0"/>
                </a:lnTo>
                <a:lnTo>
                  <a:pt x="857059" y="42852"/>
                </a:lnTo>
                <a:close/>
              </a:path>
            </a:pathLst>
          </a:custGeom>
          <a:solidFill>
            <a:srgbClr val="C791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44378" y="1692036"/>
            <a:ext cx="1661160" cy="4025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95" b="1">
                <a:solidFill>
                  <a:srgbClr val="6A8E7B"/>
                </a:solidFill>
                <a:latin typeface="Times New Roman"/>
                <a:cs typeface="Times New Roman"/>
              </a:rPr>
              <a:t>Conclusion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7078" y="2285552"/>
            <a:ext cx="7999730" cy="52857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31445" rIns="0" bIns="0" rtlCol="0" vert="horz">
            <a:spAutoFit/>
          </a:bodyPr>
          <a:lstStyle/>
          <a:p>
            <a:pPr marL="414020" indent="-128905">
              <a:lnSpc>
                <a:spcPct val="100000"/>
              </a:lnSpc>
              <a:spcBef>
                <a:spcPts val="1035"/>
              </a:spcBef>
              <a:buChar char="•"/>
              <a:tabLst>
                <a:tab pos="414020" algn="l"/>
              </a:tabLst>
            </a:pPr>
            <a:r>
              <a:rPr dirty="0" sz="1800" spc="120">
                <a:solidFill>
                  <a:srgbClr val="1A1A1A"/>
                </a:solidFill>
                <a:latin typeface="Times New Roman"/>
                <a:cs typeface="Times New Roman"/>
              </a:rPr>
              <a:t>Frontend</a:t>
            </a:r>
            <a:r>
              <a:rPr dirty="0" sz="1800" spc="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14">
                <a:solidFill>
                  <a:srgbClr val="1A1A1A"/>
                </a:solidFill>
                <a:latin typeface="Times New Roman"/>
                <a:cs typeface="Times New Roman"/>
              </a:rPr>
              <a:t>prototype</a:t>
            </a:r>
            <a:r>
              <a:rPr dirty="0" sz="180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using</a:t>
            </a:r>
            <a:r>
              <a:rPr dirty="0" sz="180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65" b="1">
                <a:solidFill>
                  <a:srgbClr val="1A1A1A"/>
                </a:solidFill>
                <a:latin typeface="Times New Roman"/>
                <a:cs typeface="Times New Roman"/>
              </a:rPr>
              <a:t>HTML5,</a:t>
            </a:r>
            <a:r>
              <a:rPr dirty="0" sz="1800" spc="2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CSS3,</a:t>
            </a:r>
            <a:r>
              <a:rPr dirty="0" sz="1800" spc="3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JavaScript,</a:t>
            </a:r>
            <a:r>
              <a:rPr dirty="0" sz="1800" spc="3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Bootstrap</a:t>
            </a:r>
            <a:r>
              <a:rPr dirty="0" sz="1800" spc="3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" b="1">
                <a:solidFill>
                  <a:srgbClr val="1A1A1A"/>
                </a:solidFill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  <a:p>
            <a:pPr marL="414020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414020" algn="l"/>
              </a:tabLst>
            </a:pP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Responsive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Times New Roman"/>
                <a:cs typeface="Times New Roman"/>
              </a:rPr>
              <a:t>interfaces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for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three</a:t>
            </a:r>
            <a:r>
              <a:rPr dirty="0" sz="1800" spc="-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user</a:t>
            </a:r>
            <a:r>
              <a:rPr dirty="0" sz="1800" spc="-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0" b="1">
                <a:solidFill>
                  <a:srgbClr val="1A1A1A"/>
                </a:solidFill>
                <a:latin typeface="Times New Roman"/>
                <a:cs typeface="Times New Roman"/>
              </a:rPr>
              <a:t>types</a:t>
            </a:r>
            <a:r>
              <a:rPr dirty="0" sz="1800" spc="50">
                <a:solidFill>
                  <a:srgbClr val="1A1A1A"/>
                </a:solidFill>
                <a:latin typeface="Times New Roman"/>
                <a:cs typeface="Times New Roman"/>
              </a:rPr>
              <a:t>: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Times New Roman"/>
                <a:cs typeface="Times New Roman"/>
              </a:rPr>
              <a:t>Student,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0">
                <a:solidFill>
                  <a:srgbClr val="1A1A1A"/>
                </a:solidFill>
                <a:latin typeface="Times New Roman"/>
                <a:cs typeface="Times New Roman"/>
              </a:rPr>
              <a:t>Company,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Admin</a:t>
            </a:r>
            <a:endParaRPr sz="1800">
              <a:latin typeface="Times New Roman"/>
              <a:cs typeface="Times New Roman"/>
            </a:endParaRPr>
          </a:p>
          <a:p>
            <a:pPr marL="285115" marR="1032510" indent="128905">
              <a:lnSpc>
                <a:spcPct val="149300"/>
              </a:lnSpc>
              <a:buChar char="•"/>
              <a:tabLst>
                <a:tab pos="414020" algn="l"/>
              </a:tabLst>
            </a:pPr>
            <a:r>
              <a:rPr dirty="0" sz="1800" spc="114">
                <a:solidFill>
                  <a:srgbClr val="1A1A1A"/>
                </a:solidFill>
                <a:latin typeface="Times New Roman"/>
                <a:cs typeface="Times New Roman"/>
              </a:rPr>
              <a:t>Implemented:</a:t>
            </a:r>
            <a:r>
              <a:rPr dirty="0" sz="1800" spc="6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75" b="1">
                <a:solidFill>
                  <a:srgbClr val="1A1A1A"/>
                </a:solidFill>
                <a:latin typeface="Times New Roman"/>
                <a:cs typeface="Times New Roman"/>
              </a:rPr>
              <a:t>form</a:t>
            </a: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5" b="1">
                <a:solidFill>
                  <a:srgbClr val="1A1A1A"/>
                </a:solidFill>
                <a:latin typeface="Times New Roman"/>
                <a:cs typeface="Times New Roman"/>
              </a:rPr>
              <a:t>validation,</a:t>
            </a: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job</a:t>
            </a: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0" b="1">
                <a:solidFill>
                  <a:srgbClr val="1A1A1A"/>
                </a:solidFill>
                <a:latin typeface="Times New Roman"/>
                <a:cs typeface="Times New Roman"/>
              </a:rPr>
              <a:t>posting,</a:t>
            </a: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filtering,</a:t>
            </a: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 simulated </a:t>
            </a:r>
            <a:r>
              <a:rPr dirty="0" sz="1800" spc="55" b="1">
                <a:solidFill>
                  <a:srgbClr val="1A1A1A"/>
                </a:solidFill>
                <a:latin typeface="Times New Roman"/>
                <a:cs typeface="Times New Roman"/>
              </a:rPr>
              <a:t>applications,</a:t>
            </a:r>
            <a:r>
              <a:rPr dirty="0" sz="1800" spc="1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interactive</a:t>
            </a:r>
            <a:r>
              <a:rPr dirty="0" sz="1800" spc="1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1A1A1A"/>
                </a:solidFill>
                <a:latin typeface="Times New Roman"/>
                <a:cs typeface="Times New Roman"/>
              </a:rPr>
              <a:t>UI</a:t>
            </a:r>
            <a:endParaRPr sz="1800">
              <a:latin typeface="Times New Roman"/>
              <a:cs typeface="Times New Roman"/>
            </a:endParaRPr>
          </a:p>
          <a:p>
            <a:pPr marL="414020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414020" algn="l"/>
              </a:tabLst>
            </a:pP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Usability</a:t>
            </a:r>
            <a:r>
              <a:rPr dirty="0" sz="1800" spc="9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5">
                <a:solidFill>
                  <a:srgbClr val="1A1A1A"/>
                </a:solidFill>
                <a:latin typeface="Times New Roman"/>
                <a:cs typeface="Times New Roman"/>
              </a:rPr>
              <a:t>testing:</a:t>
            </a:r>
            <a:r>
              <a:rPr dirty="0" sz="1800" spc="9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5" b="1">
                <a:solidFill>
                  <a:srgbClr val="C7913A"/>
                </a:solidFill>
                <a:latin typeface="Times New Roman"/>
                <a:cs typeface="Times New Roman"/>
              </a:rPr>
              <a:t>4.2/5.0</a:t>
            </a:r>
            <a:r>
              <a:rPr dirty="0" sz="1800" spc="95" b="1">
                <a:solidFill>
                  <a:srgbClr val="C7913A"/>
                </a:solidFill>
                <a:latin typeface="Times New Roman"/>
                <a:cs typeface="Times New Roman"/>
              </a:rPr>
              <a:t> </a:t>
            </a:r>
            <a:r>
              <a:rPr dirty="0" sz="1800" spc="45" b="1">
                <a:solidFill>
                  <a:srgbClr val="C7913A"/>
                </a:solidFill>
                <a:latin typeface="Times New Roman"/>
                <a:cs typeface="Times New Roman"/>
              </a:rPr>
              <a:t>average</a:t>
            </a:r>
            <a:r>
              <a:rPr dirty="0" sz="1800" spc="95" b="1">
                <a:solidFill>
                  <a:srgbClr val="C7913A"/>
                </a:solidFill>
                <a:latin typeface="Times New Roman"/>
                <a:cs typeface="Times New Roman"/>
              </a:rPr>
              <a:t> </a:t>
            </a:r>
            <a:r>
              <a:rPr dirty="0" sz="1800" spc="35" b="1">
                <a:solidFill>
                  <a:srgbClr val="C7913A"/>
                </a:solidFill>
                <a:latin typeface="Times New Roman"/>
                <a:cs typeface="Times New Roman"/>
              </a:rPr>
              <a:t>satisfaction</a:t>
            </a:r>
            <a:endParaRPr sz="1800">
              <a:latin typeface="Times New Roman"/>
              <a:cs typeface="Times New Roman"/>
            </a:endParaRPr>
          </a:p>
          <a:p>
            <a:pPr marL="414020" indent="-128905">
              <a:lnSpc>
                <a:spcPct val="100000"/>
              </a:lnSpc>
              <a:spcBef>
                <a:spcPts val="1065"/>
              </a:spcBef>
              <a:buChar char="•"/>
              <a:tabLst>
                <a:tab pos="414020" algn="l"/>
              </a:tabLst>
            </a:pPr>
            <a:r>
              <a:rPr dirty="0" sz="1800" spc="50">
                <a:solidFill>
                  <a:srgbClr val="1A1A1A"/>
                </a:solidFill>
                <a:latin typeface="Times New Roman"/>
                <a:cs typeface="Times New Roman"/>
              </a:rPr>
              <a:t>Solid</a:t>
            </a:r>
            <a:r>
              <a:rPr dirty="0" sz="180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10">
                <a:solidFill>
                  <a:srgbClr val="1A1A1A"/>
                </a:solidFill>
                <a:latin typeface="Times New Roman"/>
                <a:cs typeface="Times New Roman"/>
              </a:rPr>
              <a:t>foundation</a:t>
            </a:r>
            <a:r>
              <a:rPr dirty="0" sz="1800" spc="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for</a:t>
            </a:r>
            <a:r>
              <a:rPr dirty="0" sz="1800" spc="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0" b="1">
                <a:solidFill>
                  <a:srgbClr val="1A1A1A"/>
                </a:solidFill>
                <a:latin typeface="Times New Roman"/>
                <a:cs typeface="Times New Roman"/>
              </a:rPr>
              <a:t>future</a:t>
            </a:r>
            <a:r>
              <a:rPr dirty="0" sz="1800" spc="2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0" b="1">
                <a:solidFill>
                  <a:srgbClr val="1A1A1A"/>
                </a:solidFill>
                <a:latin typeface="Times New Roman"/>
                <a:cs typeface="Times New Roman"/>
              </a:rPr>
              <a:t>full-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stack</a:t>
            </a:r>
            <a:r>
              <a:rPr dirty="0" sz="1800" spc="2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5" b="1">
                <a:solidFill>
                  <a:srgbClr val="1A1A1A"/>
                </a:solidFill>
                <a:latin typeface="Times New Roman"/>
                <a:cs typeface="Times New Roman"/>
              </a:rPr>
              <a:t>development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15211" y="1692036"/>
            <a:ext cx="4495165" cy="4025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110" b="1">
                <a:solidFill>
                  <a:srgbClr val="6A8E7B"/>
                </a:solidFill>
                <a:latin typeface="Times New Roman"/>
                <a:cs typeface="Times New Roman"/>
              </a:rPr>
              <a:t>Planned</a:t>
            </a:r>
            <a:r>
              <a:rPr dirty="0" sz="2450" spc="-10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50" b="1">
                <a:solidFill>
                  <a:srgbClr val="6A8E7B"/>
                </a:solidFill>
                <a:latin typeface="Times New Roman"/>
                <a:cs typeface="Times New Roman"/>
              </a:rPr>
              <a:t>Future</a:t>
            </a:r>
            <a:r>
              <a:rPr dirty="0" sz="2450" spc="-10" b="1">
                <a:solidFill>
                  <a:srgbClr val="6A8E7B"/>
                </a:solidFill>
                <a:latin typeface="Times New Roman"/>
                <a:cs typeface="Times New Roman"/>
              </a:rPr>
              <a:t> </a:t>
            </a:r>
            <a:r>
              <a:rPr dirty="0" sz="2450" spc="114" b="1">
                <a:solidFill>
                  <a:srgbClr val="6A8E7B"/>
                </a:solidFill>
                <a:latin typeface="Times New Roman"/>
                <a:cs typeface="Times New Roman"/>
              </a:rPr>
              <a:t>Enhancements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27911" y="2285552"/>
            <a:ext cx="7999730" cy="52857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36525" rIns="0" bIns="0" rtlCol="0" vert="horz">
            <a:spAutoFit/>
          </a:bodyPr>
          <a:lstStyle/>
          <a:p>
            <a:pPr marL="485140" indent="-200025">
              <a:lnSpc>
                <a:spcPct val="100000"/>
              </a:lnSpc>
              <a:spcBef>
                <a:spcPts val="1075"/>
              </a:spcBef>
              <a:buClr>
                <a:srgbClr val="C7913A"/>
              </a:buClr>
              <a:buAutoNum type="arabicPeriod"/>
              <a:tabLst>
                <a:tab pos="485140" algn="l"/>
              </a:tabLst>
            </a:pPr>
            <a:r>
              <a:rPr dirty="0" sz="1800" spc="45" b="1">
                <a:solidFill>
                  <a:srgbClr val="1A1A1A"/>
                </a:solidFill>
                <a:latin typeface="Times New Roman"/>
                <a:cs typeface="Times New Roman"/>
              </a:rPr>
              <a:t>Backend</a:t>
            </a:r>
            <a:r>
              <a:rPr dirty="0" sz="1800" spc="4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Integration</a:t>
            </a:r>
            <a:r>
              <a:rPr dirty="0" sz="1800" spc="4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4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5">
                <a:solidFill>
                  <a:srgbClr val="1A1A1A"/>
                </a:solidFill>
                <a:latin typeface="Times New Roman"/>
                <a:cs typeface="Times New Roman"/>
              </a:rPr>
              <a:t>REST</a:t>
            </a:r>
            <a:r>
              <a:rPr dirty="0" sz="1800" spc="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solidFill>
                  <a:srgbClr val="1A1A1A"/>
                </a:solidFill>
                <a:latin typeface="Times New Roman"/>
                <a:cs typeface="Times New Roman"/>
              </a:rPr>
              <a:t>API</a:t>
            </a:r>
            <a:r>
              <a:rPr dirty="0" sz="1800" spc="4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Times New Roman"/>
                <a:cs typeface="Times New Roman"/>
              </a:rPr>
              <a:t>with</a:t>
            </a:r>
            <a:r>
              <a:rPr dirty="0" sz="1800" spc="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Times New Roman"/>
                <a:cs typeface="Times New Roman"/>
              </a:rPr>
              <a:t>Node.js/Express</a:t>
            </a:r>
            <a:r>
              <a:rPr dirty="0" sz="1800" spc="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35">
                <a:solidFill>
                  <a:srgbClr val="1A1A1A"/>
                </a:solidFill>
                <a:latin typeface="Times New Roman"/>
                <a:cs typeface="Times New Roman"/>
              </a:rPr>
              <a:t>or</a:t>
            </a:r>
            <a:r>
              <a:rPr dirty="0" sz="1800" spc="4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1A1A1A"/>
                </a:solidFill>
                <a:latin typeface="Times New Roman"/>
                <a:cs typeface="Times New Roman"/>
              </a:rPr>
              <a:t>PHP</a:t>
            </a:r>
            <a:endParaRPr sz="1800">
              <a:latin typeface="Times New Roman"/>
              <a:cs typeface="Times New Roman"/>
            </a:endParaRPr>
          </a:p>
          <a:p>
            <a:pPr marL="523240" indent="-238125">
              <a:lnSpc>
                <a:spcPct val="100000"/>
              </a:lnSpc>
              <a:spcBef>
                <a:spcPts val="1290"/>
              </a:spcBef>
              <a:buClr>
                <a:srgbClr val="C7913A"/>
              </a:buClr>
              <a:buAutoNum type="arabicPeriod"/>
              <a:tabLst>
                <a:tab pos="523240" algn="l"/>
              </a:tabLst>
            </a:pPr>
            <a:r>
              <a:rPr dirty="0" sz="1800" spc="45" b="1">
                <a:solidFill>
                  <a:srgbClr val="1A1A1A"/>
                </a:solidFill>
                <a:latin typeface="Times New Roman"/>
                <a:cs typeface="Times New Roman"/>
              </a:rPr>
              <a:t>Database</a:t>
            </a:r>
            <a:r>
              <a:rPr dirty="0" sz="1800" spc="-2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-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1A1A1A"/>
                </a:solidFill>
                <a:latin typeface="Times New Roman"/>
                <a:cs typeface="Times New Roman"/>
              </a:rPr>
              <a:t>MySQL</a:t>
            </a:r>
            <a:r>
              <a:rPr dirty="0" sz="1800" spc="-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35">
                <a:solidFill>
                  <a:srgbClr val="1A1A1A"/>
                </a:solidFill>
                <a:latin typeface="Times New Roman"/>
                <a:cs typeface="Times New Roman"/>
              </a:rPr>
              <a:t>or</a:t>
            </a:r>
            <a:r>
              <a:rPr dirty="0" sz="1800" spc="-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Times New Roman"/>
                <a:cs typeface="Times New Roman"/>
              </a:rPr>
              <a:t>MongoDB</a:t>
            </a:r>
            <a:r>
              <a:rPr dirty="0" sz="1800" spc="-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for</a:t>
            </a:r>
            <a:r>
              <a:rPr dirty="0" sz="1800" spc="-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Times New Roman"/>
                <a:cs typeface="Times New Roman"/>
              </a:rPr>
              <a:t>persistent</a:t>
            </a:r>
            <a:r>
              <a:rPr dirty="0" sz="1800" spc="-1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Times New Roman"/>
                <a:cs typeface="Times New Roman"/>
              </a:rPr>
              <a:t>storage</a:t>
            </a:r>
            <a:endParaRPr sz="1800">
              <a:latin typeface="Times New Roman"/>
              <a:cs typeface="Times New Roman"/>
            </a:endParaRPr>
          </a:p>
          <a:p>
            <a:pPr marL="519430" indent="-234315">
              <a:lnSpc>
                <a:spcPct val="100000"/>
              </a:lnSpc>
              <a:spcBef>
                <a:spcPts val="1290"/>
              </a:spcBef>
              <a:buClr>
                <a:srgbClr val="C7913A"/>
              </a:buClr>
              <a:buAutoNum type="arabicPeriod"/>
              <a:tabLst>
                <a:tab pos="519430" algn="l"/>
              </a:tabLst>
            </a:pP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Authentication</a:t>
            </a:r>
            <a:r>
              <a:rPr dirty="0" sz="1800" spc="-1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Times New Roman"/>
                <a:cs typeface="Times New Roman"/>
              </a:rPr>
              <a:t>JWT-</a:t>
            </a:r>
            <a:r>
              <a:rPr dirty="0" sz="1800" spc="125">
                <a:solidFill>
                  <a:srgbClr val="1A1A1A"/>
                </a:solidFill>
                <a:latin typeface="Times New Roman"/>
                <a:cs typeface="Times New Roman"/>
              </a:rPr>
              <a:t>based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25">
                <a:solidFill>
                  <a:srgbClr val="1A1A1A"/>
                </a:solidFill>
                <a:latin typeface="Times New Roman"/>
                <a:cs typeface="Times New Roman"/>
              </a:rPr>
              <a:t>auth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Times New Roman"/>
                <a:cs typeface="Times New Roman"/>
              </a:rPr>
              <a:t>with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25">
                <a:solidFill>
                  <a:srgbClr val="1A1A1A"/>
                </a:solidFill>
                <a:latin typeface="Times New Roman"/>
                <a:cs typeface="Times New Roman"/>
              </a:rPr>
              <a:t>role-based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Times New Roman"/>
                <a:cs typeface="Times New Roman"/>
              </a:rPr>
              <a:t>access</a:t>
            </a:r>
            <a:r>
              <a:rPr dirty="0" sz="1800" spc="-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95">
                <a:solidFill>
                  <a:srgbClr val="1A1A1A"/>
                </a:solidFill>
                <a:latin typeface="Times New Roman"/>
                <a:cs typeface="Times New Roman"/>
              </a:rPr>
              <a:t>control</a:t>
            </a:r>
            <a:endParaRPr sz="1800">
              <a:latin typeface="Times New Roman"/>
              <a:cs typeface="Times New Roman"/>
            </a:endParaRPr>
          </a:p>
          <a:p>
            <a:pPr marL="518159" indent="-233045">
              <a:lnSpc>
                <a:spcPct val="100000"/>
              </a:lnSpc>
              <a:spcBef>
                <a:spcPts val="1290"/>
              </a:spcBef>
              <a:buClr>
                <a:srgbClr val="C7913A"/>
              </a:buClr>
              <a:buAutoNum type="arabicPeriod"/>
              <a:tabLst>
                <a:tab pos="518159" algn="l"/>
              </a:tabLst>
            </a:pPr>
            <a:r>
              <a:rPr dirty="0" sz="1800" spc="80" b="1">
                <a:solidFill>
                  <a:srgbClr val="1A1A1A"/>
                </a:solidFill>
                <a:latin typeface="Times New Roman"/>
                <a:cs typeface="Times New Roman"/>
              </a:rPr>
              <a:t>Resume</a:t>
            </a:r>
            <a:r>
              <a:rPr dirty="0" sz="1800" spc="3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65" b="1">
                <a:solidFill>
                  <a:srgbClr val="1A1A1A"/>
                </a:solidFill>
                <a:latin typeface="Times New Roman"/>
                <a:cs typeface="Times New Roman"/>
              </a:rPr>
              <a:t>Upload</a:t>
            </a:r>
            <a:r>
              <a:rPr dirty="0" sz="1800" spc="3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PDF/DOC</a:t>
            </a:r>
            <a:r>
              <a:rPr dirty="0" sz="180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via</a:t>
            </a:r>
            <a:r>
              <a:rPr dirty="0" sz="1800" spc="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0">
                <a:solidFill>
                  <a:srgbClr val="1A1A1A"/>
                </a:solidFill>
                <a:latin typeface="Times New Roman"/>
                <a:cs typeface="Times New Roman"/>
              </a:rPr>
              <a:t>AWS</a:t>
            </a:r>
            <a:r>
              <a:rPr dirty="0" sz="180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S3</a:t>
            </a:r>
            <a:r>
              <a:rPr dirty="0" sz="180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35">
                <a:solidFill>
                  <a:srgbClr val="1A1A1A"/>
                </a:solidFill>
                <a:latin typeface="Times New Roman"/>
                <a:cs typeface="Times New Roman"/>
              </a:rPr>
              <a:t>or</a:t>
            </a:r>
            <a:r>
              <a:rPr dirty="0" sz="180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Times New Roman"/>
                <a:cs typeface="Times New Roman"/>
              </a:rPr>
              <a:t>Firebase</a:t>
            </a:r>
            <a:r>
              <a:rPr dirty="0" sz="180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Times New Roman"/>
                <a:cs typeface="Times New Roman"/>
              </a:rPr>
              <a:t>Storage</a:t>
            </a:r>
            <a:endParaRPr sz="1800">
              <a:latin typeface="Times New Roman"/>
              <a:cs typeface="Times New Roman"/>
            </a:endParaRPr>
          </a:p>
          <a:p>
            <a:pPr marL="516890" indent="-231775">
              <a:lnSpc>
                <a:spcPct val="100000"/>
              </a:lnSpc>
              <a:spcBef>
                <a:spcPts val="1290"/>
              </a:spcBef>
              <a:buClr>
                <a:srgbClr val="C7913A"/>
              </a:buClr>
              <a:buAutoNum type="arabicPeriod"/>
              <a:tabLst>
                <a:tab pos="516890" algn="l"/>
              </a:tabLst>
            </a:pP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Email</a:t>
            </a:r>
            <a:r>
              <a:rPr dirty="0" sz="1800" spc="3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55" b="1">
                <a:solidFill>
                  <a:srgbClr val="1A1A1A"/>
                </a:solidFill>
                <a:latin typeface="Times New Roman"/>
                <a:cs typeface="Times New Roman"/>
              </a:rPr>
              <a:t>Notifications</a:t>
            </a:r>
            <a:r>
              <a:rPr dirty="0" sz="1800" spc="3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10">
                <a:solidFill>
                  <a:srgbClr val="1A1A1A"/>
                </a:solidFill>
                <a:latin typeface="Times New Roman"/>
                <a:cs typeface="Times New Roman"/>
              </a:rPr>
              <a:t>Automated</a:t>
            </a:r>
            <a:r>
              <a:rPr dirty="0" sz="180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0">
                <a:solidFill>
                  <a:srgbClr val="1A1A1A"/>
                </a:solidFill>
                <a:latin typeface="Times New Roman"/>
                <a:cs typeface="Times New Roman"/>
              </a:rPr>
              <a:t>alerts</a:t>
            </a:r>
            <a:r>
              <a:rPr dirty="0" sz="1800" spc="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via</a:t>
            </a:r>
            <a:r>
              <a:rPr dirty="0" sz="1800" spc="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70">
                <a:solidFill>
                  <a:srgbClr val="1A1A1A"/>
                </a:solidFill>
                <a:latin typeface="Times New Roman"/>
                <a:cs typeface="Times New Roman"/>
              </a:rPr>
              <a:t>Nodemailer/PHPMailer</a:t>
            </a:r>
            <a:endParaRPr sz="1800">
              <a:latin typeface="Times New Roman"/>
              <a:cs typeface="Times New Roman"/>
            </a:endParaRPr>
          </a:p>
          <a:p>
            <a:pPr marL="520700" indent="-235585">
              <a:lnSpc>
                <a:spcPct val="100000"/>
              </a:lnSpc>
              <a:spcBef>
                <a:spcPts val="1290"/>
              </a:spcBef>
              <a:buClr>
                <a:srgbClr val="C7913A"/>
              </a:buClr>
              <a:buAutoNum type="arabicPeriod"/>
              <a:tabLst>
                <a:tab pos="520700" algn="l"/>
              </a:tabLst>
            </a:pPr>
            <a:r>
              <a:rPr dirty="0" sz="1800" spc="55" b="1">
                <a:solidFill>
                  <a:srgbClr val="1A1A1A"/>
                </a:solidFill>
                <a:latin typeface="Times New Roman"/>
                <a:cs typeface="Times New Roman"/>
              </a:rPr>
              <a:t>Aptitude</a:t>
            </a:r>
            <a:r>
              <a:rPr dirty="0" sz="1800" spc="30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Test</a:t>
            </a:r>
            <a:r>
              <a:rPr dirty="0" sz="1800" spc="3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Engine</a:t>
            </a:r>
            <a:r>
              <a:rPr dirty="0" sz="1800" spc="3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10">
                <a:solidFill>
                  <a:srgbClr val="1A1A1A"/>
                </a:solidFill>
                <a:latin typeface="Times New Roman"/>
                <a:cs typeface="Times New Roman"/>
              </a:rPr>
              <a:t>Time-</a:t>
            </a:r>
            <a:r>
              <a:rPr dirty="0" sz="1800" spc="125">
                <a:solidFill>
                  <a:srgbClr val="1A1A1A"/>
                </a:solidFill>
                <a:latin typeface="Times New Roman"/>
                <a:cs typeface="Times New Roman"/>
              </a:rPr>
              <a:t>based</a:t>
            </a:r>
            <a:r>
              <a:rPr dirty="0" sz="1800" spc="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5">
                <a:solidFill>
                  <a:srgbClr val="1A1A1A"/>
                </a:solidFill>
                <a:latin typeface="Times New Roman"/>
                <a:cs typeface="Times New Roman"/>
              </a:rPr>
              <a:t>screening</a:t>
            </a:r>
            <a:r>
              <a:rPr dirty="0" sz="1800" spc="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30">
                <a:solidFill>
                  <a:srgbClr val="1A1A1A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  <a:p>
            <a:pPr marL="514984" indent="-229870">
              <a:lnSpc>
                <a:spcPct val="100000"/>
              </a:lnSpc>
              <a:spcBef>
                <a:spcPts val="1290"/>
              </a:spcBef>
              <a:buClr>
                <a:srgbClr val="C7913A"/>
              </a:buClr>
              <a:buAutoNum type="arabicPeriod"/>
              <a:tabLst>
                <a:tab pos="514984" algn="l"/>
              </a:tabLst>
            </a:pPr>
            <a:r>
              <a:rPr dirty="0" sz="1800" spc="50" b="1">
                <a:solidFill>
                  <a:srgbClr val="1A1A1A"/>
                </a:solidFill>
                <a:latin typeface="Times New Roman"/>
                <a:cs typeface="Times New Roman"/>
              </a:rPr>
              <a:t>Analytics</a:t>
            </a:r>
            <a:r>
              <a:rPr dirty="0" sz="1800" spc="2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60" b="1">
                <a:solidFill>
                  <a:srgbClr val="1A1A1A"/>
                </a:solidFill>
                <a:latin typeface="Times New Roman"/>
                <a:cs typeface="Times New Roman"/>
              </a:rPr>
              <a:t>Dashboard</a:t>
            </a:r>
            <a:r>
              <a:rPr dirty="0" sz="1800" spc="2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Visual</a:t>
            </a:r>
            <a:r>
              <a:rPr dirty="0" sz="1800" spc="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20">
                <a:solidFill>
                  <a:srgbClr val="1A1A1A"/>
                </a:solidFill>
                <a:latin typeface="Times New Roman"/>
                <a:cs typeface="Times New Roman"/>
              </a:rPr>
              <a:t>reports</a:t>
            </a:r>
            <a:r>
              <a:rPr dirty="0" sz="1800" spc="2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>
                <a:solidFill>
                  <a:srgbClr val="1A1A1A"/>
                </a:solidFill>
                <a:latin typeface="Times New Roman"/>
                <a:cs typeface="Times New Roman"/>
              </a:rPr>
              <a:t>with</a:t>
            </a:r>
            <a:r>
              <a:rPr dirty="0" sz="1800" spc="3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35">
                <a:solidFill>
                  <a:srgbClr val="1A1A1A"/>
                </a:solidFill>
                <a:latin typeface="Times New Roman"/>
                <a:cs typeface="Times New Roman"/>
              </a:rPr>
              <a:t>Chart.js</a:t>
            </a:r>
            <a:endParaRPr sz="1800">
              <a:latin typeface="Times New Roman"/>
              <a:cs typeface="Times New Roman"/>
            </a:endParaRPr>
          </a:p>
          <a:p>
            <a:pPr marL="525145" indent="-240029">
              <a:lnSpc>
                <a:spcPct val="100000"/>
              </a:lnSpc>
              <a:spcBef>
                <a:spcPts val="1290"/>
              </a:spcBef>
              <a:buClr>
                <a:srgbClr val="C7913A"/>
              </a:buClr>
              <a:buAutoNum type="arabicPeriod"/>
              <a:tabLst>
                <a:tab pos="525145" algn="l"/>
              </a:tabLst>
            </a:pPr>
            <a:r>
              <a:rPr dirty="0" sz="1800" b="1">
                <a:solidFill>
                  <a:srgbClr val="1A1A1A"/>
                </a:solidFill>
                <a:latin typeface="Times New Roman"/>
                <a:cs typeface="Times New Roman"/>
              </a:rPr>
              <a:t>Cloud</a:t>
            </a:r>
            <a:r>
              <a:rPr dirty="0" sz="1800" spc="3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00" b="1">
                <a:solidFill>
                  <a:srgbClr val="1A1A1A"/>
                </a:solidFill>
                <a:latin typeface="Times New Roman"/>
                <a:cs typeface="Times New Roman"/>
              </a:rPr>
              <a:t>Deployment</a:t>
            </a:r>
            <a:r>
              <a:rPr dirty="0" sz="1800" spc="35" b="1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-400">
                <a:solidFill>
                  <a:srgbClr val="1A1A1A"/>
                </a:solidFill>
                <a:latin typeface="Times New Roman"/>
                <a:cs typeface="Times New Roman"/>
              </a:rPr>
              <a:t>—</a:t>
            </a:r>
            <a:r>
              <a:rPr dirty="0" sz="1800" spc="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1A1A1A"/>
                </a:solidFill>
                <a:latin typeface="Times New Roman"/>
                <a:cs typeface="Times New Roman"/>
              </a:rPr>
              <a:t>AWS,</a:t>
            </a:r>
            <a:r>
              <a:rPr dirty="0" sz="1800" spc="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85">
                <a:solidFill>
                  <a:srgbClr val="1A1A1A"/>
                </a:solidFill>
                <a:latin typeface="Times New Roman"/>
                <a:cs typeface="Times New Roman"/>
              </a:rPr>
              <a:t>Heroku,</a:t>
            </a:r>
            <a:r>
              <a:rPr dirty="0" sz="1800" spc="4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135">
                <a:solidFill>
                  <a:srgbClr val="1A1A1A"/>
                </a:solidFill>
                <a:latin typeface="Times New Roman"/>
                <a:cs typeface="Times New Roman"/>
              </a:rPr>
              <a:t>or</a:t>
            </a:r>
            <a:r>
              <a:rPr dirty="0" sz="1800" spc="35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1800" spc="45">
                <a:solidFill>
                  <a:srgbClr val="1A1A1A"/>
                </a:solidFill>
                <a:latin typeface="Times New Roman"/>
                <a:cs typeface="Times New Roman"/>
              </a:rPr>
              <a:t>DigitalOcean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078" y="7999438"/>
            <a:ext cx="16569690" cy="714375"/>
          </a:xfrm>
          <a:prstGeom prst="rect">
            <a:avLst/>
          </a:prstGeom>
          <a:solidFill>
            <a:srgbClr val="1B4D4D"/>
          </a:solidFill>
        </p:spPr>
        <p:txBody>
          <a:bodyPr wrap="square" lIns="0" tIns="1651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Thank</a:t>
            </a:r>
            <a:r>
              <a:rPr dirty="0" sz="2000" spc="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dirty="0" sz="2000" spc="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420" b="1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000" spc="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80" b="1">
                <a:solidFill>
                  <a:srgbClr val="FFFFFF"/>
                </a:solidFill>
                <a:latin typeface="Times New Roman"/>
                <a:cs typeface="Times New Roman"/>
              </a:rPr>
              <a:t>Questions</a:t>
            </a:r>
            <a:r>
              <a:rPr dirty="0" sz="2000" spc="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75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2000" spc="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85" b="1">
                <a:solidFill>
                  <a:srgbClr val="FFFFFF"/>
                </a:solidFill>
                <a:latin typeface="Times New Roman"/>
                <a:cs typeface="Times New Roman"/>
              </a:rPr>
              <a:t>Discussion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57078" y="9713603"/>
            <a:ext cx="16570325" cy="14604"/>
          </a:xfrm>
          <a:custGeom>
            <a:avLst/>
            <a:gdLst/>
            <a:ahLst/>
            <a:cxnLst/>
            <a:rect l="l" t="t" r="r" b="b"/>
            <a:pathLst>
              <a:path w="16570325" h="14604">
                <a:moveTo>
                  <a:pt x="16570262" y="14287"/>
                </a:moveTo>
                <a:lnTo>
                  <a:pt x="0" y="14287"/>
                </a:lnTo>
                <a:lnTo>
                  <a:pt x="0" y="0"/>
                </a:lnTo>
                <a:lnTo>
                  <a:pt x="16570262" y="0"/>
                </a:lnTo>
                <a:lnTo>
                  <a:pt x="16570262" y="14287"/>
                </a:lnTo>
                <a:close/>
              </a:path>
            </a:pathLst>
          </a:custGeom>
          <a:solidFill>
            <a:srgbClr val="E9E9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7494050" y="9879416"/>
            <a:ext cx="231775" cy="215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15"/>
              </a:lnSpc>
            </a:pPr>
            <a:r>
              <a:rPr dirty="0" sz="1350" spc="105">
                <a:solidFill>
                  <a:srgbClr val="6A8E7B"/>
                </a:solidFill>
                <a:latin typeface="Times New Roman"/>
                <a:cs typeface="Times New Roman"/>
              </a:rPr>
              <a:t>08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naga</dc:creator>
  <cp:keywords>DAHIDRmD8es,BAHCZbhY7Co,0</cp:keywords>
  <dc:title>Online Placement Portal for Educational Institutions.pptx</dc:title>
  <dcterms:created xsi:type="dcterms:W3CDTF">2026-04-27T13:23:18Z</dcterms:created>
  <dcterms:modified xsi:type="dcterms:W3CDTF">2026-04-27T13:23:18Z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2026-04-27T00:00:00Z</vt:filetime>
  </property>
  <property fmtid="{D5CDD505-2E9C-101B-9397-08002B2CF9AE}" pid="4" name="Creator">
    <vt:lpwstr>Canva</vt:lpwstr>
  </property>
  <property fmtid="{D5CDD505-2E9C-101B-9397-08002B2CF9AE}" pid="5" name="LastSaved">
    <vt:filetime>2026-04-27T00:00:00Z</vt:filetime>
  </property>
  <property fmtid="{D5CDD505-2E9C-101B-9397-08002B2CF9AE}" pid="6" name="Producer">
    <vt:lpwstr>Canva</vt:lpwstr>
  </property>
</Properties>
</file>